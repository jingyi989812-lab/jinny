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Final score</c:v>
                </c:pt>
              </c:strCache>
            </c:strRef>
          </c:tx>
          <c:spPr>
            <a:solidFill>
              <a:srgbClr val="6FAF92"/>
            </a:solidFill>
            <a:effectLst/>
          </c:spPr>
          <c:invertIfNegative val="0"/>
          <c:dLbls>
            <c:numFmt formatCode="0.00" sourceLinked="0"/>
            <c:txPr>
              <a:bodyPr/>
              <a:lstStyle/>
              <a:p>
                <a:pPr>
                  <a:defRPr b="0" i="0" strike="noStrike" sz="1100" u="none">
                    <a:solidFill>
                      <a:srgbClr val="1F2A24"/>
                    </a:solidFill>
                    <a:latin typeface="Calibri"/>
                  </a:defRPr>
                </a:pPr>
              </a:p>
            </c:txPr>
            <c:showLegendKey val="0"/>
            <c:showVal val="1"/>
            <c:showCatName val="0"/>
            <c:showSerName val="0"/>
            <c:showPercent val="0"/>
            <c:showBubbleSize val="0"/>
            <c:showLeaderLines val="0"/>
          </c:dLbls>
          <c:dPt>
            <c:idx val="0"/>
            <c:invertIfNegative val="0"/>
            <c:bubble3D val="0"/>
            <c:spPr>
              <a:solidFill>
                <a:srgbClr val="6FAF92"/>
              </a:solidFill>
              <a:effectLst/>
            </c:spPr>
          </c:dPt>
          <c:dPt>
            <c:idx val="1"/>
            <c:invertIfNegative val="0"/>
            <c:bubble3D val="0"/>
            <c:spPr>
              <a:solidFill>
                <a:srgbClr val="6FAF92"/>
              </a:solidFill>
              <a:effectLst/>
            </c:spPr>
          </c:dPt>
          <c:dPt>
            <c:idx val="2"/>
            <c:invertIfNegative val="0"/>
            <c:bubble3D val="0"/>
            <c:spPr>
              <a:solidFill>
                <a:srgbClr val="6FAF92"/>
              </a:solidFill>
              <a:effectLst/>
            </c:spPr>
          </c:dPt>
          <c:dPt>
            <c:idx val="3"/>
            <c:invertIfNegative val="0"/>
            <c:bubble3D val="0"/>
            <c:spPr>
              <a:solidFill>
                <a:srgbClr val="6FAF92"/>
              </a:solidFill>
              <a:effectLst/>
            </c:spPr>
          </c:dPt>
          <c:dPt>
            <c:idx val="4"/>
            <c:invertIfNegative val="0"/>
            <c:bubble3D val="0"/>
            <c:spPr>
              <a:solidFill>
                <a:srgbClr val="6FAF92"/>
              </a:solidFill>
              <a:effectLst/>
            </c:spPr>
          </c:dPt>
          <c:dPt>
            <c:idx val="5"/>
            <c:invertIfNegative val="0"/>
            <c:bubble3D val="0"/>
            <c:spPr>
              <a:solidFill>
                <a:srgbClr val="6FAF92"/>
              </a:solidFill>
              <a:effectLst/>
            </c:spPr>
          </c:dPt>
          <c:dPt>
            <c:idx val="6"/>
            <c:invertIfNegative val="0"/>
            <c:bubble3D val="0"/>
            <c:spPr>
              <a:solidFill>
                <a:srgbClr val="6FAF92"/>
              </a:solidFill>
              <a:effectLst/>
            </c:spPr>
          </c:dPt>
          <c:dPt>
            <c:idx val="7"/>
            <c:invertIfNegative val="0"/>
            <c:bubble3D val="0"/>
            <c:spPr>
              <a:solidFill>
                <a:srgbClr val="6FAF92"/>
              </a:solidFill>
              <a:effectLst/>
            </c:spPr>
          </c:dPt>
          <c:dPt>
            <c:idx val="8"/>
            <c:invertIfNegative val="0"/>
            <c:bubble3D val="0"/>
            <c:spPr>
              <a:solidFill>
                <a:srgbClr val="6FAF92"/>
              </a:solidFill>
              <a:effectLst/>
            </c:spPr>
          </c:dPt>
          <c:dPt>
            <c:idx val="9"/>
            <c:invertIfNegative val="0"/>
            <c:bubble3D val="0"/>
            <c:spPr>
              <a:solidFill>
                <a:srgbClr val="6FAF92"/>
              </a:solidFill>
              <a:effectLst/>
            </c:spPr>
          </c:dPt>
          <c:dPt>
            <c:idx val="10"/>
            <c:invertIfNegative val="0"/>
            <c:bubble3D val="0"/>
            <c:spPr>
              <a:solidFill>
                <a:srgbClr val="6FAF92"/>
              </a:solidFill>
              <a:effectLst/>
            </c:spPr>
          </c:dPt>
          <c:dPt>
            <c:idx val="11"/>
            <c:invertIfNegative val="0"/>
            <c:bubble3D val="0"/>
            <c:spPr>
              <a:solidFill>
                <a:srgbClr val="6FAF92"/>
              </a:solidFill>
              <a:effectLst/>
            </c:spPr>
          </c:dPt>
          <c:dPt>
            <c:idx val="12"/>
            <c:invertIfNegative val="0"/>
            <c:bubble3D val="0"/>
            <c:spPr>
              <a:solidFill>
                <a:srgbClr val="B3402A"/>
              </a:solidFill>
              <a:effectLst/>
            </c:spPr>
          </c:dPt>
          <c:dPt>
            <c:idx val="13"/>
            <c:invertIfNegative val="0"/>
            <c:bubble3D val="0"/>
            <c:spPr>
              <a:solidFill>
                <a:srgbClr val="B3402A"/>
              </a:solidFill>
              <a:effectLst/>
            </c:spPr>
          </c:dPt>
          <c:dPt>
            <c:idx val="14"/>
            <c:invertIfNegative val="0"/>
            <c:bubble3D val="0"/>
            <c:spPr>
              <a:solidFill>
                <a:srgbClr val="B3402A"/>
              </a:solidFill>
              <a:effectLst/>
            </c:spPr>
          </c:dPt>
          <c:dPt>
            <c:idx val="15"/>
            <c:invertIfNegative val="0"/>
            <c:bubble3D val="0"/>
            <c:spPr>
              <a:solidFill>
                <a:srgbClr val="B3402A"/>
              </a:solidFill>
              <a:effectLst/>
            </c:spPr>
          </c:dPt>
          <c:cat>
            <c:multiLvlStrRef>
              <c:f>Sheet1!$A$2:$A$17</c:f>
              <c:multiLvlStrCache>
                <c:ptCount val="16"/>
                <c:lvl>
                  <c:pt idx="0">
                    <c:v>Sep · Mount Austin</c:v>
                  </c:pt>
                  <c:pt idx="1">
                    <c:v>Sep · Bukit Mertajam</c:v>
                  </c:pt>
                  <c:pt idx="2">
                    <c:v>Sep · Mount Austin</c:v>
                  </c:pt>
                  <c:pt idx="3">
                    <c:v>Sep · SS2</c:v>
                  </c:pt>
                  <c:pt idx="4">
                    <c:v>Oct · Raja Uda</c:v>
                  </c:pt>
                  <c:pt idx="5">
                    <c:v>Oct · Raja Uda</c:v>
                  </c:pt>
                  <c:pt idx="6">
                    <c:v>Oct · Cheras Leisure Mall</c:v>
                  </c:pt>
                  <c:pt idx="7">
                    <c:v>Oct · SS2</c:v>
                  </c:pt>
                  <c:pt idx="8">
                    <c:v>Oct · Mount Austin</c:v>
                  </c:pt>
                  <c:pt idx="9">
                    <c:v>Oct · Greenlane</c:v>
                  </c:pt>
                  <c:pt idx="10">
                    <c:v>Oct · Gurney</c:v>
                  </c:pt>
                  <c:pt idx="11">
                    <c:v>Oct · Greenlane</c:v>
                  </c:pt>
                  <c:pt idx="12">
                    <c:v>Oct · Bukit Mertajam</c:v>
                  </c:pt>
                  <c:pt idx="13">
                    <c:v>Oct · Mount Austin</c:v>
                  </c:pt>
                  <c:pt idx="14">
                    <c:v>Oct · Bukit Mertajam</c:v>
                  </c:pt>
                  <c:pt idx="15">
                    <c:v>Oct · Cheras Leisure Mall</c:v>
                  </c:pt>
                </c:lvl>
              </c:multiLvlStrCache>
            </c:multiLvlStrRef>
          </c:cat>
          <c:val>
            <c:numRef>
              <c:f>Sheet1!$B$2:$B$17</c:f>
              <c:numCache>
                <c:formatCode>General</c:formatCode>
                <c:ptCount val="16"/>
                <c:pt idx="0">
                  <c:v>100</c:v>
                </c:pt>
                <c:pt idx="1">
                  <c:v>98</c:v>
                </c:pt>
                <c:pt idx="2">
                  <c:v>90.75</c:v>
                </c:pt>
                <c:pt idx="3">
                  <c:v>72.75</c:v>
                </c:pt>
                <c:pt idx="4">
                  <c:v>98</c:v>
                </c:pt>
                <c:pt idx="5">
                  <c:v>97.5</c:v>
                </c:pt>
                <c:pt idx="6">
                  <c:v>96</c:v>
                </c:pt>
                <c:pt idx="7">
                  <c:v>90.5</c:v>
                </c:pt>
                <c:pt idx="8">
                  <c:v>87.25</c:v>
                </c:pt>
                <c:pt idx="9">
                  <c:v>82.75</c:v>
                </c:pt>
                <c:pt idx="10">
                  <c:v>80.5</c:v>
                </c:pt>
                <c:pt idx="11">
                  <c:v>73.25</c:v>
                </c:pt>
                <c:pt idx="12">
                  <c:v>65</c:v>
                </c:pt>
                <c:pt idx="13">
                  <c:v>65</c:v>
                </c:pt>
                <c:pt idx="14">
                  <c:v>63.75</c:v>
                </c:pt>
                <c:pt idx="15">
                  <c:v>54</c:v>
                </c:pt>
              </c:numCache>
            </c:numRef>
          </c:val>
        </c:ser>
        <c:dLbls>
          <c:numFmt formatCode="0.00" sourceLinked="0"/>
          <c:txPr>
            <a:bodyPr/>
            <a:lstStyle/>
            <a:p>
              <a:pPr>
                <a:defRPr b="0" i="0" strike="noStrike" sz="1100" u="none">
                  <a:solidFill>
                    <a:srgbClr val="1F2A24"/>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A24"/>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5C45"/>
        </a:solidFill>
      </p:bgPr>
    </p:bg>
    <p:spTree>
      <p:nvGrpSpPr>
        <p:cNvPr id="1" name=""/>
        <p:cNvGrpSpPr/>
        <p:nvPr/>
      </p:nvGrpSpPr>
      <p:grpSpPr>
        <a:xfrm>
          <a:off x="0" y="0"/>
          <a:ext cx="0" cy="0"/>
          <a:chOff x="0" y="0"/>
          <a:chExt cx="0" cy="0"/>
        </a:xfrm>
      </p:grpSpPr>
      <p:sp>
        <p:nvSpPr>
          <p:cNvPr id="2" name="Text 0"/>
          <p:cNvSpPr txBox="1"/>
          <p:nvPr/>
        </p:nvSpPr>
        <p:spPr>
          <a:xfrm>
            <a:off x="731520" y="731520"/>
            <a:ext cx="6400800" cy="274320"/>
          </a:xfrm>
          <a:prstGeom prst="rect">
            <a:avLst/>
          </a:prstGeom>
          <a:noFill/>
          <a:ln/>
        </p:spPr>
        <p:txBody>
          <a:bodyPr wrap="square" lIns="0" tIns="0" rIns="0" bIns="0" rtlCol="0" anchor="t"/>
          <a:lstStyle/>
          <a:p>
            <a:pPr indent="0" marL="0">
              <a:buNone/>
            </a:pPr>
            <a:r>
              <a:rPr lang="en-US" sz="1300" b="1" spc="200" kern="0" dirty="0">
                <a:solidFill>
                  <a:srgbClr val="CFE3D8"/>
                </a:solidFill>
                <a:latin typeface="Calibri" pitchFamily="34" charset="0"/>
                <a:ea typeface="Calibri" pitchFamily="34" charset="-122"/>
                <a:cs typeface="Calibri" pitchFamily="34" charset="-120"/>
              </a:rPr>
              <a:t>UR KLINIK  ·  QA / QC</a:t>
            </a:r>
            <a:endParaRPr lang="en-US" sz="1300" dirty="0"/>
          </a:p>
        </p:txBody>
      </p:sp>
      <p:sp>
        <p:nvSpPr>
          <p:cNvPr id="3" name="Text 1"/>
          <p:cNvSpPr txBox="1"/>
          <p:nvPr/>
        </p:nvSpPr>
        <p:spPr>
          <a:xfrm>
            <a:off x="731520" y="1234440"/>
            <a:ext cx="676656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Mystery Shopper Review</a:t>
            </a:r>
            <a:endParaRPr lang="en-US" sz="4600" dirty="0"/>
          </a:p>
        </p:txBody>
      </p:sp>
      <p:sp>
        <p:nvSpPr>
          <p:cNvPr id="4" name="Text 2"/>
          <p:cNvSpPr txBox="1"/>
          <p:nvPr/>
        </p:nvSpPr>
        <p:spPr>
          <a:xfrm>
            <a:off x="731520" y="2240280"/>
            <a:ext cx="6400800" cy="457200"/>
          </a:xfrm>
          <a:prstGeom prst="rect">
            <a:avLst/>
          </a:prstGeom>
          <a:noFill/>
          <a:ln/>
        </p:spPr>
        <p:txBody>
          <a:bodyPr wrap="square" lIns="0" tIns="0" rIns="0" bIns="0" rtlCol="0" anchor="ctr"/>
          <a:lstStyle/>
          <a:p>
            <a:pPr indent="0" marL="0">
              <a:buNone/>
            </a:pPr>
            <a:r>
              <a:rPr lang="en-US" sz="2400" b="1" dirty="0">
                <a:solidFill>
                  <a:srgbClr val="E2B867"/>
                </a:solidFill>
                <a:latin typeface="Calibri" pitchFamily="34" charset="0"/>
                <a:ea typeface="Calibri" pitchFamily="34" charset="-122"/>
                <a:cs typeface="Calibri" pitchFamily="34" charset="-120"/>
              </a:rPr>
              <a:t>September – October 2026</a:t>
            </a:r>
            <a:endParaRPr lang="en-US" sz="2400" dirty="0"/>
          </a:p>
        </p:txBody>
      </p:sp>
      <p:sp>
        <p:nvSpPr>
          <p:cNvPr id="5" name="Text 3"/>
          <p:cNvSpPr txBox="1"/>
          <p:nvPr/>
        </p:nvSpPr>
        <p:spPr>
          <a:xfrm>
            <a:off x="731520" y="2880360"/>
            <a:ext cx="6035040" cy="731520"/>
          </a:xfrm>
          <a:prstGeom prst="rect">
            <a:avLst/>
          </a:prstGeom>
          <a:noFill/>
          <a:ln/>
        </p:spPr>
        <p:txBody>
          <a:bodyPr wrap="square" lIns="0" tIns="0" rIns="0" bIns="0" rtlCol="0" anchor="t"/>
          <a:lstStyle/>
          <a:p>
            <a:pPr indent="0" marL="0">
              <a:buNone/>
            </a:pPr>
            <a:r>
              <a:rPr lang="en-US" sz="1600" dirty="0">
                <a:solidFill>
                  <a:srgbClr val="CFE3D8"/>
                </a:solidFill>
                <a:latin typeface="Calibri" pitchFamily="34" charset="0"/>
                <a:ea typeface="Calibri" pitchFamily="34" charset="-122"/>
                <a:cs typeface="Calibri" pitchFamily="34" charset="-120"/>
              </a:rPr>
              <a:t>Key findings with the shoppers' own words, and the follow-up actions to confirm.</a:t>
            </a:r>
            <a:endParaRPr lang="en-US" sz="1600" dirty="0"/>
          </a:p>
        </p:txBody>
      </p:sp>
      <p:sp>
        <p:nvSpPr>
          <p:cNvPr id="6" name="Text 4"/>
          <p:cNvSpPr txBox="1"/>
          <p:nvPr/>
        </p:nvSpPr>
        <p:spPr>
          <a:xfrm>
            <a:off x="731520" y="6035040"/>
            <a:ext cx="4572000" cy="274320"/>
          </a:xfrm>
          <a:prstGeom prst="rect">
            <a:avLst/>
          </a:prstGeom>
          <a:noFill/>
          <a:ln/>
        </p:spPr>
        <p:txBody>
          <a:bodyPr wrap="square" lIns="0" tIns="0" rIns="0" bIns="0" rtlCol="0" anchor="t"/>
          <a:lstStyle/>
          <a:p>
            <a:pPr indent="0" marL="0">
              <a:buNone/>
            </a:pPr>
            <a:r>
              <a:rPr lang="en-US" sz="1100" dirty="0">
                <a:solidFill>
                  <a:srgbClr val="9DC1AE"/>
                </a:solidFill>
                <a:latin typeface="Calibri" pitchFamily="34" charset="0"/>
                <a:ea typeface="Calibri" pitchFamily="34" charset="-122"/>
                <a:cs typeface="Calibri" pitchFamily="34" charset="-120"/>
              </a:rPr>
              <a:t>Internal review presentation</a:t>
            </a:r>
            <a:endParaRPr lang="en-US" sz="1100" dirty="0"/>
          </a:p>
        </p:txBody>
      </p:sp>
      <p:sp>
        <p:nvSpPr>
          <p:cNvPr id="7" name="Shape 5"/>
          <p:cNvSpPr/>
          <p:nvPr/>
        </p:nvSpPr>
        <p:spPr>
          <a:xfrm>
            <a:off x="8092440" y="1234440"/>
            <a:ext cx="3383280" cy="1371600"/>
          </a:xfrm>
          <a:prstGeom prst="roundRect">
            <a:avLst>
              <a:gd name="adj" fmla="val 8000"/>
            </a:avLst>
          </a:prstGeom>
          <a:solidFill>
            <a:srgbClr val="2D6B52"/>
          </a:solidFill>
          <a:ln w="9525">
            <a:solidFill>
              <a:srgbClr val="2D6B52"/>
            </a:solidFill>
            <a:prstDash val="solid"/>
          </a:ln>
        </p:spPr>
      </p:sp>
      <p:sp>
        <p:nvSpPr>
          <p:cNvPr id="8" name="Text 6"/>
          <p:cNvSpPr txBox="1"/>
          <p:nvPr/>
        </p:nvSpPr>
        <p:spPr>
          <a:xfrm>
            <a:off x="8366760" y="1399032"/>
            <a:ext cx="105156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16</a:t>
            </a:r>
            <a:endParaRPr lang="en-US" sz="4800" dirty="0"/>
          </a:p>
        </p:txBody>
      </p:sp>
      <p:sp>
        <p:nvSpPr>
          <p:cNvPr id="9" name="Text 7"/>
          <p:cNvSpPr txBox="1"/>
          <p:nvPr/>
        </p:nvSpPr>
        <p:spPr>
          <a:xfrm>
            <a:off x="9418320" y="1399032"/>
            <a:ext cx="1920240" cy="1005840"/>
          </a:xfrm>
          <a:prstGeom prst="rect">
            <a:avLst/>
          </a:prstGeom>
          <a:noFill/>
          <a:ln/>
        </p:spPr>
        <p:txBody>
          <a:bodyPr wrap="square" lIns="0" tIns="0" rIns="0" bIns="0" rtlCol="0" anchor="ctr"/>
          <a:lstStyle/>
          <a:p>
            <a:pPr indent="0" marL="0">
              <a:buNone/>
            </a:pPr>
            <a:r>
              <a:rPr lang="en-US" sz="1700" dirty="0">
                <a:solidFill>
                  <a:srgbClr val="CFE3D8"/>
                </a:solidFill>
                <a:latin typeface="Calibri" pitchFamily="34" charset="0"/>
                <a:ea typeface="Calibri" pitchFamily="34" charset="-122"/>
                <a:cs typeface="Calibri" pitchFamily="34" charset="-120"/>
              </a:rPr>
              <a:t>shopper visits</a:t>
            </a:r>
            <a:endParaRPr lang="en-US" sz="1700" dirty="0"/>
          </a:p>
        </p:txBody>
      </p:sp>
      <p:sp>
        <p:nvSpPr>
          <p:cNvPr id="10" name="Shape 8"/>
          <p:cNvSpPr/>
          <p:nvPr/>
        </p:nvSpPr>
        <p:spPr>
          <a:xfrm>
            <a:off x="8092440" y="2834640"/>
            <a:ext cx="3383280" cy="1371600"/>
          </a:xfrm>
          <a:prstGeom prst="roundRect">
            <a:avLst>
              <a:gd name="adj" fmla="val 8000"/>
            </a:avLst>
          </a:prstGeom>
          <a:solidFill>
            <a:srgbClr val="2D6B52"/>
          </a:solidFill>
          <a:ln w="9525">
            <a:solidFill>
              <a:srgbClr val="2D6B52"/>
            </a:solidFill>
            <a:prstDash val="solid"/>
          </a:ln>
        </p:spPr>
      </p:sp>
      <p:sp>
        <p:nvSpPr>
          <p:cNvPr id="11" name="Text 9"/>
          <p:cNvSpPr txBox="1"/>
          <p:nvPr/>
        </p:nvSpPr>
        <p:spPr>
          <a:xfrm>
            <a:off x="8366760" y="2999232"/>
            <a:ext cx="105156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7</a:t>
            </a:r>
            <a:endParaRPr lang="en-US" sz="4800" dirty="0"/>
          </a:p>
        </p:txBody>
      </p:sp>
      <p:sp>
        <p:nvSpPr>
          <p:cNvPr id="12" name="Text 10"/>
          <p:cNvSpPr txBox="1"/>
          <p:nvPr/>
        </p:nvSpPr>
        <p:spPr>
          <a:xfrm>
            <a:off x="9418320" y="2999232"/>
            <a:ext cx="1920240" cy="1005840"/>
          </a:xfrm>
          <a:prstGeom prst="rect">
            <a:avLst/>
          </a:prstGeom>
          <a:noFill/>
          <a:ln/>
        </p:spPr>
        <p:txBody>
          <a:bodyPr wrap="square" lIns="0" tIns="0" rIns="0" bIns="0" rtlCol="0" anchor="ctr"/>
          <a:lstStyle/>
          <a:p>
            <a:pPr indent="0" marL="0">
              <a:buNone/>
            </a:pPr>
            <a:r>
              <a:rPr lang="en-US" sz="1700" dirty="0">
                <a:solidFill>
                  <a:srgbClr val="CFE3D8"/>
                </a:solidFill>
                <a:latin typeface="Calibri" pitchFamily="34" charset="0"/>
                <a:ea typeface="Calibri" pitchFamily="34" charset="-122"/>
                <a:cs typeface="Calibri" pitchFamily="34" charset="-120"/>
              </a:rPr>
              <a:t>outlets</a:t>
            </a:r>
            <a:endParaRPr lang="en-US" sz="1700" dirty="0"/>
          </a:p>
        </p:txBody>
      </p:sp>
      <p:sp>
        <p:nvSpPr>
          <p:cNvPr id="13" name="Shape 11"/>
          <p:cNvSpPr/>
          <p:nvPr/>
        </p:nvSpPr>
        <p:spPr>
          <a:xfrm>
            <a:off x="8092440" y="4434840"/>
            <a:ext cx="3383280" cy="1371600"/>
          </a:xfrm>
          <a:prstGeom prst="roundRect">
            <a:avLst>
              <a:gd name="adj" fmla="val 8000"/>
            </a:avLst>
          </a:prstGeom>
          <a:solidFill>
            <a:srgbClr val="2D6B52"/>
          </a:solidFill>
          <a:ln w="9525">
            <a:solidFill>
              <a:srgbClr val="2D6B52"/>
            </a:solidFill>
            <a:prstDash val="solid"/>
          </a:ln>
        </p:spPr>
      </p:sp>
      <p:sp>
        <p:nvSpPr>
          <p:cNvPr id="14" name="Text 12"/>
          <p:cNvSpPr txBox="1"/>
          <p:nvPr/>
        </p:nvSpPr>
        <p:spPr>
          <a:xfrm>
            <a:off x="8366760" y="4599432"/>
            <a:ext cx="105156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2</a:t>
            </a:r>
            <a:endParaRPr lang="en-US" sz="4800" dirty="0"/>
          </a:p>
        </p:txBody>
      </p:sp>
      <p:sp>
        <p:nvSpPr>
          <p:cNvPr id="15" name="Text 13"/>
          <p:cNvSpPr txBox="1"/>
          <p:nvPr/>
        </p:nvSpPr>
        <p:spPr>
          <a:xfrm>
            <a:off x="9418320" y="4599432"/>
            <a:ext cx="1920240" cy="1005840"/>
          </a:xfrm>
          <a:prstGeom prst="rect">
            <a:avLst/>
          </a:prstGeom>
          <a:noFill/>
          <a:ln/>
        </p:spPr>
        <p:txBody>
          <a:bodyPr wrap="square" lIns="0" tIns="0" rIns="0" bIns="0" rtlCol="0" anchor="ctr"/>
          <a:lstStyle/>
          <a:p>
            <a:pPr indent="0" marL="0">
              <a:buNone/>
            </a:pPr>
            <a:r>
              <a:rPr lang="en-US" sz="1700" dirty="0">
                <a:solidFill>
                  <a:srgbClr val="CFE3D8"/>
                </a:solidFill>
                <a:latin typeface="Calibri" pitchFamily="34" charset="0"/>
                <a:ea typeface="Calibri" pitchFamily="34" charset="-122"/>
                <a:cs typeface="Calibri" pitchFamily="34" charset="-120"/>
              </a:rPr>
              <a:t>months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Overall summary</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16 Mystery Shopper reports · final score for every visit</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463040"/>
            <a:ext cx="3566160" cy="1143000"/>
          </a:xfrm>
          <a:prstGeom prst="roundRect">
            <a:avLst>
              <a:gd name="adj" fmla="val 9600"/>
            </a:avLst>
          </a:prstGeom>
          <a:solidFill>
            <a:srgbClr val="E7F0EB"/>
          </a:solidFill>
          <a:ln w="9525">
            <a:solidFill>
              <a:srgbClr val="E7F0EB"/>
            </a:solidFill>
            <a:prstDash val="solid"/>
          </a:ln>
        </p:spPr>
      </p:sp>
      <p:sp>
        <p:nvSpPr>
          <p:cNvPr id="6" name="Text 4"/>
          <p:cNvSpPr txBox="1"/>
          <p:nvPr/>
        </p:nvSpPr>
        <p:spPr>
          <a:xfrm>
            <a:off x="777240" y="1609344"/>
            <a:ext cx="3108960" cy="228600"/>
          </a:xfrm>
          <a:prstGeom prst="rect">
            <a:avLst/>
          </a:prstGeom>
          <a:noFill/>
          <a:ln/>
        </p:spPr>
        <p:txBody>
          <a:bodyPr wrap="square" lIns="0" tIns="0" rIns="0" bIns="0" rtlCol="0" anchor="t"/>
          <a:lstStyle/>
          <a:p>
            <a:pPr indent="0" marL="0">
              <a:buNone/>
            </a:pPr>
            <a:r>
              <a:rPr lang="en-US" sz="1100" b="1" spc="150" kern="0" dirty="0">
                <a:solidFill>
                  <a:srgbClr val="245C45"/>
                </a:solidFill>
                <a:latin typeface="Calibri" pitchFamily="34" charset="0"/>
                <a:ea typeface="Calibri" pitchFamily="34" charset="-122"/>
                <a:cs typeface="Calibri" pitchFamily="34" charset="-120"/>
              </a:rPr>
              <a:t>SEPTEMBER</a:t>
            </a:r>
            <a:endParaRPr lang="en-US" sz="1100" dirty="0"/>
          </a:p>
        </p:txBody>
      </p:sp>
      <p:sp>
        <p:nvSpPr>
          <p:cNvPr id="7" name="Text 5"/>
          <p:cNvSpPr txBox="1"/>
          <p:nvPr/>
        </p:nvSpPr>
        <p:spPr>
          <a:xfrm>
            <a:off x="777240" y="1847088"/>
            <a:ext cx="1600200" cy="594360"/>
          </a:xfrm>
          <a:prstGeom prst="rect">
            <a:avLst/>
          </a:prstGeom>
          <a:noFill/>
          <a:ln/>
        </p:spPr>
        <p:txBody>
          <a:bodyPr wrap="square" lIns="0" tIns="0" rIns="0" bIns="0" rtlCol="0" anchor="ctr"/>
          <a:lstStyle/>
          <a:p>
            <a:pPr indent="0" marL="0">
              <a:buNone/>
            </a:pPr>
            <a:r>
              <a:rPr lang="en-US" sz="3200" b="1" dirty="0">
                <a:solidFill>
                  <a:srgbClr val="1F2A24"/>
                </a:solidFill>
                <a:latin typeface="Calibri" pitchFamily="34" charset="0"/>
                <a:ea typeface="Calibri" pitchFamily="34" charset="-122"/>
                <a:cs typeface="Calibri" pitchFamily="34" charset="-120"/>
              </a:rPr>
              <a:t>90.38</a:t>
            </a:r>
            <a:endParaRPr lang="en-US" sz="3200" dirty="0"/>
          </a:p>
        </p:txBody>
      </p:sp>
      <p:sp>
        <p:nvSpPr>
          <p:cNvPr id="8" name="Text 6"/>
          <p:cNvSpPr txBox="1"/>
          <p:nvPr/>
        </p:nvSpPr>
        <p:spPr>
          <a:xfrm>
            <a:off x="2331720" y="1892808"/>
            <a:ext cx="16916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average score · 4 reports</a:t>
            </a:r>
            <a:endParaRPr lang="en-US" sz="1200" dirty="0"/>
          </a:p>
        </p:txBody>
      </p:sp>
      <p:sp>
        <p:nvSpPr>
          <p:cNvPr id="9" name="Shape 7"/>
          <p:cNvSpPr/>
          <p:nvPr/>
        </p:nvSpPr>
        <p:spPr>
          <a:xfrm>
            <a:off x="548640" y="2761488"/>
            <a:ext cx="3566160" cy="1143000"/>
          </a:xfrm>
          <a:prstGeom prst="roundRect">
            <a:avLst>
              <a:gd name="adj" fmla="val 9600"/>
            </a:avLst>
          </a:prstGeom>
          <a:solidFill>
            <a:srgbClr val="F7EEDC"/>
          </a:solidFill>
          <a:ln w="9525">
            <a:solidFill>
              <a:srgbClr val="F7EEDC"/>
            </a:solidFill>
            <a:prstDash val="solid"/>
          </a:ln>
        </p:spPr>
      </p:sp>
      <p:sp>
        <p:nvSpPr>
          <p:cNvPr id="10" name="Text 8"/>
          <p:cNvSpPr txBox="1"/>
          <p:nvPr/>
        </p:nvSpPr>
        <p:spPr>
          <a:xfrm>
            <a:off x="777240" y="2907792"/>
            <a:ext cx="3108960" cy="228600"/>
          </a:xfrm>
          <a:prstGeom prst="rect">
            <a:avLst/>
          </a:prstGeom>
          <a:noFill/>
          <a:ln/>
        </p:spPr>
        <p:txBody>
          <a:bodyPr wrap="square" lIns="0" tIns="0" rIns="0" bIns="0" rtlCol="0" anchor="t"/>
          <a:lstStyle/>
          <a:p>
            <a:pPr indent="0" marL="0">
              <a:buNone/>
            </a:pPr>
            <a:r>
              <a:rPr lang="en-US" sz="1100" b="1" spc="150" kern="0" dirty="0">
                <a:solidFill>
                  <a:srgbClr val="8A6420"/>
                </a:solidFill>
                <a:latin typeface="Calibri" pitchFamily="34" charset="0"/>
                <a:ea typeface="Calibri" pitchFamily="34" charset="-122"/>
                <a:cs typeface="Calibri" pitchFamily="34" charset="-120"/>
              </a:rPr>
              <a:t>OCTOBER</a:t>
            </a:r>
            <a:endParaRPr lang="en-US" sz="1100" dirty="0"/>
          </a:p>
        </p:txBody>
      </p:sp>
      <p:sp>
        <p:nvSpPr>
          <p:cNvPr id="11" name="Text 9"/>
          <p:cNvSpPr txBox="1"/>
          <p:nvPr/>
        </p:nvSpPr>
        <p:spPr>
          <a:xfrm>
            <a:off x="777240" y="3145536"/>
            <a:ext cx="1600200" cy="594360"/>
          </a:xfrm>
          <a:prstGeom prst="rect">
            <a:avLst/>
          </a:prstGeom>
          <a:noFill/>
          <a:ln/>
        </p:spPr>
        <p:txBody>
          <a:bodyPr wrap="square" lIns="0" tIns="0" rIns="0" bIns="0" rtlCol="0" anchor="ctr"/>
          <a:lstStyle/>
          <a:p>
            <a:pPr indent="0" marL="0">
              <a:buNone/>
            </a:pPr>
            <a:r>
              <a:rPr lang="en-US" sz="3200" b="1" dirty="0">
                <a:solidFill>
                  <a:srgbClr val="1F2A24"/>
                </a:solidFill>
                <a:latin typeface="Calibri" pitchFamily="34" charset="0"/>
                <a:ea typeface="Calibri" pitchFamily="34" charset="-122"/>
                <a:cs typeface="Calibri" pitchFamily="34" charset="-120"/>
              </a:rPr>
              <a:t>79.46</a:t>
            </a:r>
            <a:endParaRPr lang="en-US" sz="3200" dirty="0"/>
          </a:p>
        </p:txBody>
      </p:sp>
      <p:sp>
        <p:nvSpPr>
          <p:cNvPr id="12" name="Text 10"/>
          <p:cNvSpPr txBox="1"/>
          <p:nvPr/>
        </p:nvSpPr>
        <p:spPr>
          <a:xfrm>
            <a:off x="2331720" y="3191256"/>
            <a:ext cx="16916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average score · 12 reports</a:t>
            </a:r>
            <a:endParaRPr lang="en-US" sz="1200" dirty="0"/>
          </a:p>
        </p:txBody>
      </p:sp>
      <p:sp>
        <p:nvSpPr>
          <p:cNvPr id="13" name="Shape 11"/>
          <p:cNvSpPr/>
          <p:nvPr/>
        </p:nvSpPr>
        <p:spPr>
          <a:xfrm>
            <a:off x="548640" y="4059936"/>
            <a:ext cx="3566160" cy="1143000"/>
          </a:xfrm>
          <a:prstGeom prst="roundRect">
            <a:avLst>
              <a:gd name="adj" fmla="val 9600"/>
            </a:avLst>
          </a:prstGeom>
          <a:solidFill>
            <a:srgbClr val="F8E6E2"/>
          </a:solidFill>
          <a:ln w="9525">
            <a:solidFill>
              <a:srgbClr val="F8E6E2"/>
            </a:solidFill>
            <a:prstDash val="solid"/>
          </a:ln>
        </p:spPr>
      </p:sp>
      <p:sp>
        <p:nvSpPr>
          <p:cNvPr id="14" name="Text 12"/>
          <p:cNvSpPr txBox="1"/>
          <p:nvPr/>
        </p:nvSpPr>
        <p:spPr>
          <a:xfrm>
            <a:off x="777240" y="4206240"/>
            <a:ext cx="3108960" cy="228600"/>
          </a:xfrm>
          <a:prstGeom prst="rect">
            <a:avLst/>
          </a:prstGeom>
          <a:noFill/>
          <a:ln/>
        </p:spPr>
        <p:txBody>
          <a:bodyPr wrap="square" lIns="0" tIns="0" rIns="0" bIns="0" rtlCol="0" anchor="t"/>
          <a:lstStyle/>
          <a:p>
            <a:pPr indent="0" marL="0">
              <a:buNone/>
            </a:pPr>
            <a:r>
              <a:rPr lang="en-US" sz="1100" b="1" spc="150" kern="0" dirty="0">
                <a:solidFill>
                  <a:srgbClr val="B3402A"/>
                </a:solidFill>
                <a:latin typeface="Calibri" pitchFamily="34" charset="0"/>
                <a:ea typeface="Calibri" pitchFamily="34" charset="-122"/>
                <a:cs typeface="Calibri" pitchFamily="34" charset="-120"/>
              </a:rPr>
              <a:t>DIFFERENCE</a:t>
            </a:r>
            <a:endParaRPr lang="en-US" sz="1100" dirty="0"/>
          </a:p>
        </p:txBody>
      </p:sp>
      <p:sp>
        <p:nvSpPr>
          <p:cNvPr id="15" name="Text 13"/>
          <p:cNvSpPr txBox="1"/>
          <p:nvPr/>
        </p:nvSpPr>
        <p:spPr>
          <a:xfrm>
            <a:off x="777240" y="4443984"/>
            <a:ext cx="1600200" cy="594360"/>
          </a:xfrm>
          <a:prstGeom prst="rect">
            <a:avLst/>
          </a:prstGeom>
          <a:noFill/>
          <a:ln/>
        </p:spPr>
        <p:txBody>
          <a:bodyPr wrap="square" lIns="0" tIns="0" rIns="0" bIns="0" rtlCol="0" anchor="ctr"/>
          <a:lstStyle/>
          <a:p>
            <a:pPr indent="0" marL="0">
              <a:buNone/>
            </a:pPr>
            <a:r>
              <a:rPr lang="en-US" sz="3200" b="1" dirty="0">
                <a:solidFill>
                  <a:srgbClr val="1F2A24"/>
                </a:solidFill>
                <a:latin typeface="Calibri" pitchFamily="34" charset="0"/>
                <a:ea typeface="Calibri" pitchFamily="34" charset="-122"/>
                <a:cs typeface="Calibri" pitchFamily="34" charset="-120"/>
              </a:rPr>
              <a:t>−10.92</a:t>
            </a:r>
            <a:endParaRPr lang="en-US" sz="3200" dirty="0"/>
          </a:p>
        </p:txBody>
      </p:sp>
      <p:sp>
        <p:nvSpPr>
          <p:cNvPr id="16" name="Text 14"/>
          <p:cNvSpPr txBox="1"/>
          <p:nvPr/>
        </p:nvSpPr>
        <p:spPr>
          <a:xfrm>
            <a:off x="2331720" y="4489704"/>
            <a:ext cx="1691640" cy="548640"/>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points, Oct vs Sep</a:t>
            </a:r>
            <a:endParaRPr lang="en-US" sz="1200" dirty="0"/>
          </a:p>
        </p:txBody>
      </p:sp>
      <p:sp>
        <p:nvSpPr>
          <p:cNvPr id="17" name="Text 15"/>
          <p:cNvSpPr txBox="1"/>
          <p:nvPr/>
        </p:nvSpPr>
        <p:spPr>
          <a:xfrm>
            <a:off x="548640" y="5440680"/>
            <a:ext cx="3566160" cy="640080"/>
          </a:xfrm>
          <a:prstGeom prst="rect">
            <a:avLst/>
          </a:prstGeom>
          <a:noFill/>
          <a:ln/>
        </p:spPr>
        <p:txBody>
          <a:bodyPr wrap="square" lIns="0" tIns="0" rIns="0" bIns="0" rtlCol="0" anchor="t"/>
          <a:lstStyle/>
          <a:p>
            <a:pPr indent="0" marL="0">
              <a:buNone/>
            </a:pPr>
            <a:r>
              <a:rPr lang="en-US" sz="1150" i="1" dirty="0">
                <a:solidFill>
                  <a:srgbClr val="5E6B64"/>
                </a:solidFill>
                <a:latin typeface="Calibri" pitchFamily="34" charset="0"/>
                <a:ea typeface="Calibri" pitchFamily="34" charset="-122"/>
                <a:cs typeface="Calibri" pitchFamily="34" charset="-120"/>
              </a:rPr>
              <a:t>Indicative only: the outlet mix and the number of reports differ between the two months.</a:t>
            </a:r>
            <a:endParaRPr lang="en-US" sz="1150" dirty="0"/>
          </a:p>
        </p:txBody>
      </p:sp>
      <p:graphicFrame>
        <p:nvGraphicFramePr>
          <p:cNvPr id="18" name="Chart 0" descr=""/>
          <p:cNvGraphicFramePr/>
          <p:nvPr/>
        </p:nvGraphicFramePr>
        <p:xfrm>
          <a:off x="4434840" y="132588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5989320" y="6217920"/>
            <a:ext cx="155448" cy="155448"/>
          </a:xfrm>
          <a:prstGeom prst="rect">
            <a:avLst/>
          </a:prstGeom>
          <a:solidFill>
            <a:srgbClr val="B3402A"/>
          </a:solidFill>
          <a:ln w="12700">
            <a:solidFill>
              <a:srgbClr val="B3402A"/>
            </a:solidFill>
            <a:prstDash val="solid"/>
          </a:ln>
        </p:spPr>
      </p:sp>
      <p:sp>
        <p:nvSpPr>
          <p:cNvPr id="20" name="Text 17"/>
          <p:cNvSpPr txBox="1"/>
          <p:nvPr/>
        </p:nvSpPr>
        <p:spPr>
          <a:xfrm>
            <a:off x="6217920" y="6144768"/>
            <a:ext cx="5394960" cy="292608"/>
          </a:xfrm>
          <a:prstGeom prst="rect">
            <a:avLst/>
          </a:prstGeom>
          <a:noFill/>
          <a:ln/>
        </p:spPr>
        <p:txBody>
          <a:bodyPr wrap="square" lIns="0" tIns="0" rIns="0" bIns="0" rtlCol="0" anchor="ctr"/>
          <a:lstStyle/>
          <a:p>
            <a:pPr indent="0" marL="0">
              <a:buNone/>
            </a:pPr>
            <a:r>
              <a:rPr lang="en-US" sz="1100" dirty="0">
                <a:solidFill>
                  <a:srgbClr val="5E6B64"/>
                </a:solidFill>
                <a:latin typeface="Calibri" pitchFamily="34" charset="0"/>
                <a:ea typeface="Calibri" pitchFamily="34" charset="-122"/>
                <a:cs typeface="Calibri" pitchFamily="34" charset="-120"/>
              </a:rPr>
              <a:t>Below 70: Cheras Leisure Mall, Bukit Mertajam ×2 and Mount Austin (all October)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What customers appreciate</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Keep these strengths across all outlets</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417320"/>
            <a:ext cx="5440680" cy="2240280"/>
          </a:xfrm>
          <a:prstGeom prst="roundRect">
            <a:avLst>
              <a:gd name="adj" fmla="val 4898"/>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6" name="Shape 4"/>
          <p:cNvSpPr/>
          <p:nvPr/>
        </p:nvSpPr>
        <p:spPr>
          <a:xfrm>
            <a:off x="777240" y="1618488"/>
            <a:ext cx="457200" cy="457200"/>
          </a:xfrm>
          <a:prstGeom prst="ellipse">
            <a:avLst/>
          </a:prstGeom>
          <a:solidFill>
            <a:srgbClr val="245C45"/>
          </a:solidFill>
          <a:ln w="12700">
            <a:solidFill>
              <a:srgbClr val="245C45"/>
            </a:solidFill>
            <a:prstDash val="solid"/>
          </a:ln>
        </p:spPr>
      </p:sp>
      <p:pic>
        <p:nvPicPr>
          <p:cNvPr id="7" name="Image 0" descr="preencoded.png">    </p:cNvPr>
          <p:cNvPicPr>
            <a:picLocks noChangeAspect="1"/>
          </p:cNvPicPr>
          <p:nvPr/>
        </p:nvPicPr>
        <p:blipFill>
          <a:blip r:embed="rId1"/>
          <a:stretch>
            <a:fillRect/>
          </a:stretch>
        </p:blipFill>
        <p:spPr>
          <a:xfrm>
            <a:off x="886968" y="1728216"/>
            <a:ext cx="237744" cy="237744"/>
          </a:xfrm>
          <a:prstGeom prst="rect">
            <a:avLst/>
          </a:prstGeom>
        </p:spPr>
      </p:pic>
      <p:sp>
        <p:nvSpPr>
          <p:cNvPr id="8" name="Text 5"/>
          <p:cNvSpPr txBox="1"/>
          <p:nvPr/>
        </p:nvSpPr>
        <p:spPr>
          <a:xfrm>
            <a:off x="1371600" y="1600200"/>
            <a:ext cx="4434840" cy="292608"/>
          </a:xfrm>
          <a:prstGeom prst="rect">
            <a:avLst/>
          </a:prstGeom>
          <a:noFill/>
          <a:ln/>
        </p:spPr>
        <p:txBody>
          <a:bodyPr wrap="square" lIns="0" tIns="0" rIns="0" bIns="0" rtlCol="0" anchor="t"/>
          <a:lstStyle/>
          <a:p>
            <a:pPr indent="0" marL="0">
              <a:buNone/>
            </a:pPr>
            <a:r>
              <a:rPr lang="en-US" sz="1700" b="1" dirty="0">
                <a:solidFill>
                  <a:srgbClr val="245C45"/>
                </a:solidFill>
                <a:latin typeface="Calibri" pitchFamily="34" charset="0"/>
                <a:ea typeface="Calibri" pitchFamily="34" charset="-122"/>
                <a:cs typeface="Calibri" pitchFamily="34" charset="-120"/>
              </a:rPr>
              <a:t>Professional doctors</a:t>
            </a:r>
            <a:endParaRPr lang="en-US" sz="1700" dirty="0"/>
          </a:p>
        </p:txBody>
      </p:sp>
      <p:sp>
        <p:nvSpPr>
          <p:cNvPr id="9" name="Text 6"/>
          <p:cNvSpPr txBox="1"/>
          <p:nvPr/>
        </p:nvSpPr>
        <p:spPr>
          <a:xfrm>
            <a:off x="1371600" y="1892808"/>
            <a:ext cx="4434840" cy="22860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Clear explanations and helpful advice.</a:t>
            </a:r>
            <a:endParaRPr lang="en-US" sz="1200" dirty="0"/>
          </a:p>
        </p:txBody>
      </p:sp>
      <p:sp>
        <p:nvSpPr>
          <p:cNvPr id="10" name="Text 7"/>
          <p:cNvSpPr txBox="1"/>
          <p:nvPr/>
        </p:nvSpPr>
        <p:spPr>
          <a:xfrm>
            <a:off x="822960" y="2286000"/>
            <a:ext cx="4937760" cy="621792"/>
          </a:xfrm>
          <a:prstGeom prst="rect">
            <a:avLst/>
          </a:prstGeom>
          <a:noFill/>
          <a:ln/>
        </p:spPr>
        <p:txBody>
          <a:bodyPr wrap="square" lIns="0" tIns="0" rIns="0" bIns="0" rtlCol="0" anchor="t"/>
          <a:lstStyle/>
          <a:p>
            <a:pPr indent="0" marL="0">
              <a:buNone/>
            </a:pPr>
            <a:r>
              <a:rPr lang="en-US" sz="1200" i="1" dirty="0">
                <a:solidFill>
                  <a:srgbClr val="1F2A24"/>
                </a:solidFill>
                <a:latin typeface="Calibri" pitchFamily="34" charset="0"/>
                <a:ea typeface="Calibri" pitchFamily="34" charset="-122"/>
                <a:cs typeface="Calibri" pitchFamily="34" charset="-120"/>
              </a:rPr>
              <a:t>Doctor Eunice minimized the discomfort by explaining what is the treatment about and how it works.</a:t>
            </a:r>
            <a:endParaRPr lang="en-US" sz="1200" dirty="0"/>
          </a:p>
          <a:p>
            <a:pPr indent="0" marL="0">
              <a:buNone/>
            </a:pPr>
            <a:r>
              <a:rPr lang="en-US" sz="1000" b="1" dirty="0">
                <a:solidFill>
                  <a:srgbClr val="B8893A"/>
                </a:solidFill>
                <a:latin typeface="Calibri" pitchFamily="34" charset="0"/>
                <a:ea typeface="Calibri" pitchFamily="34" charset="-122"/>
                <a:cs typeface="Calibri" pitchFamily="34" charset="-120"/>
              </a:rPr>
              <a:t>SS2 · Oct</a:t>
            </a:r>
            <a:endParaRPr lang="en-US" sz="1200" dirty="0"/>
          </a:p>
        </p:txBody>
      </p:sp>
      <p:sp>
        <p:nvSpPr>
          <p:cNvPr id="11" name="Text 8"/>
          <p:cNvSpPr txBox="1"/>
          <p:nvPr/>
        </p:nvSpPr>
        <p:spPr>
          <a:xfrm>
            <a:off x="822960" y="2944368"/>
            <a:ext cx="4937760" cy="621792"/>
          </a:xfrm>
          <a:prstGeom prst="rect">
            <a:avLst/>
          </a:prstGeom>
          <a:noFill/>
          <a:ln/>
        </p:spPr>
        <p:txBody>
          <a:bodyPr wrap="square" lIns="0" tIns="0" rIns="0" bIns="0" rtlCol="0" anchor="t"/>
          <a:lstStyle/>
          <a:p>
            <a:pPr indent="0" marL="0">
              <a:buNone/>
            </a:pPr>
            <a:r>
              <a:rPr lang="en-US" sz="1150" dirty="0">
                <a:solidFill>
                  <a:srgbClr val="1F2A24"/>
                </a:solidFill>
                <a:latin typeface="Microsoft YaHei" pitchFamily="34" charset="0"/>
                <a:ea typeface="Microsoft YaHei" pitchFamily="34" charset="-122"/>
                <a:cs typeface="Microsoft YaHei" pitchFamily="34" charset="-120"/>
              </a:rPr>
              <a:t>医生专业度极高，解答非常细致耐心，让人感觉安心又踏实。</a:t>
            </a:r>
            <a:endParaRPr lang="en-US" sz="1150" dirty="0"/>
          </a:p>
          <a:p>
            <a:pPr indent="0" marL="0">
              <a:buNone/>
            </a:pPr>
            <a:r>
              <a:rPr lang="en-US" sz="1000" b="1" dirty="0">
                <a:solidFill>
                  <a:srgbClr val="B8893A"/>
                </a:solidFill>
                <a:latin typeface="Calibri" pitchFamily="34" charset="0"/>
                <a:ea typeface="Calibri" pitchFamily="34" charset="-122"/>
                <a:cs typeface="Calibri" pitchFamily="34" charset="-120"/>
              </a:rPr>
              <a:t>Raja Uda · Oct</a:t>
            </a:r>
            <a:endParaRPr lang="en-US" sz="1150" dirty="0"/>
          </a:p>
        </p:txBody>
      </p:sp>
      <p:sp>
        <p:nvSpPr>
          <p:cNvPr id="12" name="Shape 9"/>
          <p:cNvSpPr/>
          <p:nvPr/>
        </p:nvSpPr>
        <p:spPr>
          <a:xfrm>
            <a:off x="6199632" y="1417320"/>
            <a:ext cx="5440680" cy="2240280"/>
          </a:xfrm>
          <a:prstGeom prst="roundRect">
            <a:avLst>
              <a:gd name="adj" fmla="val 4898"/>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3" name="Shape 10"/>
          <p:cNvSpPr/>
          <p:nvPr/>
        </p:nvSpPr>
        <p:spPr>
          <a:xfrm>
            <a:off x="6428232" y="1618488"/>
            <a:ext cx="457200" cy="457200"/>
          </a:xfrm>
          <a:prstGeom prst="ellipse">
            <a:avLst/>
          </a:prstGeom>
          <a:solidFill>
            <a:srgbClr val="245C45"/>
          </a:solidFill>
          <a:ln w="12700">
            <a:solidFill>
              <a:srgbClr val="245C45"/>
            </a:solidFill>
            <a:prstDash val="solid"/>
          </a:ln>
        </p:spPr>
      </p:sp>
      <p:pic>
        <p:nvPicPr>
          <p:cNvPr id="14" name="Image 1" descr="preencoded.png">    </p:cNvPr>
          <p:cNvPicPr>
            <a:picLocks noChangeAspect="1"/>
          </p:cNvPicPr>
          <p:nvPr/>
        </p:nvPicPr>
        <p:blipFill>
          <a:blip r:embed="rId2"/>
          <a:stretch>
            <a:fillRect/>
          </a:stretch>
        </p:blipFill>
        <p:spPr>
          <a:xfrm>
            <a:off x="6537960" y="1728216"/>
            <a:ext cx="237744" cy="237744"/>
          </a:xfrm>
          <a:prstGeom prst="rect">
            <a:avLst/>
          </a:prstGeom>
        </p:spPr>
      </p:pic>
      <p:sp>
        <p:nvSpPr>
          <p:cNvPr id="15" name="Text 11"/>
          <p:cNvSpPr txBox="1"/>
          <p:nvPr/>
        </p:nvSpPr>
        <p:spPr>
          <a:xfrm>
            <a:off x="7022592" y="1600200"/>
            <a:ext cx="4434840" cy="292608"/>
          </a:xfrm>
          <a:prstGeom prst="rect">
            <a:avLst/>
          </a:prstGeom>
          <a:noFill/>
          <a:ln/>
        </p:spPr>
        <p:txBody>
          <a:bodyPr wrap="square" lIns="0" tIns="0" rIns="0" bIns="0" rtlCol="0" anchor="t"/>
          <a:lstStyle/>
          <a:p>
            <a:pPr indent="0" marL="0">
              <a:buNone/>
            </a:pPr>
            <a:r>
              <a:rPr lang="en-US" sz="1700" b="1" dirty="0">
                <a:solidFill>
                  <a:srgbClr val="245C45"/>
                </a:solidFill>
                <a:latin typeface="Calibri" pitchFamily="34" charset="0"/>
                <a:ea typeface="Calibri" pitchFamily="34" charset="-122"/>
                <a:cs typeface="Calibri" pitchFamily="34" charset="-120"/>
              </a:rPr>
              <a:t>Friendly, warm staff</a:t>
            </a:r>
            <a:endParaRPr lang="en-US" sz="1700" dirty="0"/>
          </a:p>
        </p:txBody>
      </p:sp>
      <p:sp>
        <p:nvSpPr>
          <p:cNvPr id="16" name="Text 12"/>
          <p:cNvSpPr txBox="1"/>
          <p:nvPr/>
        </p:nvSpPr>
        <p:spPr>
          <a:xfrm>
            <a:off x="7022592" y="1892808"/>
            <a:ext cx="4434840" cy="22860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Warm welcomes and patient answers.</a:t>
            </a:r>
            <a:endParaRPr lang="en-US" sz="1200" dirty="0"/>
          </a:p>
        </p:txBody>
      </p:sp>
      <p:sp>
        <p:nvSpPr>
          <p:cNvPr id="17" name="Text 13"/>
          <p:cNvSpPr txBox="1"/>
          <p:nvPr/>
        </p:nvSpPr>
        <p:spPr>
          <a:xfrm>
            <a:off x="6473952" y="2286000"/>
            <a:ext cx="4937760" cy="621792"/>
          </a:xfrm>
          <a:prstGeom prst="rect">
            <a:avLst/>
          </a:prstGeom>
          <a:noFill/>
          <a:ln/>
        </p:spPr>
        <p:txBody>
          <a:bodyPr wrap="square" lIns="0" tIns="0" rIns="0" bIns="0" rtlCol="0" anchor="t"/>
          <a:lstStyle/>
          <a:p>
            <a:pPr indent="0" marL="0">
              <a:buNone/>
            </a:pPr>
            <a:r>
              <a:rPr lang="en-US" sz="1200" i="1" dirty="0">
                <a:solidFill>
                  <a:srgbClr val="1F2A24"/>
                </a:solidFill>
                <a:latin typeface="Calibri" pitchFamily="34" charset="0"/>
                <a:ea typeface="Calibri" pitchFamily="34" charset="-122"/>
                <a:cs typeface="Calibri" pitchFamily="34" charset="-120"/>
              </a:rPr>
              <a:t>Front desk staff are consistently warm, polite and patient when welcoming customer.</a:t>
            </a:r>
            <a:endParaRPr lang="en-US" sz="1200" dirty="0"/>
          </a:p>
          <a:p>
            <a:pPr indent="0" marL="0">
              <a:buNone/>
            </a:pPr>
            <a:r>
              <a:rPr lang="en-US" sz="1000" b="1" dirty="0">
                <a:solidFill>
                  <a:srgbClr val="B8893A"/>
                </a:solidFill>
                <a:latin typeface="Calibri" pitchFamily="34" charset="0"/>
                <a:ea typeface="Calibri" pitchFamily="34" charset="-122"/>
                <a:cs typeface="Calibri" pitchFamily="34" charset="-120"/>
              </a:rPr>
              <a:t>Cheras Leisure Mall · Oct</a:t>
            </a:r>
            <a:endParaRPr lang="en-US" sz="1200" dirty="0"/>
          </a:p>
        </p:txBody>
      </p:sp>
      <p:sp>
        <p:nvSpPr>
          <p:cNvPr id="18" name="Text 14"/>
          <p:cNvSpPr txBox="1"/>
          <p:nvPr/>
        </p:nvSpPr>
        <p:spPr>
          <a:xfrm>
            <a:off x="6473952" y="2944368"/>
            <a:ext cx="4937760" cy="621792"/>
          </a:xfrm>
          <a:prstGeom prst="rect">
            <a:avLst/>
          </a:prstGeom>
          <a:noFill/>
          <a:ln/>
        </p:spPr>
        <p:txBody>
          <a:bodyPr wrap="square" lIns="0" tIns="0" rIns="0" bIns="0" rtlCol="0" anchor="t"/>
          <a:lstStyle/>
          <a:p>
            <a:pPr indent="0" marL="0">
              <a:buNone/>
            </a:pPr>
            <a:r>
              <a:rPr lang="en-US" sz="1150" dirty="0">
                <a:solidFill>
                  <a:srgbClr val="1F2A24"/>
                </a:solidFill>
                <a:latin typeface="Microsoft YaHei" pitchFamily="34" charset="0"/>
                <a:ea typeface="Microsoft YaHei" pitchFamily="34" charset="-122"/>
                <a:cs typeface="Microsoft YaHei" pitchFamily="34" charset="-120"/>
              </a:rPr>
              <a:t>护理师都有和我打招呼 非常亲切 会记住我的名字 称呼我的名字</a:t>
            </a:r>
            <a:endParaRPr lang="en-US" sz="1150" dirty="0"/>
          </a:p>
          <a:p>
            <a:pPr indent="0" marL="0">
              <a:buNone/>
            </a:pPr>
            <a:r>
              <a:rPr lang="en-US" sz="1000" b="1" dirty="0">
                <a:solidFill>
                  <a:srgbClr val="B8893A"/>
                </a:solidFill>
                <a:latin typeface="Calibri" pitchFamily="34" charset="0"/>
                <a:ea typeface="Calibri" pitchFamily="34" charset="-122"/>
                <a:cs typeface="Calibri" pitchFamily="34" charset="-120"/>
              </a:rPr>
              <a:t>Mount Austin · Sep</a:t>
            </a:r>
            <a:endParaRPr lang="en-US" sz="1150" dirty="0"/>
          </a:p>
        </p:txBody>
      </p:sp>
      <p:sp>
        <p:nvSpPr>
          <p:cNvPr id="19" name="Shape 15"/>
          <p:cNvSpPr/>
          <p:nvPr/>
        </p:nvSpPr>
        <p:spPr>
          <a:xfrm>
            <a:off x="548640" y="3858768"/>
            <a:ext cx="5440680" cy="2240280"/>
          </a:xfrm>
          <a:prstGeom prst="roundRect">
            <a:avLst>
              <a:gd name="adj" fmla="val 4898"/>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0" name="Shape 16"/>
          <p:cNvSpPr/>
          <p:nvPr/>
        </p:nvSpPr>
        <p:spPr>
          <a:xfrm>
            <a:off x="777240" y="4059936"/>
            <a:ext cx="457200" cy="457200"/>
          </a:xfrm>
          <a:prstGeom prst="ellipse">
            <a:avLst/>
          </a:prstGeom>
          <a:solidFill>
            <a:srgbClr val="245C45"/>
          </a:solidFill>
          <a:ln w="12700">
            <a:solidFill>
              <a:srgbClr val="245C45"/>
            </a:solidFill>
            <a:prstDash val="solid"/>
          </a:ln>
        </p:spPr>
      </p:sp>
      <p:pic>
        <p:nvPicPr>
          <p:cNvPr id="21" name="Image 2" descr="preencoded.png">    </p:cNvPr>
          <p:cNvPicPr>
            <a:picLocks noChangeAspect="1"/>
          </p:cNvPicPr>
          <p:nvPr/>
        </p:nvPicPr>
        <p:blipFill>
          <a:blip r:embed="rId3"/>
          <a:stretch>
            <a:fillRect/>
          </a:stretch>
        </p:blipFill>
        <p:spPr>
          <a:xfrm>
            <a:off x="886968" y="4169664"/>
            <a:ext cx="237744" cy="237744"/>
          </a:xfrm>
          <a:prstGeom prst="rect">
            <a:avLst/>
          </a:prstGeom>
        </p:spPr>
      </p:pic>
      <p:sp>
        <p:nvSpPr>
          <p:cNvPr id="22" name="Text 17"/>
          <p:cNvSpPr txBox="1"/>
          <p:nvPr/>
        </p:nvSpPr>
        <p:spPr>
          <a:xfrm>
            <a:off x="1371600" y="4041648"/>
            <a:ext cx="4434840" cy="292608"/>
          </a:xfrm>
          <a:prstGeom prst="rect">
            <a:avLst/>
          </a:prstGeom>
          <a:noFill/>
          <a:ln/>
        </p:spPr>
        <p:txBody>
          <a:bodyPr wrap="square" lIns="0" tIns="0" rIns="0" bIns="0" rtlCol="0" anchor="t"/>
          <a:lstStyle/>
          <a:p>
            <a:pPr indent="0" marL="0">
              <a:buNone/>
            </a:pPr>
            <a:r>
              <a:rPr lang="en-US" sz="1700" b="1" dirty="0">
                <a:solidFill>
                  <a:srgbClr val="245C45"/>
                </a:solidFill>
                <a:latin typeface="Calibri" pitchFamily="34" charset="0"/>
                <a:ea typeface="Calibri" pitchFamily="34" charset="-122"/>
                <a:cs typeface="Calibri" pitchFamily="34" charset="-120"/>
              </a:rPr>
              <a:t>Appointment support</a:t>
            </a:r>
            <a:endParaRPr lang="en-US" sz="1700" dirty="0"/>
          </a:p>
        </p:txBody>
      </p:sp>
      <p:sp>
        <p:nvSpPr>
          <p:cNvPr id="23" name="Text 18"/>
          <p:cNvSpPr txBox="1"/>
          <p:nvPr/>
        </p:nvSpPr>
        <p:spPr>
          <a:xfrm>
            <a:off x="1371600" y="4334256"/>
            <a:ext cx="4434840" cy="22860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Prompt replies, reminders and helpful rescheduling.</a:t>
            </a:r>
            <a:endParaRPr lang="en-US" sz="1200" dirty="0"/>
          </a:p>
        </p:txBody>
      </p:sp>
      <p:sp>
        <p:nvSpPr>
          <p:cNvPr id="24" name="Text 19"/>
          <p:cNvSpPr txBox="1"/>
          <p:nvPr/>
        </p:nvSpPr>
        <p:spPr>
          <a:xfrm>
            <a:off x="822960" y="4727448"/>
            <a:ext cx="4937760" cy="621792"/>
          </a:xfrm>
          <a:prstGeom prst="rect">
            <a:avLst/>
          </a:prstGeom>
          <a:noFill/>
          <a:ln/>
        </p:spPr>
        <p:txBody>
          <a:bodyPr wrap="square" lIns="0" tIns="0" rIns="0" bIns="0" rtlCol="0" anchor="t"/>
          <a:lstStyle/>
          <a:p>
            <a:pPr indent="0" marL="0">
              <a:buNone/>
            </a:pPr>
            <a:r>
              <a:rPr lang="en-US" sz="1150" dirty="0">
                <a:solidFill>
                  <a:srgbClr val="1F2A24"/>
                </a:solidFill>
                <a:latin typeface="Microsoft YaHei" pitchFamily="34" charset="0"/>
                <a:ea typeface="Microsoft YaHei" pitchFamily="34" charset="-122"/>
                <a:cs typeface="Microsoft YaHei" pitchFamily="34" charset="-120"/>
              </a:rPr>
              <a:t>她提醒了我隔天的appointment，还有发现有空的下午slot，问我要不要换……态度回复速度都好很快！</a:t>
            </a:r>
            <a:endParaRPr lang="en-US" sz="1150" dirty="0"/>
          </a:p>
          <a:p>
            <a:pPr indent="0" marL="0">
              <a:buNone/>
            </a:pPr>
            <a:r>
              <a:rPr lang="en-US" sz="1000" b="1" dirty="0">
                <a:solidFill>
                  <a:srgbClr val="B8893A"/>
                </a:solidFill>
                <a:latin typeface="Calibri" pitchFamily="34" charset="0"/>
                <a:ea typeface="Calibri" pitchFamily="34" charset="-122"/>
                <a:cs typeface="Calibri" pitchFamily="34" charset="-120"/>
              </a:rPr>
              <a:t>Mount Austin · Oct</a:t>
            </a:r>
            <a:endParaRPr lang="en-US" sz="1150" dirty="0"/>
          </a:p>
        </p:txBody>
      </p:sp>
      <p:sp>
        <p:nvSpPr>
          <p:cNvPr id="25" name="Text 20"/>
          <p:cNvSpPr txBox="1"/>
          <p:nvPr/>
        </p:nvSpPr>
        <p:spPr>
          <a:xfrm>
            <a:off x="822960" y="5385816"/>
            <a:ext cx="4937760" cy="621792"/>
          </a:xfrm>
          <a:prstGeom prst="rect">
            <a:avLst/>
          </a:prstGeom>
          <a:noFill/>
          <a:ln/>
        </p:spPr>
        <p:txBody>
          <a:bodyPr wrap="square" lIns="0" tIns="0" rIns="0" bIns="0" rtlCol="0" anchor="t"/>
          <a:lstStyle/>
          <a:p>
            <a:pPr indent="0" marL="0">
              <a:buNone/>
            </a:pPr>
            <a:r>
              <a:rPr lang="en-US" sz="1200" i="1" dirty="0">
                <a:solidFill>
                  <a:srgbClr val="1F2A24"/>
                </a:solidFill>
                <a:latin typeface="Calibri" pitchFamily="34" charset="0"/>
                <a:ea typeface="Calibri" pitchFamily="34" charset="-122"/>
                <a:cs typeface="Calibri" pitchFamily="34" charset="-120"/>
              </a:rPr>
              <a:t>Booking was accurate and with WhatsApp confirmation and reminders.</a:t>
            </a:r>
            <a:endParaRPr lang="en-US" sz="1200" dirty="0"/>
          </a:p>
          <a:p>
            <a:pPr indent="0" marL="0">
              <a:buNone/>
            </a:pPr>
            <a:r>
              <a:rPr lang="en-US" sz="1000" b="1" dirty="0">
                <a:solidFill>
                  <a:srgbClr val="B8893A"/>
                </a:solidFill>
                <a:latin typeface="Calibri" pitchFamily="34" charset="0"/>
                <a:ea typeface="Calibri" pitchFamily="34" charset="-122"/>
                <a:cs typeface="Calibri" pitchFamily="34" charset="-120"/>
              </a:rPr>
              <a:t>Greenlane · Oct</a:t>
            </a:r>
            <a:endParaRPr lang="en-US" sz="1200" dirty="0"/>
          </a:p>
        </p:txBody>
      </p:sp>
      <p:sp>
        <p:nvSpPr>
          <p:cNvPr id="26" name="Shape 21"/>
          <p:cNvSpPr/>
          <p:nvPr/>
        </p:nvSpPr>
        <p:spPr>
          <a:xfrm>
            <a:off x="6199632" y="3858768"/>
            <a:ext cx="5440680" cy="2240280"/>
          </a:xfrm>
          <a:prstGeom prst="roundRect">
            <a:avLst>
              <a:gd name="adj" fmla="val 4898"/>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7" name="Shape 22"/>
          <p:cNvSpPr/>
          <p:nvPr/>
        </p:nvSpPr>
        <p:spPr>
          <a:xfrm>
            <a:off x="6428232" y="4059936"/>
            <a:ext cx="457200" cy="457200"/>
          </a:xfrm>
          <a:prstGeom prst="ellipse">
            <a:avLst/>
          </a:prstGeom>
          <a:solidFill>
            <a:srgbClr val="245C45"/>
          </a:solidFill>
          <a:ln w="12700">
            <a:solidFill>
              <a:srgbClr val="245C45"/>
            </a:solidFill>
            <a:prstDash val="solid"/>
          </a:ln>
        </p:spPr>
      </p:sp>
      <p:pic>
        <p:nvPicPr>
          <p:cNvPr id="28" name="Image 3" descr="preencoded.png">    </p:cNvPr>
          <p:cNvPicPr>
            <a:picLocks noChangeAspect="1"/>
          </p:cNvPicPr>
          <p:nvPr/>
        </p:nvPicPr>
        <p:blipFill>
          <a:blip r:embed="rId4"/>
          <a:stretch>
            <a:fillRect/>
          </a:stretch>
        </p:blipFill>
        <p:spPr>
          <a:xfrm>
            <a:off x="6537960" y="4169664"/>
            <a:ext cx="237744" cy="237744"/>
          </a:xfrm>
          <a:prstGeom prst="rect">
            <a:avLst/>
          </a:prstGeom>
        </p:spPr>
      </p:pic>
      <p:sp>
        <p:nvSpPr>
          <p:cNvPr id="29" name="Text 23"/>
          <p:cNvSpPr txBox="1"/>
          <p:nvPr/>
        </p:nvSpPr>
        <p:spPr>
          <a:xfrm>
            <a:off x="7022592" y="4041648"/>
            <a:ext cx="4434840" cy="292608"/>
          </a:xfrm>
          <a:prstGeom prst="rect">
            <a:avLst/>
          </a:prstGeom>
          <a:noFill/>
          <a:ln/>
        </p:spPr>
        <p:txBody>
          <a:bodyPr wrap="square" lIns="0" tIns="0" rIns="0" bIns="0" rtlCol="0" anchor="t"/>
          <a:lstStyle/>
          <a:p>
            <a:pPr indent="0" marL="0">
              <a:buNone/>
            </a:pPr>
            <a:r>
              <a:rPr lang="en-US" sz="1700" b="1" dirty="0">
                <a:solidFill>
                  <a:srgbClr val="245C45"/>
                </a:solidFill>
                <a:latin typeface="Calibri" pitchFamily="34" charset="0"/>
                <a:ea typeface="Calibri" pitchFamily="34" charset="-122"/>
                <a:cs typeface="Calibri" pitchFamily="34" charset="-120"/>
              </a:rPr>
              <a:t>Comfortable treatment</a:t>
            </a:r>
            <a:endParaRPr lang="en-US" sz="1700" dirty="0"/>
          </a:p>
        </p:txBody>
      </p:sp>
      <p:sp>
        <p:nvSpPr>
          <p:cNvPr id="30" name="Text 24"/>
          <p:cNvSpPr txBox="1"/>
          <p:nvPr/>
        </p:nvSpPr>
        <p:spPr>
          <a:xfrm>
            <a:off x="7022592" y="4334256"/>
            <a:ext cx="4434840" cy="22860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Pleasant treatment and calm clinics.</a:t>
            </a:r>
            <a:endParaRPr lang="en-US" sz="1200" dirty="0"/>
          </a:p>
        </p:txBody>
      </p:sp>
      <p:sp>
        <p:nvSpPr>
          <p:cNvPr id="31" name="Text 25"/>
          <p:cNvSpPr txBox="1"/>
          <p:nvPr/>
        </p:nvSpPr>
        <p:spPr>
          <a:xfrm>
            <a:off x="6473952" y="4727448"/>
            <a:ext cx="4937760" cy="621792"/>
          </a:xfrm>
          <a:prstGeom prst="rect">
            <a:avLst/>
          </a:prstGeom>
          <a:noFill/>
          <a:ln/>
        </p:spPr>
        <p:txBody>
          <a:bodyPr wrap="square" lIns="0" tIns="0" rIns="0" bIns="0" rtlCol="0" anchor="t"/>
          <a:lstStyle/>
          <a:p>
            <a:pPr indent="0" marL="0">
              <a:buNone/>
            </a:pPr>
            <a:r>
              <a:rPr lang="en-US" sz="1200" i="1" dirty="0">
                <a:solidFill>
                  <a:srgbClr val="1F2A24"/>
                </a:solidFill>
                <a:latin typeface="Calibri" pitchFamily="34" charset="0"/>
                <a:ea typeface="Calibri" pitchFamily="34" charset="-122"/>
                <a:cs typeface="Calibri" pitchFamily="34" charset="-120"/>
              </a:rPr>
              <a:t>Glad to experience my first laser here. Painless and I almost fell asleep.</a:t>
            </a:r>
            <a:endParaRPr lang="en-US" sz="1200" dirty="0"/>
          </a:p>
          <a:p>
            <a:pPr indent="0" marL="0">
              <a:buNone/>
            </a:pPr>
            <a:r>
              <a:rPr lang="en-US" sz="1000" b="1" dirty="0">
                <a:solidFill>
                  <a:srgbClr val="B8893A"/>
                </a:solidFill>
                <a:latin typeface="Calibri" pitchFamily="34" charset="0"/>
                <a:ea typeface="Calibri" pitchFamily="34" charset="-122"/>
                <a:cs typeface="Calibri" pitchFamily="34" charset="-120"/>
              </a:rPr>
              <a:t>Mount Austin · Sep</a:t>
            </a:r>
            <a:endParaRPr lang="en-US" sz="1200" dirty="0"/>
          </a:p>
        </p:txBody>
      </p:sp>
      <p:sp>
        <p:nvSpPr>
          <p:cNvPr id="32" name="Text 26"/>
          <p:cNvSpPr txBox="1"/>
          <p:nvPr/>
        </p:nvSpPr>
        <p:spPr>
          <a:xfrm>
            <a:off x="6473952" y="5385816"/>
            <a:ext cx="4937760" cy="621792"/>
          </a:xfrm>
          <a:prstGeom prst="rect">
            <a:avLst/>
          </a:prstGeom>
          <a:noFill/>
          <a:ln/>
        </p:spPr>
        <p:txBody>
          <a:bodyPr wrap="square" lIns="0" tIns="0" rIns="0" bIns="0" rtlCol="0" anchor="t"/>
          <a:lstStyle/>
          <a:p>
            <a:pPr indent="0" marL="0">
              <a:buNone/>
            </a:pPr>
            <a:r>
              <a:rPr lang="en-US" sz="1150" dirty="0">
                <a:solidFill>
                  <a:srgbClr val="1F2A24"/>
                </a:solidFill>
                <a:latin typeface="Microsoft YaHei" pitchFamily="34" charset="0"/>
                <a:ea typeface="Microsoft YaHei" pitchFamily="34" charset="-122"/>
                <a:cs typeface="Microsoft YaHei" pitchFamily="34" charset="-120"/>
              </a:rPr>
              <a:t>服务态度很亲切，非常专业又细心，整个护理过程很舒服，第一次体验很满意</a:t>
            </a:r>
            <a:endParaRPr lang="en-US" sz="1150" dirty="0"/>
          </a:p>
          <a:p>
            <a:pPr indent="0" marL="0">
              <a:buNone/>
            </a:pPr>
            <a:r>
              <a:rPr lang="en-US" sz="1000" b="1" dirty="0">
                <a:solidFill>
                  <a:srgbClr val="B8893A"/>
                </a:solidFill>
                <a:latin typeface="Calibri" pitchFamily="34" charset="0"/>
                <a:ea typeface="Calibri" pitchFamily="34" charset="-122"/>
                <a:cs typeface="Calibri" pitchFamily="34" charset="-120"/>
              </a:rPr>
              <a:t>Bukit Mertajam · Sep</a:t>
            </a:r>
            <a:endParaRPr lang="en-US" sz="1150" dirty="0"/>
          </a:p>
        </p:txBody>
      </p:sp>
      <p:sp>
        <p:nvSpPr>
          <p:cNvPr id="33" name="Text 27"/>
          <p:cNvSpPr txBox="1"/>
          <p:nvPr/>
        </p:nvSpPr>
        <p:spPr>
          <a:xfrm>
            <a:off x="548640" y="6236208"/>
            <a:ext cx="10362895" cy="274320"/>
          </a:xfrm>
          <a:prstGeom prst="rect">
            <a:avLst/>
          </a:prstGeom>
          <a:noFill/>
          <a:ln/>
        </p:spPr>
        <p:txBody>
          <a:bodyPr wrap="square" lIns="0" tIns="0" rIns="0" bIns="0" rtlCol="0" anchor="t"/>
          <a:lstStyle/>
          <a:p>
            <a:pPr indent="0" marL="0">
              <a:buNone/>
            </a:pPr>
            <a:r>
              <a:rPr lang="en-US" sz="1250" b="1" dirty="0">
                <a:solidFill>
                  <a:srgbClr val="245C45"/>
                </a:solidFill>
                <a:latin typeface="Calibri" pitchFamily="34" charset="0"/>
                <a:ea typeface="Calibri" pitchFamily="34" charset="-122"/>
                <a:cs typeface="Calibri" pitchFamily="34" charset="-120"/>
              </a:rPr>
              <a:t>Keep doing: personalised care  ·  clear explanation  ·  warm welcome  ·  no-pressure recommendations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1.  Package value &amp; pricing</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Area to improve 1 of 4  ·  Journey stage: Consultation</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417320"/>
            <a:ext cx="3840480" cy="4983480"/>
          </a:xfrm>
          <a:prstGeom prst="roundRect">
            <a:avLst>
              <a:gd name="adj" fmla="val 2857"/>
            </a:avLst>
          </a:prstGeom>
          <a:solidFill>
            <a:srgbClr val="F4F8F5"/>
          </a:solidFill>
          <a:ln w="9525">
            <a:solidFill>
              <a:srgbClr val="F4F8F5"/>
            </a:solidFill>
            <a:prstDash val="solid"/>
          </a:ln>
        </p:spPr>
      </p:sp>
      <p:sp>
        <p:nvSpPr>
          <p:cNvPr id="6" name="Shape 4"/>
          <p:cNvSpPr/>
          <p:nvPr/>
        </p:nvSpPr>
        <p:spPr>
          <a:xfrm>
            <a:off x="777240" y="1645920"/>
            <a:ext cx="438912" cy="438912"/>
          </a:xfrm>
          <a:prstGeom prst="ellipse">
            <a:avLst/>
          </a:prstGeom>
          <a:solidFill>
            <a:srgbClr val="245C45"/>
          </a:solidFill>
          <a:ln w="12700">
            <a:solidFill>
              <a:srgbClr val="245C45"/>
            </a:solidFill>
            <a:prstDash val="solid"/>
          </a:ln>
        </p:spPr>
      </p:sp>
      <p:pic>
        <p:nvPicPr>
          <p:cNvPr id="7" name="Image 0" descr="preencoded.png">    </p:cNvPr>
          <p:cNvPicPr>
            <a:picLocks noChangeAspect="1"/>
          </p:cNvPicPr>
          <p:nvPr/>
        </p:nvPicPr>
        <p:blipFill>
          <a:blip r:embed="rId1"/>
          <a:stretch>
            <a:fillRect/>
          </a:stretch>
        </p:blipFill>
        <p:spPr>
          <a:xfrm>
            <a:off x="882579" y="1751259"/>
            <a:ext cx="228234" cy="228234"/>
          </a:xfrm>
          <a:prstGeom prst="rect">
            <a:avLst/>
          </a:prstGeom>
        </p:spPr>
      </p:pic>
      <p:sp>
        <p:nvSpPr>
          <p:cNvPr id="8" name="Text 5"/>
          <p:cNvSpPr txBox="1"/>
          <p:nvPr/>
        </p:nvSpPr>
        <p:spPr>
          <a:xfrm>
            <a:off x="1325880" y="1691640"/>
            <a:ext cx="2743200" cy="347472"/>
          </a:xfrm>
          <a:prstGeom prst="rect">
            <a:avLst/>
          </a:prstGeom>
          <a:noFill/>
          <a:ln/>
        </p:spPr>
        <p:txBody>
          <a:bodyPr wrap="square" lIns="0" tIns="0" rIns="0" bIns="0" rtlCol="0" anchor="ctr"/>
          <a:lstStyle/>
          <a:p>
            <a:pPr indent="0" marL="0">
              <a:buNone/>
            </a:pPr>
            <a:r>
              <a:rPr lang="en-US" sz="1100" b="1" spc="150" kern="0" dirty="0">
                <a:solidFill>
                  <a:srgbClr val="245C45"/>
                </a:solidFill>
                <a:latin typeface="Calibri" pitchFamily="34" charset="0"/>
                <a:ea typeface="Calibri" pitchFamily="34" charset="-122"/>
                <a:cs typeface="Calibri" pitchFamily="34" charset="-120"/>
              </a:rPr>
              <a:t>WHAT WE FOUND</a:t>
            </a:r>
            <a:endParaRPr lang="en-US" sz="1100" dirty="0"/>
          </a:p>
        </p:txBody>
      </p:sp>
      <p:sp>
        <p:nvSpPr>
          <p:cNvPr id="9" name="Text 6"/>
          <p:cNvSpPr txBox="1"/>
          <p:nvPr/>
        </p:nvSpPr>
        <p:spPr>
          <a:xfrm>
            <a:off x="777240" y="2194560"/>
            <a:ext cx="338328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Price or budget came up in 9 of the 16 visits. Shoppers want clearer package information and more flexible options, not only a lower price.</a:t>
            </a:r>
            <a:endParaRPr lang="en-US" sz="1300" dirty="0"/>
          </a:p>
        </p:txBody>
      </p:sp>
      <p:sp>
        <p:nvSpPr>
          <p:cNvPr id="10" name="Text 7"/>
          <p:cNvSpPr txBox="1"/>
          <p:nvPr/>
        </p:nvSpPr>
        <p:spPr>
          <a:xfrm>
            <a:off x="777240" y="3246120"/>
            <a:ext cx="3383280" cy="777240"/>
          </a:xfrm>
          <a:prstGeom prst="rect">
            <a:avLst/>
          </a:prstGeom>
          <a:noFill/>
          <a:ln/>
        </p:spPr>
        <p:txBody>
          <a:bodyPr wrap="square" lIns="0" tIns="0" rIns="0" bIns="0" rtlCol="0" anchor="t"/>
          <a:lstStyle/>
          <a:p>
            <a:pPr indent="0" marL="0">
              <a:buNone/>
            </a:pPr>
            <a:r>
              <a:rPr lang="en-US" sz="3000" b="1" dirty="0">
                <a:solidFill>
                  <a:srgbClr val="B8893A"/>
                </a:solidFill>
                <a:latin typeface="Calibri" pitchFamily="34" charset="0"/>
                <a:ea typeface="Calibri" pitchFamily="34" charset="-122"/>
                <a:cs typeface="Calibri" pitchFamily="34" charset="-120"/>
              </a:rPr>
              <a:t>9 / 16</a:t>
            </a:r>
            <a:endParaRPr lang="en-US" sz="3000" dirty="0"/>
          </a:p>
          <a:p>
            <a:pPr indent="0" marL="0">
              <a:buNone/>
            </a:pPr>
            <a:r>
              <a:rPr lang="en-US" sz="1150" dirty="0">
                <a:solidFill>
                  <a:srgbClr val="5E6B64"/>
                </a:solidFill>
                <a:latin typeface="Calibri" pitchFamily="34" charset="0"/>
                <a:ea typeface="Calibri" pitchFamily="34" charset="-122"/>
                <a:cs typeface="Calibri" pitchFamily="34" charset="-120"/>
              </a:rPr>
              <a:t>visits mentioned price or budget</a:t>
            </a:r>
            <a:endParaRPr lang="en-US" sz="3000" dirty="0"/>
          </a:p>
        </p:txBody>
      </p:sp>
      <p:sp>
        <p:nvSpPr>
          <p:cNvPr id="11" name="Text 8"/>
          <p:cNvSpPr txBox="1"/>
          <p:nvPr/>
        </p:nvSpPr>
        <p:spPr>
          <a:xfrm>
            <a:off x="777240" y="4114800"/>
            <a:ext cx="2743200" cy="274320"/>
          </a:xfrm>
          <a:prstGeom prst="rect">
            <a:avLst/>
          </a:prstGeom>
          <a:noFill/>
          <a:ln/>
        </p:spPr>
        <p:txBody>
          <a:bodyPr wrap="square" lIns="0" tIns="0" rIns="0" bIns="0" rtlCol="0" anchor="t"/>
          <a:lstStyle/>
          <a:p>
            <a:pPr indent="0" marL="0">
              <a:buNone/>
            </a:pPr>
            <a:r>
              <a:rPr lang="en-US" sz="1100" b="1" spc="150" kern="0" dirty="0">
                <a:solidFill>
                  <a:srgbClr val="245C45"/>
                </a:solidFill>
                <a:latin typeface="Calibri" pitchFamily="34" charset="0"/>
                <a:ea typeface="Calibri" pitchFamily="34" charset="-122"/>
                <a:cs typeface="Calibri" pitchFamily="34" charset="-120"/>
              </a:rPr>
              <a:t>FOLLOW-UP ACTION</a:t>
            </a:r>
            <a:endParaRPr lang="en-US" sz="1100" dirty="0"/>
          </a:p>
        </p:txBody>
      </p:sp>
      <p:sp>
        <p:nvSpPr>
          <p:cNvPr id="12" name="Text 9"/>
          <p:cNvSpPr txBox="1"/>
          <p:nvPr/>
        </p:nvSpPr>
        <p:spPr>
          <a:xfrm>
            <a:off x="777240" y="4434840"/>
            <a:ext cx="3429000" cy="1828800"/>
          </a:xfrm>
          <a:prstGeom prst="rect">
            <a:avLst/>
          </a:prstGeom>
          <a:noFill/>
          <a:ln/>
        </p:spPr>
        <p:txBody>
          <a:bodyPr wrap="square" lIns="0" tIns="0" rIns="0" bIns="0" rtlCol="0" anchor="t"/>
          <a:lstStyle/>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Bukit Mertajam: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Review package transparency: show what is included before the decision.</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All outlets: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Explain options and value clearly; avoid on-the-spot pressure such as same-day-only vouchers.</a:t>
            </a:r>
            <a:endParaRPr lang="en-US" sz="1150" dirty="0"/>
          </a:p>
        </p:txBody>
      </p:sp>
      <p:sp>
        <p:nvSpPr>
          <p:cNvPr id="13" name="Shape 10"/>
          <p:cNvSpPr/>
          <p:nvPr/>
        </p:nvSpPr>
        <p:spPr>
          <a:xfrm>
            <a:off x="4617720" y="1417320"/>
            <a:ext cx="7025335" cy="961771"/>
          </a:xfrm>
          <a:prstGeom prst="roundRect">
            <a:avLst>
              <a:gd name="adj" fmla="val 11409"/>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4" name="Shape 11"/>
          <p:cNvSpPr/>
          <p:nvPr/>
        </p:nvSpPr>
        <p:spPr>
          <a:xfrm>
            <a:off x="4800600" y="1572768"/>
            <a:ext cx="274320" cy="274320"/>
          </a:xfrm>
          <a:prstGeom prst="ellipse">
            <a:avLst/>
          </a:prstGeom>
          <a:solidFill>
            <a:srgbClr val="F7EEDC"/>
          </a:solidFill>
          <a:ln w="12700">
            <a:solidFill>
              <a:srgbClr val="F7EEDC"/>
            </a:solidFill>
            <a:prstDash val="solid"/>
          </a:ln>
        </p:spPr>
      </p:sp>
      <p:pic>
        <p:nvPicPr>
          <p:cNvPr id="15" name="Image 1" descr="preencoded.png">    </p:cNvPr>
          <p:cNvPicPr>
            <a:picLocks noChangeAspect="1"/>
          </p:cNvPicPr>
          <p:nvPr/>
        </p:nvPicPr>
        <p:blipFill>
          <a:blip r:embed="rId2"/>
          <a:stretch>
            <a:fillRect/>
          </a:stretch>
        </p:blipFill>
        <p:spPr>
          <a:xfrm>
            <a:off x="4866437" y="1638605"/>
            <a:ext cx="142646" cy="142646"/>
          </a:xfrm>
          <a:prstGeom prst="rect">
            <a:avLst/>
          </a:prstGeom>
        </p:spPr>
      </p:pic>
      <p:sp>
        <p:nvSpPr>
          <p:cNvPr id="16" name="Text 12"/>
          <p:cNvSpPr txBox="1"/>
          <p:nvPr/>
        </p:nvSpPr>
        <p:spPr>
          <a:xfrm>
            <a:off x="5184648" y="1572768"/>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BUKIT MERTAJAM  ·  OCT  ·  63.75</a:t>
            </a:r>
            <a:endParaRPr lang="en-US" sz="1050" dirty="0"/>
          </a:p>
        </p:txBody>
      </p:sp>
      <p:sp>
        <p:nvSpPr>
          <p:cNvPr id="17" name="Text 13"/>
          <p:cNvSpPr txBox="1"/>
          <p:nvPr/>
        </p:nvSpPr>
        <p:spPr>
          <a:xfrm>
            <a:off x="4892040" y="1892808"/>
            <a:ext cx="6522415" cy="413131"/>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The package information and pricing could be presented in a more transparent and straightforward way, so customers can have a clearer understanding of what is included before making a decision.</a:t>
            </a:r>
            <a:endParaRPr lang="en-US" sz="1250" dirty="0"/>
          </a:p>
        </p:txBody>
      </p:sp>
      <p:sp>
        <p:nvSpPr>
          <p:cNvPr id="18" name="Shape 14"/>
          <p:cNvSpPr/>
          <p:nvPr/>
        </p:nvSpPr>
        <p:spPr>
          <a:xfrm>
            <a:off x="4617720" y="2525395"/>
            <a:ext cx="7025335" cy="946277"/>
          </a:xfrm>
          <a:prstGeom prst="roundRect">
            <a:avLst>
              <a:gd name="adj" fmla="val 11596"/>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9" name="Shape 15"/>
          <p:cNvSpPr/>
          <p:nvPr/>
        </p:nvSpPr>
        <p:spPr>
          <a:xfrm>
            <a:off x="4800600" y="2680843"/>
            <a:ext cx="274320" cy="274320"/>
          </a:xfrm>
          <a:prstGeom prst="ellipse">
            <a:avLst/>
          </a:prstGeom>
          <a:solidFill>
            <a:srgbClr val="F7EEDC"/>
          </a:solidFill>
          <a:ln w="12700">
            <a:solidFill>
              <a:srgbClr val="F7EEDC"/>
            </a:solidFill>
            <a:prstDash val="solid"/>
          </a:ln>
        </p:spPr>
      </p:sp>
      <p:pic>
        <p:nvPicPr>
          <p:cNvPr id="20" name="Image 2" descr="preencoded.png">    </p:cNvPr>
          <p:cNvPicPr>
            <a:picLocks noChangeAspect="1"/>
          </p:cNvPicPr>
          <p:nvPr/>
        </p:nvPicPr>
        <p:blipFill>
          <a:blip r:embed="rId3"/>
          <a:stretch>
            <a:fillRect/>
          </a:stretch>
        </p:blipFill>
        <p:spPr>
          <a:xfrm>
            <a:off x="4866437" y="2746680"/>
            <a:ext cx="142646" cy="142646"/>
          </a:xfrm>
          <a:prstGeom prst="rect">
            <a:avLst/>
          </a:prstGeom>
        </p:spPr>
      </p:pic>
      <p:sp>
        <p:nvSpPr>
          <p:cNvPr id="21" name="Text 16"/>
          <p:cNvSpPr txBox="1"/>
          <p:nvPr/>
        </p:nvSpPr>
        <p:spPr>
          <a:xfrm>
            <a:off x="5184648" y="2680843"/>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MOUNT AUSTIN  ·  SEP  ·  90.75</a:t>
            </a:r>
            <a:endParaRPr lang="en-US" sz="1050" dirty="0"/>
          </a:p>
        </p:txBody>
      </p:sp>
      <p:sp>
        <p:nvSpPr>
          <p:cNvPr id="22" name="Text 17"/>
          <p:cNvSpPr txBox="1"/>
          <p:nvPr/>
        </p:nvSpPr>
        <p:spPr>
          <a:xfrm>
            <a:off x="4892040" y="3000883"/>
            <a:ext cx="6522415" cy="397637"/>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价格会有点偏高 并且一千块voucher只能当场决定才能使用……</a:t>
            </a:r>
            <a:endParaRPr lang="en-US" sz="1200" dirty="0"/>
          </a:p>
          <a:p>
            <a:pPr indent="0" marL="0">
              <a:buNone/>
            </a:pPr>
            <a:r>
              <a:rPr lang="en-US" sz="1200" dirty="0">
                <a:solidFill>
                  <a:srgbClr val="1F2A24"/>
                </a:solidFill>
                <a:latin typeface="Microsoft YaHei" pitchFamily="34" charset="0"/>
                <a:ea typeface="Microsoft YaHei" pitchFamily="34" charset="-122"/>
                <a:cs typeface="Microsoft YaHei" pitchFamily="34" charset="-120"/>
              </a:rPr>
              <a:t>希望价格可以再优惠一点或者是推出可以多人共用一个配套 因为次数选择比较少</a:t>
            </a:r>
            <a:endParaRPr lang="en-US" sz="1200" dirty="0"/>
          </a:p>
        </p:txBody>
      </p:sp>
      <p:sp>
        <p:nvSpPr>
          <p:cNvPr id="23" name="Shape 18"/>
          <p:cNvSpPr/>
          <p:nvPr/>
        </p:nvSpPr>
        <p:spPr>
          <a:xfrm>
            <a:off x="4617720" y="3617976"/>
            <a:ext cx="7025335" cy="961771"/>
          </a:xfrm>
          <a:prstGeom prst="roundRect">
            <a:avLst>
              <a:gd name="adj" fmla="val 11409"/>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4" name="Shape 19"/>
          <p:cNvSpPr/>
          <p:nvPr/>
        </p:nvSpPr>
        <p:spPr>
          <a:xfrm>
            <a:off x="4800600" y="3773424"/>
            <a:ext cx="274320" cy="274320"/>
          </a:xfrm>
          <a:prstGeom prst="ellipse">
            <a:avLst/>
          </a:prstGeom>
          <a:solidFill>
            <a:srgbClr val="F7EEDC"/>
          </a:solidFill>
          <a:ln w="12700">
            <a:solidFill>
              <a:srgbClr val="F7EEDC"/>
            </a:solidFill>
            <a:prstDash val="solid"/>
          </a:ln>
        </p:spPr>
      </p:sp>
      <p:pic>
        <p:nvPicPr>
          <p:cNvPr id="25" name="Image 3" descr="preencoded.png">    </p:cNvPr>
          <p:cNvPicPr>
            <a:picLocks noChangeAspect="1"/>
          </p:cNvPicPr>
          <p:nvPr/>
        </p:nvPicPr>
        <p:blipFill>
          <a:blip r:embed="rId4"/>
          <a:stretch>
            <a:fillRect/>
          </a:stretch>
        </p:blipFill>
        <p:spPr>
          <a:xfrm>
            <a:off x="4866437" y="3839261"/>
            <a:ext cx="142646" cy="142646"/>
          </a:xfrm>
          <a:prstGeom prst="rect">
            <a:avLst/>
          </a:prstGeom>
        </p:spPr>
      </p:pic>
      <p:sp>
        <p:nvSpPr>
          <p:cNvPr id="26" name="Text 20"/>
          <p:cNvSpPr txBox="1"/>
          <p:nvPr/>
        </p:nvSpPr>
        <p:spPr>
          <a:xfrm>
            <a:off x="5184648" y="3773424"/>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RAJA UDA  ·  OCT  ·  98.00</a:t>
            </a:r>
            <a:endParaRPr lang="en-US" sz="1050" dirty="0"/>
          </a:p>
        </p:txBody>
      </p:sp>
      <p:sp>
        <p:nvSpPr>
          <p:cNvPr id="27" name="Text 21"/>
          <p:cNvSpPr txBox="1"/>
          <p:nvPr/>
        </p:nvSpPr>
        <p:spPr>
          <a:xfrm>
            <a:off x="4892040" y="4093464"/>
            <a:ext cx="6522415" cy="413131"/>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I hope the clinic can offer more affordable packages, promotions and flexible treatment options in the future.</a:t>
            </a:r>
            <a:endParaRPr lang="en-US" sz="1250" dirty="0"/>
          </a:p>
        </p:txBody>
      </p:sp>
      <p:sp>
        <p:nvSpPr>
          <p:cNvPr id="28" name="Shape 22"/>
          <p:cNvSpPr/>
          <p:nvPr/>
        </p:nvSpPr>
        <p:spPr>
          <a:xfrm>
            <a:off x="4617720" y="4726051"/>
            <a:ext cx="7025335" cy="760349"/>
          </a:xfrm>
          <a:prstGeom prst="roundRect">
            <a:avLst>
              <a:gd name="adj" fmla="val 14431"/>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9" name="Shape 23"/>
          <p:cNvSpPr/>
          <p:nvPr/>
        </p:nvSpPr>
        <p:spPr>
          <a:xfrm>
            <a:off x="4800600" y="4881499"/>
            <a:ext cx="274320" cy="274320"/>
          </a:xfrm>
          <a:prstGeom prst="ellipse">
            <a:avLst/>
          </a:prstGeom>
          <a:solidFill>
            <a:srgbClr val="F7EEDC"/>
          </a:solidFill>
          <a:ln w="12700">
            <a:solidFill>
              <a:srgbClr val="F7EEDC"/>
            </a:solidFill>
            <a:prstDash val="solid"/>
          </a:ln>
        </p:spPr>
      </p:sp>
      <p:pic>
        <p:nvPicPr>
          <p:cNvPr id="30" name="Image 4" descr="preencoded.png">    </p:cNvPr>
          <p:cNvPicPr>
            <a:picLocks noChangeAspect="1"/>
          </p:cNvPicPr>
          <p:nvPr/>
        </p:nvPicPr>
        <p:blipFill>
          <a:blip r:embed="rId5"/>
          <a:stretch>
            <a:fillRect/>
          </a:stretch>
        </p:blipFill>
        <p:spPr>
          <a:xfrm>
            <a:off x="4866437" y="4947336"/>
            <a:ext cx="142646" cy="142646"/>
          </a:xfrm>
          <a:prstGeom prst="rect">
            <a:avLst/>
          </a:prstGeom>
        </p:spPr>
      </p:pic>
      <p:sp>
        <p:nvSpPr>
          <p:cNvPr id="31" name="Text 24"/>
          <p:cNvSpPr txBox="1"/>
          <p:nvPr/>
        </p:nvSpPr>
        <p:spPr>
          <a:xfrm>
            <a:off x="5184648" y="4881499"/>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MOUNT AUSTIN  ·  OCT  ·  65.00</a:t>
            </a:r>
            <a:endParaRPr lang="en-US" sz="1050" dirty="0"/>
          </a:p>
        </p:txBody>
      </p:sp>
      <p:sp>
        <p:nvSpPr>
          <p:cNvPr id="32" name="Text 25"/>
          <p:cNvSpPr txBox="1"/>
          <p:nvPr/>
        </p:nvSpPr>
        <p:spPr>
          <a:xfrm>
            <a:off x="4892040" y="5201539"/>
            <a:ext cx="6522415" cy="211709"/>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想买 但是价钱还是太高 作为一个学生 有点压力 可能经济自由后会考虑</a:t>
            </a:r>
            <a:endParaRPr lang="en-US" sz="1200" dirty="0"/>
          </a:p>
        </p:txBody>
      </p:sp>
      <p:sp>
        <p:nvSpPr>
          <p:cNvPr id="33" name="Text 26"/>
          <p:cNvSpPr txBox="1"/>
          <p:nvPr/>
        </p:nvSpPr>
        <p:spPr>
          <a:xfrm>
            <a:off x="4617720" y="5669280"/>
            <a:ext cx="2743200" cy="228600"/>
          </a:xfrm>
          <a:prstGeom prst="rect">
            <a:avLst/>
          </a:prstGeom>
          <a:noFill/>
          <a:ln/>
        </p:spPr>
        <p:txBody>
          <a:bodyPr wrap="square" lIns="0" tIns="0" rIns="0" bIns="0" rtlCol="0" anchor="t"/>
          <a:lstStyle/>
          <a:p>
            <a:pPr indent="0" marL="0">
              <a:buNone/>
            </a:pPr>
            <a:r>
              <a:rPr lang="en-US" sz="1000" b="1" spc="150" kern="0" dirty="0">
                <a:solidFill>
                  <a:srgbClr val="5E6B64"/>
                </a:solidFill>
                <a:latin typeface="Calibri" pitchFamily="34" charset="0"/>
                <a:ea typeface="Calibri" pitchFamily="34" charset="-122"/>
                <a:cs typeface="Calibri" pitchFamily="34" charset="-120"/>
              </a:rPr>
              <a:t>ALSO MENTIONED</a:t>
            </a:r>
            <a:endParaRPr lang="en-US" sz="1000" dirty="0"/>
          </a:p>
        </p:txBody>
      </p:sp>
      <p:sp>
        <p:nvSpPr>
          <p:cNvPr id="34" name="Text 27"/>
          <p:cNvSpPr txBox="1"/>
          <p:nvPr/>
        </p:nvSpPr>
        <p:spPr>
          <a:xfrm>
            <a:off x="4617720" y="5925312"/>
            <a:ext cx="7025335" cy="475488"/>
          </a:xfrm>
          <a:prstGeom prst="rect">
            <a:avLst/>
          </a:prstGeom>
          <a:noFill/>
          <a:ln/>
        </p:spPr>
        <p:txBody>
          <a:bodyPr wrap="square" lIns="0" tIns="0" rIns="0" bIns="0" rtlCol="0" anchor="t"/>
          <a:lstStyle/>
          <a:p>
            <a:pPr indent="0" marL="0">
              <a:spcAft>
                <a:spcPts val="300"/>
              </a:spcAft>
              <a:buNone/>
            </a:pPr>
            <a:r>
              <a:rPr lang="en-US" sz="1050" dirty="0">
                <a:solidFill>
                  <a:srgbClr val="5E6B64"/>
                </a:solidFill>
                <a:latin typeface="Calibri" pitchFamily="34" charset="0"/>
                <a:ea typeface="Calibri" pitchFamily="34" charset="-122"/>
                <a:cs typeface="Calibri" pitchFamily="34" charset="-120"/>
              </a:rPr>
              <a:t>“Expensive” · Bukit Mertajam ×2      “Over my budget” · Greenlane      “Package x10 too much for me” · SS2</a:t>
            </a:r>
            <a:endParaRPr lang="en-US" sz="1050" dirty="0"/>
          </a:p>
          <a:p>
            <a:pPr indent="0" marL="0">
              <a:spcAft>
                <a:spcPts val="300"/>
              </a:spcAft>
              <a:buNone/>
            </a:pPr>
            <a:r>
              <a:rPr lang="en-US" sz="1050" dirty="0">
                <a:solidFill>
                  <a:srgbClr val="5E6B64"/>
                </a:solidFill>
                <a:latin typeface="Microsoft YaHei" pitchFamily="34" charset="0"/>
                <a:ea typeface="Microsoft YaHei" pitchFamily="34" charset="-122"/>
                <a:cs typeface="Microsoft YaHei" pitchFamily="34" charset="-120"/>
              </a:rPr>
              <a:t>“价格有点高过我可以承受的范围” · Cheras Leisure Mall      “价格已超出预算” · Raja Uda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2.  Needs-based, no-pressure consultation</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Area to improve 2 of 4  ·  Journey stage: Consultation</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417320"/>
            <a:ext cx="3840480" cy="4983480"/>
          </a:xfrm>
          <a:prstGeom prst="roundRect">
            <a:avLst>
              <a:gd name="adj" fmla="val 2857"/>
            </a:avLst>
          </a:prstGeom>
          <a:solidFill>
            <a:srgbClr val="F4F8F5"/>
          </a:solidFill>
          <a:ln w="9525">
            <a:solidFill>
              <a:srgbClr val="F4F8F5"/>
            </a:solidFill>
            <a:prstDash val="solid"/>
          </a:ln>
        </p:spPr>
      </p:sp>
      <p:sp>
        <p:nvSpPr>
          <p:cNvPr id="6" name="Shape 4"/>
          <p:cNvSpPr/>
          <p:nvPr/>
        </p:nvSpPr>
        <p:spPr>
          <a:xfrm>
            <a:off x="777240" y="1645920"/>
            <a:ext cx="438912" cy="438912"/>
          </a:xfrm>
          <a:prstGeom prst="ellipse">
            <a:avLst/>
          </a:prstGeom>
          <a:solidFill>
            <a:srgbClr val="245C45"/>
          </a:solidFill>
          <a:ln w="12700">
            <a:solidFill>
              <a:srgbClr val="245C45"/>
            </a:solidFill>
            <a:prstDash val="solid"/>
          </a:ln>
        </p:spPr>
      </p:sp>
      <p:pic>
        <p:nvPicPr>
          <p:cNvPr id="7" name="Image 0" descr="preencoded.png">    </p:cNvPr>
          <p:cNvPicPr>
            <a:picLocks noChangeAspect="1"/>
          </p:cNvPicPr>
          <p:nvPr/>
        </p:nvPicPr>
        <p:blipFill>
          <a:blip r:embed="rId1"/>
          <a:stretch>
            <a:fillRect/>
          </a:stretch>
        </p:blipFill>
        <p:spPr>
          <a:xfrm>
            <a:off x="882579" y="1751259"/>
            <a:ext cx="228234" cy="228234"/>
          </a:xfrm>
          <a:prstGeom prst="rect">
            <a:avLst/>
          </a:prstGeom>
        </p:spPr>
      </p:pic>
      <p:sp>
        <p:nvSpPr>
          <p:cNvPr id="8" name="Text 5"/>
          <p:cNvSpPr txBox="1"/>
          <p:nvPr/>
        </p:nvSpPr>
        <p:spPr>
          <a:xfrm>
            <a:off x="1325880" y="1691640"/>
            <a:ext cx="2743200" cy="347472"/>
          </a:xfrm>
          <a:prstGeom prst="rect">
            <a:avLst/>
          </a:prstGeom>
          <a:noFill/>
          <a:ln/>
        </p:spPr>
        <p:txBody>
          <a:bodyPr wrap="square" lIns="0" tIns="0" rIns="0" bIns="0" rtlCol="0" anchor="ctr"/>
          <a:lstStyle/>
          <a:p>
            <a:pPr indent="0" marL="0">
              <a:buNone/>
            </a:pPr>
            <a:r>
              <a:rPr lang="en-US" sz="1100" b="1" spc="150" kern="0" dirty="0">
                <a:solidFill>
                  <a:srgbClr val="245C45"/>
                </a:solidFill>
                <a:latin typeface="Calibri" pitchFamily="34" charset="0"/>
                <a:ea typeface="Calibri" pitchFamily="34" charset="-122"/>
                <a:cs typeface="Calibri" pitchFamily="34" charset="-120"/>
              </a:rPr>
              <a:t>WHAT WE FOUND</a:t>
            </a:r>
            <a:endParaRPr lang="en-US" sz="1100" dirty="0"/>
          </a:p>
        </p:txBody>
      </p:sp>
      <p:sp>
        <p:nvSpPr>
          <p:cNvPr id="9" name="Text 6"/>
          <p:cNvSpPr txBox="1"/>
          <p:nvPr/>
        </p:nvSpPr>
        <p:spPr>
          <a:xfrm>
            <a:off x="777240" y="2194560"/>
            <a:ext cx="338328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Some shoppers felt the consultation was led by selling. Understand the customer's needs and expectations first, then recommend.</a:t>
            </a:r>
            <a:endParaRPr lang="en-US" sz="1300" dirty="0"/>
          </a:p>
        </p:txBody>
      </p:sp>
      <p:sp>
        <p:nvSpPr>
          <p:cNvPr id="10" name="Text 7"/>
          <p:cNvSpPr txBox="1"/>
          <p:nvPr/>
        </p:nvSpPr>
        <p:spPr>
          <a:xfrm>
            <a:off x="777240" y="3246120"/>
            <a:ext cx="3383280" cy="777240"/>
          </a:xfrm>
          <a:prstGeom prst="rect">
            <a:avLst/>
          </a:prstGeom>
          <a:noFill/>
          <a:ln/>
        </p:spPr>
        <p:txBody>
          <a:bodyPr wrap="square" lIns="0" tIns="0" rIns="0" bIns="0" rtlCol="0" anchor="t"/>
          <a:lstStyle/>
          <a:p>
            <a:pPr indent="0" marL="0">
              <a:buNone/>
            </a:pPr>
            <a:r>
              <a:rPr lang="en-US" sz="3000" b="1" dirty="0">
                <a:solidFill>
                  <a:srgbClr val="B8893A"/>
                </a:solidFill>
                <a:latin typeface="Calibri" pitchFamily="34" charset="0"/>
                <a:ea typeface="Calibri" pitchFamily="34" charset="-122"/>
                <a:cs typeface="Calibri" pitchFamily="34" charset="-120"/>
              </a:rPr>
              <a:t>4</a:t>
            </a:r>
            <a:endParaRPr lang="en-US" sz="3000" dirty="0"/>
          </a:p>
          <a:p>
            <a:pPr indent="0" marL="0">
              <a:buNone/>
            </a:pPr>
            <a:r>
              <a:rPr lang="en-US" sz="1150" dirty="0">
                <a:solidFill>
                  <a:srgbClr val="5E6B64"/>
                </a:solidFill>
                <a:latin typeface="Calibri" pitchFamily="34" charset="0"/>
                <a:ea typeface="Calibri" pitchFamily="34" charset="-122"/>
                <a:cs typeface="Calibri" pitchFamily="34" charset="-120"/>
              </a:rPr>
              <a:t>visits felt sales pressure</a:t>
            </a:r>
            <a:endParaRPr lang="en-US" sz="3000" dirty="0"/>
          </a:p>
        </p:txBody>
      </p:sp>
      <p:sp>
        <p:nvSpPr>
          <p:cNvPr id="11" name="Text 8"/>
          <p:cNvSpPr txBox="1"/>
          <p:nvPr/>
        </p:nvSpPr>
        <p:spPr>
          <a:xfrm>
            <a:off x="777240" y="4114800"/>
            <a:ext cx="2743200" cy="274320"/>
          </a:xfrm>
          <a:prstGeom prst="rect">
            <a:avLst/>
          </a:prstGeom>
          <a:noFill/>
          <a:ln/>
        </p:spPr>
        <p:txBody>
          <a:bodyPr wrap="square" lIns="0" tIns="0" rIns="0" bIns="0" rtlCol="0" anchor="t"/>
          <a:lstStyle/>
          <a:p>
            <a:pPr indent="0" marL="0">
              <a:buNone/>
            </a:pPr>
            <a:r>
              <a:rPr lang="en-US" sz="1100" b="1" spc="150" kern="0" dirty="0">
                <a:solidFill>
                  <a:srgbClr val="245C45"/>
                </a:solidFill>
                <a:latin typeface="Calibri" pitchFamily="34" charset="0"/>
                <a:ea typeface="Calibri" pitchFamily="34" charset="-122"/>
                <a:cs typeface="Calibri" pitchFamily="34" charset="-120"/>
              </a:rPr>
              <a:t>FOLLOW-UP ACTION</a:t>
            </a:r>
            <a:endParaRPr lang="en-US" sz="1100" dirty="0"/>
          </a:p>
        </p:txBody>
      </p:sp>
      <p:sp>
        <p:nvSpPr>
          <p:cNvPr id="12" name="Text 9"/>
          <p:cNvSpPr txBox="1"/>
          <p:nvPr/>
        </p:nvSpPr>
        <p:spPr>
          <a:xfrm>
            <a:off x="777240" y="4434840"/>
            <a:ext cx="3429000" cy="1828800"/>
          </a:xfrm>
          <a:prstGeom prst="rect">
            <a:avLst/>
          </a:prstGeom>
          <a:noFill/>
          <a:ln/>
        </p:spPr>
        <p:txBody>
          <a:bodyPr wrap="square" lIns="0" tIns="0" rIns="0" bIns="0" rtlCol="0" anchor="t"/>
          <a:lstStyle/>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Cheras Leisure Mall: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Coach needs-based consultation, including during treatment.</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Bukit Mertajam: </a:t>
            </a:r>
            <a:pPr indent="0" marL="0">
              <a:spcAft>
                <a:spcPts val="500"/>
              </a:spcAft>
              <a:buNone/>
            </a:pPr>
            <a:r>
              <a:rPr lang="en-US" sz="1150" dirty="0">
                <a:solidFill>
                  <a:srgbClr val="1F2A24"/>
                </a:solidFill>
                <a:latin typeface="Microsoft YaHei" pitchFamily="34" charset="0"/>
                <a:ea typeface="Microsoft YaHei" pitchFamily="34" charset="-122"/>
                <a:cs typeface="Microsoft YaHei" pitchFamily="34" charset="-120"/>
              </a:rPr>
              <a:t>会和 Honey 讨论怎么去找到顾客的需求，重点放在价值而不是价格 (source note).</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All outlets: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Track under MS Tracking theme “Consultant Sales Approach”.</a:t>
            </a:r>
            <a:endParaRPr lang="en-US" sz="1150" dirty="0"/>
          </a:p>
        </p:txBody>
      </p:sp>
      <p:sp>
        <p:nvSpPr>
          <p:cNvPr id="13" name="Shape 10"/>
          <p:cNvSpPr/>
          <p:nvPr/>
        </p:nvSpPr>
        <p:spPr>
          <a:xfrm>
            <a:off x="4617720" y="1417320"/>
            <a:ext cx="7025335" cy="1126458"/>
          </a:xfrm>
          <a:prstGeom prst="roundRect">
            <a:avLst>
              <a:gd name="adj" fmla="val 9741"/>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4" name="Shape 11"/>
          <p:cNvSpPr/>
          <p:nvPr/>
        </p:nvSpPr>
        <p:spPr>
          <a:xfrm>
            <a:off x="4800600" y="1572768"/>
            <a:ext cx="274320" cy="274320"/>
          </a:xfrm>
          <a:prstGeom prst="ellipse">
            <a:avLst/>
          </a:prstGeom>
          <a:solidFill>
            <a:srgbClr val="F7EEDC"/>
          </a:solidFill>
          <a:ln w="12700">
            <a:solidFill>
              <a:srgbClr val="F7EEDC"/>
            </a:solidFill>
            <a:prstDash val="solid"/>
          </a:ln>
        </p:spPr>
      </p:sp>
      <p:pic>
        <p:nvPicPr>
          <p:cNvPr id="15" name="Image 1" descr="preencoded.png">    </p:cNvPr>
          <p:cNvPicPr>
            <a:picLocks noChangeAspect="1"/>
          </p:cNvPicPr>
          <p:nvPr/>
        </p:nvPicPr>
        <p:blipFill>
          <a:blip r:embed="rId2"/>
          <a:stretch>
            <a:fillRect/>
          </a:stretch>
        </p:blipFill>
        <p:spPr>
          <a:xfrm>
            <a:off x="4866437" y="1638605"/>
            <a:ext cx="142646" cy="142646"/>
          </a:xfrm>
          <a:prstGeom prst="rect">
            <a:avLst/>
          </a:prstGeom>
        </p:spPr>
      </p:pic>
      <p:sp>
        <p:nvSpPr>
          <p:cNvPr id="16" name="Text 12"/>
          <p:cNvSpPr txBox="1"/>
          <p:nvPr/>
        </p:nvSpPr>
        <p:spPr>
          <a:xfrm>
            <a:off x="5184648" y="1572768"/>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CHERAS LEISURE MALL  ·  OCT  ·  54.00</a:t>
            </a:r>
            <a:endParaRPr lang="en-US" sz="1050" dirty="0"/>
          </a:p>
        </p:txBody>
      </p:sp>
      <p:sp>
        <p:nvSpPr>
          <p:cNvPr id="17" name="Text 13"/>
          <p:cNvSpPr txBox="1"/>
          <p:nvPr/>
        </p:nvSpPr>
        <p:spPr>
          <a:xfrm>
            <a:off x="4892040" y="1892808"/>
            <a:ext cx="6522415" cy="577818"/>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比较hard sell，就是医生在打金光的时候，问的每一句话 都是要引导我签配套……没有办法很好的体验</a:t>
            </a:r>
            <a:endParaRPr lang="en-US" sz="1200" dirty="0"/>
          </a:p>
        </p:txBody>
      </p:sp>
      <p:sp>
        <p:nvSpPr>
          <p:cNvPr id="18" name="Shape 14"/>
          <p:cNvSpPr/>
          <p:nvPr/>
        </p:nvSpPr>
        <p:spPr>
          <a:xfrm>
            <a:off x="4617720" y="2690082"/>
            <a:ext cx="7025335" cy="1141952"/>
          </a:xfrm>
          <a:prstGeom prst="roundRect">
            <a:avLst>
              <a:gd name="adj" fmla="val 9609"/>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9" name="Shape 15"/>
          <p:cNvSpPr/>
          <p:nvPr/>
        </p:nvSpPr>
        <p:spPr>
          <a:xfrm>
            <a:off x="4800600" y="2845530"/>
            <a:ext cx="274320" cy="274320"/>
          </a:xfrm>
          <a:prstGeom prst="ellipse">
            <a:avLst/>
          </a:prstGeom>
          <a:solidFill>
            <a:srgbClr val="F7EEDC"/>
          </a:solidFill>
          <a:ln w="12700">
            <a:solidFill>
              <a:srgbClr val="F7EEDC"/>
            </a:solidFill>
            <a:prstDash val="solid"/>
          </a:ln>
        </p:spPr>
      </p:sp>
      <p:pic>
        <p:nvPicPr>
          <p:cNvPr id="20" name="Image 2" descr="preencoded.png">    </p:cNvPr>
          <p:cNvPicPr>
            <a:picLocks noChangeAspect="1"/>
          </p:cNvPicPr>
          <p:nvPr/>
        </p:nvPicPr>
        <p:blipFill>
          <a:blip r:embed="rId3"/>
          <a:stretch>
            <a:fillRect/>
          </a:stretch>
        </p:blipFill>
        <p:spPr>
          <a:xfrm>
            <a:off x="4866437" y="2911367"/>
            <a:ext cx="142646" cy="142646"/>
          </a:xfrm>
          <a:prstGeom prst="rect">
            <a:avLst/>
          </a:prstGeom>
        </p:spPr>
      </p:pic>
      <p:sp>
        <p:nvSpPr>
          <p:cNvPr id="21" name="Text 16"/>
          <p:cNvSpPr txBox="1"/>
          <p:nvPr/>
        </p:nvSpPr>
        <p:spPr>
          <a:xfrm>
            <a:off x="5184648" y="2845530"/>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GREENLANE  ·  OCT  ·  73.25</a:t>
            </a:r>
            <a:endParaRPr lang="en-US" sz="1050" dirty="0"/>
          </a:p>
        </p:txBody>
      </p:sp>
      <p:sp>
        <p:nvSpPr>
          <p:cNvPr id="22" name="Text 17"/>
          <p:cNvSpPr txBox="1"/>
          <p:nvPr/>
        </p:nvSpPr>
        <p:spPr>
          <a:xfrm>
            <a:off x="4892040" y="3165570"/>
            <a:ext cx="6522415" cy="593312"/>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Staff are encouraged to … offer personalised advice without making customers feel pressured to purchase additional treatment or products.</a:t>
            </a:r>
            <a:endParaRPr lang="en-US" sz="1250" dirty="0"/>
          </a:p>
        </p:txBody>
      </p:sp>
      <p:sp>
        <p:nvSpPr>
          <p:cNvPr id="23" name="Shape 18"/>
          <p:cNvSpPr/>
          <p:nvPr/>
        </p:nvSpPr>
        <p:spPr>
          <a:xfrm>
            <a:off x="4617720" y="3978339"/>
            <a:ext cx="7025335" cy="1335627"/>
          </a:xfrm>
          <a:prstGeom prst="roundRect">
            <a:avLst>
              <a:gd name="adj" fmla="val 8215"/>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4" name="Shape 19"/>
          <p:cNvSpPr/>
          <p:nvPr/>
        </p:nvSpPr>
        <p:spPr>
          <a:xfrm>
            <a:off x="4800600" y="4133787"/>
            <a:ext cx="274320" cy="274320"/>
          </a:xfrm>
          <a:prstGeom prst="ellipse">
            <a:avLst/>
          </a:prstGeom>
          <a:solidFill>
            <a:srgbClr val="F7EEDC"/>
          </a:solidFill>
          <a:ln w="12700">
            <a:solidFill>
              <a:srgbClr val="F7EEDC"/>
            </a:solidFill>
            <a:prstDash val="solid"/>
          </a:ln>
        </p:spPr>
      </p:sp>
      <p:pic>
        <p:nvPicPr>
          <p:cNvPr id="25" name="Image 3" descr="preencoded.png">    </p:cNvPr>
          <p:cNvPicPr>
            <a:picLocks noChangeAspect="1"/>
          </p:cNvPicPr>
          <p:nvPr/>
        </p:nvPicPr>
        <p:blipFill>
          <a:blip r:embed="rId4"/>
          <a:stretch>
            <a:fillRect/>
          </a:stretch>
        </p:blipFill>
        <p:spPr>
          <a:xfrm>
            <a:off x="4866437" y="4199623"/>
            <a:ext cx="142646" cy="142646"/>
          </a:xfrm>
          <a:prstGeom prst="rect">
            <a:avLst/>
          </a:prstGeom>
        </p:spPr>
      </p:pic>
      <p:sp>
        <p:nvSpPr>
          <p:cNvPr id="26" name="Text 20"/>
          <p:cNvSpPr txBox="1"/>
          <p:nvPr/>
        </p:nvSpPr>
        <p:spPr>
          <a:xfrm>
            <a:off x="5184648" y="4133787"/>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BUKIT MERTAJAM  ·  OCT  ·  63.75</a:t>
            </a:r>
            <a:endParaRPr lang="en-US" sz="1050" dirty="0"/>
          </a:p>
        </p:txBody>
      </p:sp>
      <p:sp>
        <p:nvSpPr>
          <p:cNvPr id="27" name="Text 21"/>
          <p:cNvSpPr txBox="1"/>
          <p:nvPr/>
        </p:nvSpPr>
        <p:spPr>
          <a:xfrm>
            <a:off x="4892040" y="4453827"/>
            <a:ext cx="6522415" cy="786987"/>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If a customer is not satisfied with a previous offer or package, it may be better to discuss the customer's concerns and expectations first rather than simply providing additional offers or incentives.</a:t>
            </a:r>
            <a:endParaRPr lang="en-US" sz="1250" dirty="0"/>
          </a:p>
        </p:txBody>
      </p:sp>
      <p:sp>
        <p:nvSpPr>
          <p:cNvPr id="28" name="Shape 22"/>
          <p:cNvSpPr/>
          <p:nvPr/>
        </p:nvSpPr>
        <p:spPr>
          <a:xfrm>
            <a:off x="4617720" y="5460270"/>
            <a:ext cx="7025335" cy="940530"/>
          </a:xfrm>
          <a:prstGeom prst="roundRect">
            <a:avLst>
              <a:gd name="adj" fmla="val 11667"/>
            </a:avLst>
          </a:prstGeom>
          <a:solidFill>
            <a:srgbClr val="E7F0EB"/>
          </a:solidFill>
          <a:ln w="9525">
            <a:solidFill>
              <a:srgbClr val="E7F0EB"/>
            </a:solidFill>
            <a:prstDash val="solid"/>
          </a:ln>
        </p:spPr>
      </p:sp>
      <p:sp>
        <p:nvSpPr>
          <p:cNvPr id="29" name="Shape 23"/>
          <p:cNvSpPr/>
          <p:nvPr/>
        </p:nvSpPr>
        <p:spPr>
          <a:xfrm>
            <a:off x="4800600" y="5615718"/>
            <a:ext cx="274320" cy="274320"/>
          </a:xfrm>
          <a:prstGeom prst="ellipse">
            <a:avLst/>
          </a:prstGeom>
          <a:solidFill>
            <a:srgbClr val="245C45"/>
          </a:solidFill>
          <a:ln w="12700">
            <a:solidFill>
              <a:srgbClr val="245C45"/>
            </a:solidFill>
            <a:prstDash val="solid"/>
          </a:ln>
        </p:spPr>
      </p:sp>
      <p:pic>
        <p:nvPicPr>
          <p:cNvPr id="30" name="Image 4" descr="preencoded.png">    </p:cNvPr>
          <p:cNvPicPr>
            <a:picLocks noChangeAspect="1"/>
          </p:cNvPicPr>
          <p:nvPr/>
        </p:nvPicPr>
        <p:blipFill>
          <a:blip r:embed="rId5"/>
          <a:stretch>
            <a:fillRect/>
          </a:stretch>
        </p:blipFill>
        <p:spPr>
          <a:xfrm>
            <a:off x="4866437" y="5681555"/>
            <a:ext cx="142646" cy="142646"/>
          </a:xfrm>
          <a:prstGeom prst="rect">
            <a:avLst/>
          </a:prstGeom>
        </p:spPr>
      </p:pic>
      <p:sp>
        <p:nvSpPr>
          <p:cNvPr id="31" name="Text 24"/>
          <p:cNvSpPr txBox="1"/>
          <p:nvPr/>
        </p:nvSpPr>
        <p:spPr>
          <a:xfrm>
            <a:off x="5184648" y="5615718"/>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MOUNT AUSTIN  ·  OCT  ·  87.25  ·  WHAT GOOD LOOKS LIKE</a:t>
            </a:r>
            <a:endParaRPr lang="en-US" sz="1050" dirty="0"/>
          </a:p>
        </p:txBody>
      </p:sp>
      <p:sp>
        <p:nvSpPr>
          <p:cNvPr id="32" name="Text 25"/>
          <p:cNvSpPr txBox="1"/>
          <p:nvPr/>
        </p:nvSpPr>
        <p:spPr>
          <a:xfrm>
            <a:off x="4892040" y="5935758"/>
            <a:ext cx="6522415" cy="391890"/>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在介绍配套的时候也不会一直hardsell 整体下来感受都蛮好的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3.  Reception, welcome &amp; communication</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Area to improve 3 of 4  ·  Journey stage: Booking &amp; arrival</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1417320"/>
            <a:ext cx="3840480" cy="4983480"/>
          </a:xfrm>
          <a:prstGeom prst="roundRect">
            <a:avLst>
              <a:gd name="adj" fmla="val 2857"/>
            </a:avLst>
          </a:prstGeom>
          <a:solidFill>
            <a:srgbClr val="F4F8F5"/>
          </a:solidFill>
          <a:ln w="9525">
            <a:solidFill>
              <a:srgbClr val="F4F8F5"/>
            </a:solidFill>
            <a:prstDash val="solid"/>
          </a:ln>
        </p:spPr>
      </p:sp>
      <p:sp>
        <p:nvSpPr>
          <p:cNvPr id="6" name="Shape 4"/>
          <p:cNvSpPr/>
          <p:nvPr/>
        </p:nvSpPr>
        <p:spPr>
          <a:xfrm>
            <a:off x="777240" y="1645920"/>
            <a:ext cx="438912" cy="438912"/>
          </a:xfrm>
          <a:prstGeom prst="ellipse">
            <a:avLst/>
          </a:prstGeom>
          <a:solidFill>
            <a:srgbClr val="245C45"/>
          </a:solidFill>
          <a:ln w="12700">
            <a:solidFill>
              <a:srgbClr val="245C45"/>
            </a:solidFill>
            <a:prstDash val="solid"/>
          </a:ln>
        </p:spPr>
      </p:sp>
      <p:pic>
        <p:nvPicPr>
          <p:cNvPr id="7" name="Image 0" descr="preencoded.png">    </p:cNvPr>
          <p:cNvPicPr>
            <a:picLocks noChangeAspect="1"/>
          </p:cNvPicPr>
          <p:nvPr/>
        </p:nvPicPr>
        <p:blipFill>
          <a:blip r:embed="rId1"/>
          <a:stretch>
            <a:fillRect/>
          </a:stretch>
        </p:blipFill>
        <p:spPr>
          <a:xfrm>
            <a:off x="882579" y="1751259"/>
            <a:ext cx="228234" cy="228234"/>
          </a:xfrm>
          <a:prstGeom prst="rect">
            <a:avLst/>
          </a:prstGeom>
        </p:spPr>
      </p:pic>
      <p:sp>
        <p:nvSpPr>
          <p:cNvPr id="8" name="Text 5"/>
          <p:cNvSpPr txBox="1"/>
          <p:nvPr/>
        </p:nvSpPr>
        <p:spPr>
          <a:xfrm>
            <a:off x="1325880" y="1691640"/>
            <a:ext cx="2743200" cy="347472"/>
          </a:xfrm>
          <a:prstGeom prst="rect">
            <a:avLst/>
          </a:prstGeom>
          <a:noFill/>
          <a:ln/>
        </p:spPr>
        <p:txBody>
          <a:bodyPr wrap="square" lIns="0" tIns="0" rIns="0" bIns="0" rtlCol="0" anchor="ctr"/>
          <a:lstStyle/>
          <a:p>
            <a:pPr indent="0" marL="0">
              <a:buNone/>
            </a:pPr>
            <a:r>
              <a:rPr lang="en-US" sz="1100" b="1" spc="150" kern="0" dirty="0">
                <a:solidFill>
                  <a:srgbClr val="245C45"/>
                </a:solidFill>
                <a:latin typeface="Calibri" pitchFamily="34" charset="0"/>
                <a:ea typeface="Calibri" pitchFamily="34" charset="-122"/>
                <a:cs typeface="Calibri" pitchFamily="34" charset="-120"/>
              </a:rPr>
              <a:t>WHAT WE FOUND</a:t>
            </a:r>
            <a:endParaRPr lang="en-US" sz="1100" dirty="0"/>
          </a:p>
        </p:txBody>
      </p:sp>
      <p:sp>
        <p:nvSpPr>
          <p:cNvPr id="9" name="Text 6"/>
          <p:cNvSpPr txBox="1"/>
          <p:nvPr/>
        </p:nvSpPr>
        <p:spPr>
          <a:xfrm>
            <a:off x="777240" y="2194560"/>
            <a:ext cx="338328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Small gaps at arrival and in contact preferences shaped the first impression, even when the treatment itself went well.</a:t>
            </a:r>
            <a:endParaRPr lang="en-US" sz="1300" dirty="0"/>
          </a:p>
        </p:txBody>
      </p:sp>
      <p:sp>
        <p:nvSpPr>
          <p:cNvPr id="10" name="Text 7"/>
          <p:cNvSpPr txBox="1"/>
          <p:nvPr/>
        </p:nvSpPr>
        <p:spPr>
          <a:xfrm>
            <a:off x="777240" y="3246120"/>
            <a:ext cx="3383280" cy="777240"/>
          </a:xfrm>
          <a:prstGeom prst="rect">
            <a:avLst/>
          </a:prstGeom>
          <a:noFill/>
          <a:ln/>
        </p:spPr>
        <p:txBody>
          <a:bodyPr wrap="square" lIns="0" tIns="0" rIns="0" bIns="0" rtlCol="0" anchor="t"/>
          <a:lstStyle/>
          <a:p>
            <a:pPr indent="0" marL="0">
              <a:buNone/>
            </a:pPr>
            <a:r>
              <a:rPr lang="en-US" sz="3000" b="1" dirty="0">
                <a:solidFill>
                  <a:srgbClr val="B8893A"/>
                </a:solidFill>
                <a:latin typeface="Calibri" pitchFamily="34" charset="0"/>
                <a:ea typeface="Calibri" pitchFamily="34" charset="-122"/>
                <a:cs typeface="Calibri" pitchFamily="34" charset="-120"/>
              </a:rPr>
              <a:t>3</a:t>
            </a:r>
            <a:endParaRPr lang="en-US" sz="3000" dirty="0"/>
          </a:p>
          <a:p>
            <a:pPr indent="0" marL="0">
              <a:buNone/>
            </a:pPr>
            <a:r>
              <a:rPr lang="en-US" sz="1150" dirty="0">
                <a:solidFill>
                  <a:srgbClr val="5E6B64"/>
                </a:solidFill>
                <a:latin typeface="Calibri" pitchFamily="34" charset="0"/>
                <a:ea typeface="Calibri" pitchFamily="34" charset="-122"/>
                <a:cs typeface="Calibri" pitchFamily="34" charset="-120"/>
              </a:rPr>
              <a:t>outlets with arrival or contact feedback</a:t>
            </a:r>
            <a:endParaRPr lang="en-US" sz="3000" dirty="0"/>
          </a:p>
        </p:txBody>
      </p:sp>
      <p:sp>
        <p:nvSpPr>
          <p:cNvPr id="11" name="Text 8"/>
          <p:cNvSpPr txBox="1"/>
          <p:nvPr/>
        </p:nvSpPr>
        <p:spPr>
          <a:xfrm>
            <a:off x="777240" y="4114800"/>
            <a:ext cx="2743200" cy="274320"/>
          </a:xfrm>
          <a:prstGeom prst="rect">
            <a:avLst/>
          </a:prstGeom>
          <a:noFill/>
          <a:ln/>
        </p:spPr>
        <p:txBody>
          <a:bodyPr wrap="square" lIns="0" tIns="0" rIns="0" bIns="0" rtlCol="0" anchor="t"/>
          <a:lstStyle/>
          <a:p>
            <a:pPr indent="0" marL="0">
              <a:buNone/>
            </a:pPr>
            <a:r>
              <a:rPr lang="en-US" sz="1100" b="1" spc="150" kern="0" dirty="0">
                <a:solidFill>
                  <a:srgbClr val="245C45"/>
                </a:solidFill>
                <a:latin typeface="Calibri" pitchFamily="34" charset="0"/>
                <a:ea typeface="Calibri" pitchFamily="34" charset="-122"/>
                <a:cs typeface="Calibri" pitchFamily="34" charset="-120"/>
              </a:rPr>
              <a:t>FOLLOW-UP ACTION</a:t>
            </a:r>
            <a:endParaRPr lang="en-US" sz="1100" dirty="0"/>
          </a:p>
        </p:txBody>
      </p:sp>
      <p:sp>
        <p:nvSpPr>
          <p:cNvPr id="12" name="Text 9"/>
          <p:cNvSpPr txBox="1"/>
          <p:nvPr/>
        </p:nvSpPr>
        <p:spPr>
          <a:xfrm>
            <a:off x="777240" y="4434840"/>
            <a:ext cx="3429000" cy="1828800"/>
          </a:xfrm>
          <a:prstGeom prst="rect">
            <a:avLst/>
          </a:prstGeom>
          <a:noFill/>
          <a:ln/>
        </p:spPr>
        <p:txBody>
          <a:bodyPr wrap="square" lIns="0" tIns="0" rIns="0" bIns="0" rtlCol="0" anchor="t"/>
          <a:lstStyle/>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SS2: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Review arrival acknowledgement and the handover after a customer arrives.</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Cheras Leisure Mall: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Give every customer the same warm welcome, new or existing.</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Mount Austin: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Record and respect each customer's message or call preference.</a:t>
            </a:r>
            <a:endParaRPr lang="en-US" sz="1150" dirty="0"/>
          </a:p>
        </p:txBody>
      </p:sp>
      <p:sp>
        <p:nvSpPr>
          <p:cNvPr id="13" name="Shape 10"/>
          <p:cNvSpPr/>
          <p:nvPr/>
        </p:nvSpPr>
        <p:spPr>
          <a:xfrm>
            <a:off x="4617720" y="1417320"/>
            <a:ext cx="7025335" cy="1182878"/>
          </a:xfrm>
          <a:prstGeom prst="roundRect">
            <a:avLst>
              <a:gd name="adj" fmla="val 9276"/>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4" name="Shape 11"/>
          <p:cNvSpPr/>
          <p:nvPr/>
        </p:nvSpPr>
        <p:spPr>
          <a:xfrm>
            <a:off x="4800600" y="1572768"/>
            <a:ext cx="274320" cy="274320"/>
          </a:xfrm>
          <a:prstGeom prst="ellipse">
            <a:avLst/>
          </a:prstGeom>
          <a:solidFill>
            <a:srgbClr val="F7EEDC"/>
          </a:solidFill>
          <a:ln w="12700">
            <a:solidFill>
              <a:srgbClr val="F7EEDC"/>
            </a:solidFill>
            <a:prstDash val="solid"/>
          </a:ln>
        </p:spPr>
      </p:sp>
      <p:pic>
        <p:nvPicPr>
          <p:cNvPr id="15" name="Image 1" descr="preencoded.png">    </p:cNvPr>
          <p:cNvPicPr>
            <a:picLocks noChangeAspect="1"/>
          </p:cNvPicPr>
          <p:nvPr/>
        </p:nvPicPr>
        <p:blipFill>
          <a:blip r:embed="rId2"/>
          <a:stretch>
            <a:fillRect/>
          </a:stretch>
        </p:blipFill>
        <p:spPr>
          <a:xfrm>
            <a:off x="4866437" y="1638605"/>
            <a:ext cx="142646" cy="142646"/>
          </a:xfrm>
          <a:prstGeom prst="rect">
            <a:avLst/>
          </a:prstGeom>
        </p:spPr>
      </p:pic>
      <p:sp>
        <p:nvSpPr>
          <p:cNvPr id="16" name="Text 12"/>
          <p:cNvSpPr txBox="1"/>
          <p:nvPr/>
        </p:nvSpPr>
        <p:spPr>
          <a:xfrm>
            <a:off x="5184648" y="1572768"/>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SS2  ·  SEP  ·  72.75</a:t>
            </a:r>
            <a:endParaRPr lang="en-US" sz="1050" dirty="0"/>
          </a:p>
        </p:txBody>
      </p:sp>
      <p:sp>
        <p:nvSpPr>
          <p:cNvPr id="17" name="Text 13"/>
          <p:cNvSpPr txBox="1"/>
          <p:nvPr/>
        </p:nvSpPr>
        <p:spPr>
          <a:xfrm>
            <a:off x="4892040" y="1892808"/>
            <a:ext cx="6522415" cy="634238"/>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…she say will take a cup of tea for me but end she lost already. I wait for 15min and I heard that two of the girl in reception saying that (My Name) is not yet here.</a:t>
            </a:r>
            <a:endParaRPr lang="en-US" sz="1250" dirty="0"/>
          </a:p>
        </p:txBody>
      </p:sp>
      <p:sp>
        <p:nvSpPr>
          <p:cNvPr id="18" name="Shape 14"/>
          <p:cNvSpPr/>
          <p:nvPr/>
        </p:nvSpPr>
        <p:spPr>
          <a:xfrm>
            <a:off x="4617720" y="2746502"/>
            <a:ext cx="7025335" cy="1167384"/>
          </a:xfrm>
          <a:prstGeom prst="roundRect">
            <a:avLst>
              <a:gd name="adj" fmla="val 9399"/>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9" name="Shape 15"/>
          <p:cNvSpPr/>
          <p:nvPr/>
        </p:nvSpPr>
        <p:spPr>
          <a:xfrm>
            <a:off x="4800600" y="2901950"/>
            <a:ext cx="274320" cy="274320"/>
          </a:xfrm>
          <a:prstGeom prst="ellipse">
            <a:avLst/>
          </a:prstGeom>
          <a:solidFill>
            <a:srgbClr val="F7EEDC"/>
          </a:solidFill>
          <a:ln w="12700">
            <a:solidFill>
              <a:srgbClr val="F7EEDC"/>
            </a:solidFill>
            <a:prstDash val="solid"/>
          </a:ln>
        </p:spPr>
      </p:sp>
      <p:pic>
        <p:nvPicPr>
          <p:cNvPr id="20" name="Image 2" descr="preencoded.png">    </p:cNvPr>
          <p:cNvPicPr>
            <a:picLocks noChangeAspect="1"/>
          </p:cNvPicPr>
          <p:nvPr/>
        </p:nvPicPr>
        <p:blipFill>
          <a:blip r:embed="rId3"/>
          <a:stretch>
            <a:fillRect/>
          </a:stretch>
        </p:blipFill>
        <p:spPr>
          <a:xfrm>
            <a:off x="4866437" y="2967787"/>
            <a:ext cx="142646" cy="142646"/>
          </a:xfrm>
          <a:prstGeom prst="rect">
            <a:avLst/>
          </a:prstGeom>
        </p:spPr>
      </p:pic>
      <p:sp>
        <p:nvSpPr>
          <p:cNvPr id="21" name="Text 16"/>
          <p:cNvSpPr txBox="1"/>
          <p:nvPr/>
        </p:nvSpPr>
        <p:spPr>
          <a:xfrm>
            <a:off x="5184648" y="2901950"/>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CHERAS LEISURE MALL  ·  OCT  ·  54.00</a:t>
            </a:r>
            <a:endParaRPr lang="en-US" sz="1050" dirty="0"/>
          </a:p>
        </p:txBody>
      </p:sp>
      <p:sp>
        <p:nvSpPr>
          <p:cNvPr id="22" name="Text 17"/>
          <p:cNvSpPr txBox="1"/>
          <p:nvPr/>
        </p:nvSpPr>
        <p:spPr>
          <a:xfrm>
            <a:off x="4892040" y="3221990"/>
            <a:ext cx="6522415" cy="618744"/>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我一开始来到的时后，坐着等 结果一个老顾客到了之后 其他人就很热情的招待，让我觉得可能有点差别对待？</a:t>
            </a:r>
            <a:endParaRPr lang="en-US" sz="1200" dirty="0"/>
          </a:p>
        </p:txBody>
      </p:sp>
      <p:sp>
        <p:nvSpPr>
          <p:cNvPr id="23" name="Shape 18"/>
          <p:cNvSpPr/>
          <p:nvPr/>
        </p:nvSpPr>
        <p:spPr>
          <a:xfrm>
            <a:off x="4617720" y="4060190"/>
            <a:ext cx="7025335" cy="981456"/>
          </a:xfrm>
          <a:prstGeom prst="roundRect">
            <a:avLst>
              <a:gd name="adj" fmla="val 11180"/>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4" name="Shape 19"/>
          <p:cNvSpPr/>
          <p:nvPr/>
        </p:nvSpPr>
        <p:spPr>
          <a:xfrm>
            <a:off x="4800600" y="4215638"/>
            <a:ext cx="274320" cy="274320"/>
          </a:xfrm>
          <a:prstGeom prst="ellipse">
            <a:avLst/>
          </a:prstGeom>
          <a:solidFill>
            <a:srgbClr val="F7EEDC"/>
          </a:solidFill>
          <a:ln w="12700">
            <a:solidFill>
              <a:srgbClr val="F7EEDC"/>
            </a:solidFill>
            <a:prstDash val="solid"/>
          </a:ln>
        </p:spPr>
      </p:sp>
      <p:pic>
        <p:nvPicPr>
          <p:cNvPr id="25" name="Image 3" descr="preencoded.png">    </p:cNvPr>
          <p:cNvPicPr>
            <a:picLocks noChangeAspect="1"/>
          </p:cNvPicPr>
          <p:nvPr/>
        </p:nvPicPr>
        <p:blipFill>
          <a:blip r:embed="rId4"/>
          <a:stretch>
            <a:fillRect/>
          </a:stretch>
        </p:blipFill>
        <p:spPr>
          <a:xfrm>
            <a:off x="4866437" y="4281475"/>
            <a:ext cx="142646" cy="142646"/>
          </a:xfrm>
          <a:prstGeom prst="rect">
            <a:avLst/>
          </a:prstGeom>
        </p:spPr>
      </p:pic>
      <p:sp>
        <p:nvSpPr>
          <p:cNvPr id="26" name="Text 20"/>
          <p:cNvSpPr txBox="1"/>
          <p:nvPr/>
        </p:nvSpPr>
        <p:spPr>
          <a:xfrm>
            <a:off x="5184648" y="4215638"/>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MOUNT AUSTIN  ·  OCT  ·  65.00</a:t>
            </a:r>
            <a:endParaRPr lang="en-US" sz="1050" dirty="0"/>
          </a:p>
        </p:txBody>
      </p:sp>
      <p:sp>
        <p:nvSpPr>
          <p:cNvPr id="27" name="Text 21"/>
          <p:cNvSpPr txBox="1"/>
          <p:nvPr/>
        </p:nvSpPr>
        <p:spPr>
          <a:xfrm>
            <a:off x="4892040" y="4535678"/>
            <a:ext cx="6522415" cy="432816"/>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建议提醒顾客不要用打电话 信息顾客就好 像我是超讨厌call的</a:t>
            </a:r>
            <a:endParaRPr lang="en-US" sz="1200" dirty="0"/>
          </a:p>
        </p:txBody>
      </p:sp>
      <p:sp>
        <p:nvSpPr>
          <p:cNvPr id="28" name="Shape 22"/>
          <p:cNvSpPr/>
          <p:nvPr/>
        </p:nvSpPr>
        <p:spPr>
          <a:xfrm>
            <a:off x="4617720" y="5187950"/>
            <a:ext cx="7025335" cy="981456"/>
          </a:xfrm>
          <a:prstGeom prst="roundRect">
            <a:avLst>
              <a:gd name="adj" fmla="val 11180"/>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9" name="Shape 23"/>
          <p:cNvSpPr/>
          <p:nvPr/>
        </p:nvSpPr>
        <p:spPr>
          <a:xfrm>
            <a:off x="4800600" y="5343398"/>
            <a:ext cx="274320" cy="274320"/>
          </a:xfrm>
          <a:prstGeom prst="ellipse">
            <a:avLst/>
          </a:prstGeom>
          <a:solidFill>
            <a:srgbClr val="F7EEDC"/>
          </a:solidFill>
          <a:ln w="12700">
            <a:solidFill>
              <a:srgbClr val="F7EEDC"/>
            </a:solidFill>
            <a:prstDash val="solid"/>
          </a:ln>
        </p:spPr>
      </p:sp>
      <p:pic>
        <p:nvPicPr>
          <p:cNvPr id="30" name="Image 4" descr="preencoded.png">    </p:cNvPr>
          <p:cNvPicPr>
            <a:picLocks noChangeAspect="1"/>
          </p:cNvPicPr>
          <p:nvPr/>
        </p:nvPicPr>
        <p:blipFill>
          <a:blip r:embed="rId5"/>
          <a:stretch>
            <a:fillRect/>
          </a:stretch>
        </p:blipFill>
        <p:spPr>
          <a:xfrm>
            <a:off x="4866437" y="5409235"/>
            <a:ext cx="142646" cy="142646"/>
          </a:xfrm>
          <a:prstGeom prst="rect">
            <a:avLst/>
          </a:prstGeom>
        </p:spPr>
      </p:pic>
      <p:sp>
        <p:nvSpPr>
          <p:cNvPr id="31" name="Text 24"/>
          <p:cNvSpPr txBox="1"/>
          <p:nvPr/>
        </p:nvSpPr>
        <p:spPr>
          <a:xfrm>
            <a:off x="5184648" y="5343398"/>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MOUNT AUSTIN  ·  SEP  ·  90.75</a:t>
            </a:r>
            <a:endParaRPr lang="en-US" sz="1050" dirty="0"/>
          </a:p>
        </p:txBody>
      </p:sp>
      <p:sp>
        <p:nvSpPr>
          <p:cNvPr id="32" name="Text 25"/>
          <p:cNvSpPr txBox="1"/>
          <p:nvPr/>
        </p:nvSpPr>
        <p:spPr>
          <a:xfrm>
            <a:off x="4892040" y="5663438"/>
            <a:ext cx="6522415" cy="432816"/>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希望consult可以是在独立房间 因为感觉周围很多其他的顾客</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4.  Hygiene &amp; comfort</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Area to improve 4 of 4  ·  Journey stage: Treatment</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417320"/>
            <a:ext cx="3840480" cy="4983480"/>
          </a:xfrm>
          <a:prstGeom prst="roundRect">
            <a:avLst>
              <a:gd name="adj" fmla="val 2857"/>
            </a:avLst>
          </a:prstGeom>
          <a:solidFill>
            <a:srgbClr val="F4F8F5"/>
          </a:solidFill>
          <a:ln w="9525">
            <a:solidFill>
              <a:srgbClr val="F4F8F5"/>
            </a:solidFill>
            <a:prstDash val="solid"/>
          </a:ln>
        </p:spPr>
      </p:sp>
      <p:sp>
        <p:nvSpPr>
          <p:cNvPr id="6" name="Shape 4"/>
          <p:cNvSpPr/>
          <p:nvPr/>
        </p:nvSpPr>
        <p:spPr>
          <a:xfrm>
            <a:off x="777240" y="1645920"/>
            <a:ext cx="438912" cy="438912"/>
          </a:xfrm>
          <a:prstGeom prst="ellipse">
            <a:avLst/>
          </a:prstGeom>
          <a:solidFill>
            <a:srgbClr val="245C45"/>
          </a:solidFill>
          <a:ln w="12700">
            <a:solidFill>
              <a:srgbClr val="245C45"/>
            </a:solidFill>
            <a:prstDash val="solid"/>
          </a:ln>
        </p:spPr>
      </p:sp>
      <p:pic>
        <p:nvPicPr>
          <p:cNvPr id="7" name="Image 0" descr="preencoded.png">    </p:cNvPr>
          <p:cNvPicPr>
            <a:picLocks noChangeAspect="1"/>
          </p:cNvPicPr>
          <p:nvPr/>
        </p:nvPicPr>
        <p:blipFill>
          <a:blip r:embed="rId1"/>
          <a:stretch>
            <a:fillRect/>
          </a:stretch>
        </p:blipFill>
        <p:spPr>
          <a:xfrm>
            <a:off x="882579" y="1751259"/>
            <a:ext cx="228234" cy="228234"/>
          </a:xfrm>
          <a:prstGeom prst="rect">
            <a:avLst/>
          </a:prstGeom>
        </p:spPr>
      </p:pic>
      <p:sp>
        <p:nvSpPr>
          <p:cNvPr id="8" name="Text 5"/>
          <p:cNvSpPr txBox="1"/>
          <p:nvPr/>
        </p:nvSpPr>
        <p:spPr>
          <a:xfrm>
            <a:off x="1325880" y="1691640"/>
            <a:ext cx="2743200" cy="347472"/>
          </a:xfrm>
          <a:prstGeom prst="rect">
            <a:avLst/>
          </a:prstGeom>
          <a:noFill/>
          <a:ln/>
        </p:spPr>
        <p:txBody>
          <a:bodyPr wrap="square" lIns="0" tIns="0" rIns="0" bIns="0" rtlCol="0" anchor="ctr"/>
          <a:lstStyle/>
          <a:p>
            <a:pPr indent="0" marL="0">
              <a:buNone/>
            </a:pPr>
            <a:r>
              <a:rPr lang="en-US" sz="1100" b="1" spc="150" kern="0" dirty="0">
                <a:solidFill>
                  <a:srgbClr val="245C45"/>
                </a:solidFill>
                <a:latin typeface="Calibri" pitchFamily="34" charset="0"/>
                <a:ea typeface="Calibri" pitchFamily="34" charset="-122"/>
                <a:cs typeface="Calibri" pitchFamily="34" charset="-120"/>
              </a:rPr>
              <a:t>WHAT WE FOUND</a:t>
            </a:r>
            <a:endParaRPr lang="en-US" sz="1100" dirty="0"/>
          </a:p>
        </p:txBody>
      </p:sp>
      <p:sp>
        <p:nvSpPr>
          <p:cNvPr id="9" name="Text 6"/>
          <p:cNvSpPr txBox="1"/>
          <p:nvPr/>
        </p:nvSpPr>
        <p:spPr>
          <a:xfrm>
            <a:off x="777240" y="2194560"/>
            <a:ext cx="3383280" cy="10515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Customer-reported details to verify with the outlet. These are not confirmed SOP failures until QA checks them.</a:t>
            </a:r>
            <a:endParaRPr lang="en-US" sz="1300" dirty="0"/>
          </a:p>
        </p:txBody>
      </p:sp>
      <p:sp>
        <p:nvSpPr>
          <p:cNvPr id="10" name="Text 7"/>
          <p:cNvSpPr txBox="1"/>
          <p:nvPr/>
        </p:nvSpPr>
        <p:spPr>
          <a:xfrm>
            <a:off x="777240" y="3246120"/>
            <a:ext cx="3383280" cy="777240"/>
          </a:xfrm>
          <a:prstGeom prst="rect">
            <a:avLst/>
          </a:prstGeom>
          <a:noFill/>
          <a:ln/>
        </p:spPr>
        <p:txBody>
          <a:bodyPr wrap="square" lIns="0" tIns="0" rIns="0" bIns="0" rtlCol="0" anchor="t"/>
          <a:lstStyle/>
          <a:p>
            <a:pPr indent="0" marL="0">
              <a:buNone/>
            </a:pPr>
            <a:r>
              <a:rPr lang="en-US" sz="3000" b="1" dirty="0">
                <a:solidFill>
                  <a:srgbClr val="B8893A"/>
                </a:solidFill>
                <a:latin typeface="Calibri" pitchFamily="34" charset="0"/>
                <a:ea typeface="Calibri" pitchFamily="34" charset="-122"/>
                <a:cs typeface="Calibri" pitchFamily="34" charset="-120"/>
              </a:rPr>
              <a:t>3</a:t>
            </a:r>
            <a:endParaRPr lang="en-US" sz="3000" dirty="0"/>
          </a:p>
          <a:p>
            <a:pPr indent="0" marL="0">
              <a:buNone/>
            </a:pPr>
            <a:r>
              <a:rPr lang="en-US" sz="1150" dirty="0">
                <a:solidFill>
                  <a:srgbClr val="5E6B64"/>
                </a:solidFill>
                <a:latin typeface="Calibri" pitchFamily="34" charset="0"/>
                <a:ea typeface="Calibri" pitchFamily="34" charset="-122"/>
                <a:cs typeface="Calibri" pitchFamily="34" charset="-120"/>
              </a:rPr>
              <a:t>outlets to verify</a:t>
            </a:r>
            <a:endParaRPr lang="en-US" sz="3000" dirty="0"/>
          </a:p>
        </p:txBody>
      </p:sp>
      <p:sp>
        <p:nvSpPr>
          <p:cNvPr id="11" name="Text 8"/>
          <p:cNvSpPr txBox="1"/>
          <p:nvPr/>
        </p:nvSpPr>
        <p:spPr>
          <a:xfrm>
            <a:off x="777240" y="4114800"/>
            <a:ext cx="2743200" cy="274320"/>
          </a:xfrm>
          <a:prstGeom prst="rect">
            <a:avLst/>
          </a:prstGeom>
          <a:noFill/>
          <a:ln/>
        </p:spPr>
        <p:txBody>
          <a:bodyPr wrap="square" lIns="0" tIns="0" rIns="0" bIns="0" rtlCol="0" anchor="t"/>
          <a:lstStyle/>
          <a:p>
            <a:pPr indent="0" marL="0">
              <a:buNone/>
            </a:pPr>
            <a:r>
              <a:rPr lang="en-US" sz="1100" b="1" spc="150" kern="0" dirty="0">
                <a:solidFill>
                  <a:srgbClr val="245C45"/>
                </a:solidFill>
                <a:latin typeface="Calibri" pitchFamily="34" charset="0"/>
                <a:ea typeface="Calibri" pitchFamily="34" charset="-122"/>
                <a:cs typeface="Calibri" pitchFamily="34" charset="-120"/>
              </a:rPr>
              <a:t>FOLLOW-UP ACTION</a:t>
            </a:r>
            <a:endParaRPr lang="en-US" sz="1100" dirty="0"/>
          </a:p>
        </p:txBody>
      </p:sp>
      <p:sp>
        <p:nvSpPr>
          <p:cNvPr id="12" name="Text 9"/>
          <p:cNvSpPr txBox="1"/>
          <p:nvPr/>
        </p:nvSpPr>
        <p:spPr>
          <a:xfrm>
            <a:off x="777240" y="4434840"/>
            <a:ext cx="3429000" cy="1828800"/>
          </a:xfrm>
          <a:prstGeom prst="rect">
            <a:avLst/>
          </a:prstGeom>
          <a:noFill/>
          <a:ln/>
        </p:spPr>
        <p:txBody>
          <a:bodyPr wrap="square" lIns="0" tIns="0" rIns="0" bIns="0" rtlCol="0" anchor="t"/>
          <a:lstStyle/>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Bukit Mertajam: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Verify the blanket-changing practice and the related hygiene SOP.</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Mount Austin: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Verify skin-analysis disinfection; review comfort checks (aircon, eye area, drinking water).</a:t>
            </a:r>
            <a:endParaRPr lang="en-US" sz="1150" dirty="0"/>
          </a:p>
          <a:p>
            <a:pPr marL="152400" indent="-152400">
              <a:spcAft>
                <a:spcPts val="500"/>
              </a:spcAft>
              <a:buSzPct val="100000"/>
              <a:buChar char="•"/>
            </a:pPr>
            <a:r>
              <a:rPr lang="en-US" sz="1150" b="1" dirty="0">
                <a:solidFill>
                  <a:srgbClr val="245C45"/>
                </a:solidFill>
                <a:latin typeface="Calibri" pitchFamily="34" charset="0"/>
                <a:ea typeface="Calibri" pitchFamily="34" charset="-122"/>
                <a:cs typeface="Calibri" pitchFamily="34" charset="-120"/>
              </a:rPr>
              <a:t>SS2: </a:t>
            </a:r>
            <a:pPr indent="0" marL="0">
              <a:spcAft>
                <a:spcPts val="500"/>
              </a:spcAft>
              <a:buNone/>
            </a:pPr>
            <a:r>
              <a:rPr lang="en-US" sz="1150" dirty="0">
                <a:solidFill>
                  <a:srgbClr val="1F2A24"/>
                </a:solidFill>
                <a:latin typeface="Calibri" pitchFamily="34" charset="0"/>
                <a:ea typeface="Calibri" pitchFamily="34" charset="-122"/>
                <a:cs typeface="Calibri" pitchFamily="34" charset="-120"/>
              </a:rPr>
              <a:t>Check aircon direction in treatment rooms.</a:t>
            </a:r>
            <a:endParaRPr lang="en-US" sz="1150" dirty="0"/>
          </a:p>
        </p:txBody>
      </p:sp>
      <p:sp>
        <p:nvSpPr>
          <p:cNvPr id="13" name="Shape 10"/>
          <p:cNvSpPr/>
          <p:nvPr/>
        </p:nvSpPr>
        <p:spPr>
          <a:xfrm>
            <a:off x="4617720" y="1417320"/>
            <a:ext cx="7025335" cy="989203"/>
          </a:xfrm>
          <a:prstGeom prst="roundRect">
            <a:avLst>
              <a:gd name="adj" fmla="val 11093"/>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4" name="Shape 11"/>
          <p:cNvSpPr/>
          <p:nvPr/>
        </p:nvSpPr>
        <p:spPr>
          <a:xfrm>
            <a:off x="4800600" y="1572768"/>
            <a:ext cx="274320" cy="274320"/>
          </a:xfrm>
          <a:prstGeom prst="ellipse">
            <a:avLst/>
          </a:prstGeom>
          <a:solidFill>
            <a:srgbClr val="F7EEDC"/>
          </a:solidFill>
          <a:ln w="12700">
            <a:solidFill>
              <a:srgbClr val="F7EEDC"/>
            </a:solidFill>
            <a:prstDash val="solid"/>
          </a:ln>
        </p:spPr>
      </p:sp>
      <p:pic>
        <p:nvPicPr>
          <p:cNvPr id="15" name="Image 1" descr="preencoded.png">    </p:cNvPr>
          <p:cNvPicPr>
            <a:picLocks noChangeAspect="1"/>
          </p:cNvPicPr>
          <p:nvPr/>
        </p:nvPicPr>
        <p:blipFill>
          <a:blip r:embed="rId2"/>
          <a:stretch>
            <a:fillRect/>
          </a:stretch>
        </p:blipFill>
        <p:spPr>
          <a:xfrm>
            <a:off x="4866437" y="1638605"/>
            <a:ext cx="142646" cy="142646"/>
          </a:xfrm>
          <a:prstGeom prst="rect">
            <a:avLst/>
          </a:prstGeom>
        </p:spPr>
      </p:pic>
      <p:sp>
        <p:nvSpPr>
          <p:cNvPr id="16" name="Text 12"/>
          <p:cNvSpPr txBox="1"/>
          <p:nvPr/>
        </p:nvSpPr>
        <p:spPr>
          <a:xfrm>
            <a:off x="5184648" y="1572768"/>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BUKIT MERTAJAM  ·  OCT  ·  63.75</a:t>
            </a:r>
            <a:endParaRPr lang="en-US" sz="1050" dirty="0"/>
          </a:p>
        </p:txBody>
      </p:sp>
      <p:sp>
        <p:nvSpPr>
          <p:cNvPr id="17" name="Text 13"/>
          <p:cNvSpPr txBox="1"/>
          <p:nvPr/>
        </p:nvSpPr>
        <p:spPr>
          <a:xfrm>
            <a:off x="4892040" y="1892808"/>
            <a:ext cx="6522415" cy="440563"/>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For hygiene purposes, I would suggest changing the blanket for every customer.</a:t>
            </a:r>
            <a:endParaRPr lang="en-US" sz="1250" dirty="0"/>
          </a:p>
        </p:txBody>
      </p:sp>
      <p:sp>
        <p:nvSpPr>
          <p:cNvPr id="18" name="Shape 14"/>
          <p:cNvSpPr/>
          <p:nvPr/>
        </p:nvSpPr>
        <p:spPr>
          <a:xfrm>
            <a:off x="4617720" y="2552827"/>
            <a:ext cx="7025335" cy="1167384"/>
          </a:xfrm>
          <a:prstGeom prst="roundRect">
            <a:avLst>
              <a:gd name="adj" fmla="val 9399"/>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19" name="Shape 15"/>
          <p:cNvSpPr/>
          <p:nvPr/>
        </p:nvSpPr>
        <p:spPr>
          <a:xfrm>
            <a:off x="4800600" y="2708275"/>
            <a:ext cx="274320" cy="274320"/>
          </a:xfrm>
          <a:prstGeom prst="ellipse">
            <a:avLst/>
          </a:prstGeom>
          <a:solidFill>
            <a:srgbClr val="F7EEDC"/>
          </a:solidFill>
          <a:ln w="12700">
            <a:solidFill>
              <a:srgbClr val="F7EEDC"/>
            </a:solidFill>
            <a:prstDash val="solid"/>
          </a:ln>
        </p:spPr>
      </p:sp>
      <p:pic>
        <p:nvPicPr>
          <p:cNvPr id="20" name="Image 2" descr="preencoded.png">    </p:cNvPr>
          <p:cNvPicPr>
            <a:picLocks noChangeAspect="1"/>
          </p:cNvPicPr>
          <p:nvPr/>
        </p:nvPicPr>
        <p:blipFill>
          <a:blip r:embed="rId3"/>
          <a:stretch>
            <a:fillRect/>
          </a:stretch>
        </p:blipFill>
        <p:spPr>
          <a:xfrm>
            <a:off x="4866437" y="2774112"/>
            <a:ext cx="142646" cy="142646"/>
          </a:xfrm>
          <a:prstGeom prst="rect">
            <a:avLst/>
          </a:prstGeom>
        </p:spPr>
      </p:pic>
      <p:sp>
        <p:nvSpPr>
          <p:cNvPr id="21" name="Text 16"/>
          <p:cNvSpPr txBox="1"/>
          <p:nvPr/>
        </p:nvSpPr>
        <p:spPr>
          <a:xfrm>
            <a:off x="5184648" y="2708275"/>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MOUNT AUSTIN  ·  OCT  ·  65.00</a:t>
            </a:r>
            <a:endParaRPr lang="en-US" sz="1050" dirty="0"/>
          </a:p>
        </p:txBody>
      </p:sp>
      <p:sp>
        <p:nvSpPr>
          <p:cNvPr id="22" name="Text 17"/>
          <p:cNvSpPr txBox="1"/>
          <p:nvPr/>
        </p:nvSpPr>
        <p:spPr>
          <a:xfrm>
            <a:off x="4892040" y="3028315"/>
            <a:ext cx="6522415" cy="618744"/>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第二次测皮肤的时候3个定位点都忘记消毒 第一次测的时候只消毒了下巴位置</a:t>
            </a:r>
            <a:endParaRPr lang="en-US" sz="1200" dirty="0"/>
          </a:p>
          <a:p>
            <a:pPr indent="0" marL="0">
              <a:buNone/>
            </a:pPr>
            <a:r>
              <a:rPr lang="en-US" sz="1200" dirty="0">
                <a:solidFill>
                  <a:srgbClr val="1F2A24"/>
                </a:solidFill>
                <a:latin typeface="Microsoft YaHei" pitchFamily="34" charset="0"/>
                <a:ea typeface="Microsoft YaHei" pitchFamily="34" charset="-122"/>
                <a:cs typeface="Microsoft YaHei" pitchFamily="34" charset="-120"/>
              </a:rPr>
              <a:t>护肤最后的时候涂太多次眼睛 导致眼睛干涩很不舒服</a:t>
            </a:r>
            <a:endParaRPr lang="en-US" sz="1200" dirty="0"/>
          </a:p>
        </p:txBody>
      </p:sp>
      <p:sp>
        <p:nvSpPr>
          <p:cNvPr id="23" name="Shape 18"/>
          <p:cNvSpPr/>
          <p:nvPr/>
        </p:nvSpPr>
        <p:spPr>
          <a:xfrm>
            <a:off x="4617720" y="3866515"/>
            <a:ext cx="7025335" cy="981456"/>
          </a:xfrm>
          <a:prstGeom prst="roundRect">
            <a:avLst>
              <a:gd name="adj" fmla="val 11180"/>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4" name="Shape 19"/>
          <p:cNvSpPr/>
          <p:nvPr/>
        </p:nvSpPr>
        <p:spPr>
          <a:xfrm>
            <a:off x="4800600" y="4021963"/>
            <a:ext cx="274320" cy="274320"/>
          </a:xfrm>
          <a:prstGeom prst="ellipse">
            <a:avLst/>
          </a:prstGeom>
          <a:solidFill>
            <a:srgbClr val="F7EEDC"/>
          </a:solidFill>
          <a:ln w="12700">
            <a:solidFill>
              <a:srgbClr val="F7EEDC"/>
            </a:solidFill>
            <a:prstDash val="solid"/>
          </a:ln>
        </p:spPr>
      </p:sp>
      <p:pic>
        <p:nvPicPr>
          <p:cNvPr id="25" name="Image 3" descr="preencoded.png">    </p:cNvPr>
          <p:cNvPicPr>
            <a:picLocks noChangeAspect="1"/>
          </p:cNvPicPr>
          <p:nvPr/>
        </p:nvPicPr>
        <p:blipFill>
          <a:blip r:embed="rId4"/>
          <a:stretch>
            <a:fillRect/>
          </a:stretch>
        </p:blipFill>
        <p:spPr>
          <a:xfrm>
            <a:off x="4866437" y="4087800"/>
            <a:ext cx="142646" cy="142646"/>
          </a:xfrm>
          <a:prstGeom prst="rect">
            <a:avLst/>
          </a:prstGeom>
        </p:spPr>
      </p:pic>
      <p:sp>
        <p:nvSpPr>
          <p:cNvPr id="26" name="Text 20"/>
          <p:cNvSpPr txBox="1"/>
          <p:nvPr/>
        </p:nvSpPr>
        <p:spPr>
          <a:xfrm>
            <a:off x="5184648" y="4021963"/>
            <a:ext cx="6293815" cy="274320"/>
          </a:xfrm>
          <a:prstGeom prst="rect">
            <a:avLst/>
          </a:prstGeom>
          <a:noFill/>
          <a:ln/>
        </p:spPr>
        <p:txBody>
          <a:bodyPr wrap="square" lIns="0" tIns="0" rIns="0" bIns="0" rtlCol="0" anchor="ctr"/>
          <a:lstStyle/>
          <a:p>
            <a:pPr indent="0" marL="0">
              <a:buNone/>
            </a:pPr>
            <a:r>
              <a:rPr lang="en-US" sz="1050" b="1" spc="50" kern="0" dirty="0">
                <a:solidFill>
                  <a:srgbClr val="B3402A"/>
                </a:solidFill>
                <a:latin typeface="Calibri" pitchFamily="34" charset="0"/>
                <a:ea typeface="Calibri" pitchFamily="34" charset="-122"/>
                <a:cs typeface="Calibri" pitchFamily="34" charset="-120"/>
              </a:rPr>
              <a:t>MOUNT AUSTIN  ·  OCT  ·  65.00</a:t>
            </a:r>
            <a:endParaRPr lang="en-US" sz="1050" dirty="0"/>
          </a:p>
        </p:txBody>
      </p:sp>
      <p:sp>
        <p:nvSpPr>
          <p:cNvPr id="27" name="Text 21"/>
          <p:cNvSpPr txBox="1"/>
          <p:nvPr/>
        </p:nvSpPr>
        <p:spPr>
          <a:xfrm>
            <a:off x="4892040" y="4342003"/>
            <a:ext cx="6522415" cy="432816"/>
          </a:xfrm>
          <a:prstGeom prst="rect">
            <a:avLst/>
          </a:prstGeom>
          <a:noFill/>
          <a:ln/>
        </p:spPr>
        <p:txBody>
          <a:bodyPr wrap="square" lIns="0" tIns="0" rIns="0" bIns="0" rtlCol="0" anchor="t"/>
          <a:lstStyle/>
          <a:p>
            <a:pPr indent="0" marL="0">
              <a:buNone/>
            </a:pPr>
            <a:r>
              <a:rPr lang="en-US" sz="1200" dirty="0">
                <a:solidFill>
                  <a:srgbClr val="1F2A24"/>
                </a:solidFill>
                <a:latin typeface="Microsoft YaHei" pitchFamily="34" charset="0"/>
                <a:ea typeface="Microsoft YaHei" pitchFamily="34" charset="-122"/>
                <a:cs typeface="Microsoft YaHei" pitchFamily="34" charset="-120"/>
              </a:rPr>
              <a:t>冷气虽然有调但是我更建议直接问顾客需要多少度……等待区可以设矿泉水或者饮水机</a:t>
            </a:r>
            <a:endParaRPr lang="en-US" sz="1200" dirty="0"/>
          </a:p>
        </p:txBody>
      </p:sp>
      <p:sp>
        <p:nvSpPr>
          <p:cNvPr id="28" name="Shape 22"/>
          <p:cNvSpPr/>
          <p:nvPr/>
        </p:nvSpPr>
        <p:spPr>
          <a:xfrm>
            <a:off x="4617720" y="4994275"/>
            <a:ext cx="7025335" cy="989203"/>
          </a:xfrm>
          <a:prstGeom prst="roundRect">
            <a:avLst>
              <a:gd name="adj" fmla="val 11093"/>
            </a:avLst>
          </a:prstGeom>
          <a:solidFill>
            <a:srgbClr val="FFFFFF"/>
          </a:solidFill>
          <a:ln w="9525">
            <a:solidFill>
              <a:srgbClr val="D9E2DC"/>
            </a:solidFill>
            <a:prstDash val="solid"/>
          </a:ln>
          <a:effectLst>
            <a:outerShdw sx="100000" sy="100000" kx="0" ky="0" algn="bl" rotWithShape="0" blurRad="101600" dist="25400" dir="5400000">
              <a:srgbClr val="1F2A24">
                <a:alpha val="10000"/>
              </a:srgbClr>
            </a:outerShdw>
          </a:effectLst>
        </p:spPr>
      </p:sp>
      <p:sp>
        <p:nvSpPr>
          <p:cNvPr id="29" name="Shape 23"/>
          <p:cNvSpPr/>
          <p:nvPr/>
        </p:nvSpPr>
        <p:spPr>
          <a:xfrm>
            <a:off x="4800600" y="5149723"/>
            <a:ext cx="274320" cy="274320"/>
          </a:xfrm>
          <a:prstGeom prst="ellipse">
            <a:avLst/>
          </a:prstGeom>
          <a:solidFill>
            <a:srgbClr val="F7EEDC"/>
          </a:solidFill>
          <a:ln w="12700">
            <a:solidFill>
              <a:srgbClr val="F7EEDC"/>
            </a:solidFill>
            <a:prstDash val="solid"/>
          </a:ln>
        </p:spPr>
      </p:sp>
      <p:pic>
        <p:nvPicPr>
          <p:cNvPr id="30" name="Image 4" descr="preencoded.png">    </p:cNvPr>
          <p:cNvPicPr>
            <a:picLocks noChangeAspect="1"/>
          </p:cNvPicPr>
          <p:nvPr/>
        </p:nvPicPr>
        <p:blipFill>
          <a:blip r:embed="rId5"/>
          <a:stretch>
            <a:fillRect/>
          </a:stretch>
        </p:blipFill>
        <p:spPr>
          <a:xfrm>
            <a:off x="4866437" y="5215560"/>
            <a:ext cx="142646" cy="142646"/>
          </a:xfrm>
          <a:prstGeom prst="rect">
            <a:avLst/>
          </a:prstGeom>
        </p:spPr>
      </p:pic>
      <p:sp>
        <p:nvSpPr>
          <p:cNvPr id="31" name="Text 24"/>
          <p:cNvSpPr txBox="1"/>
          <p:nvPr/>
        </p:nvSpPr>
        <p:spPr>
          <a:xfrm>
            <a:off x="5184648" y="5149723"/>
            <a:ext cx="6293815" cy="274320"/>
          </a:xfrm>
          <a:prstGeom prst="rect">
            <a:avLst/>
          </a:prstGeom>
          <a:noFill/>
          <a:ln/>
        </p:spPr>
        <p:txBody>
          <a:bodyPr wrap="square" lIns="0" tIns="0" rIns="0" bIns="0" rtlCol="0" anchor="ctr"/>
          <a:lstStyle/>
          <a:p>
            <a:pPr indent="0" marL="0">
              <a:buNone/>
            </a:pPr>
            <a:r>
              <a:rPr lang="en-US" sz="1050" b="1" spc="50" kern="0" dirty="0">
                <a:solidFill>
                  <a:srgbClr val="245C45"/>
                </a:solidFill>
                <a:latin typeface="Calibri" pitchFamily="34" charset="0"/>
                <a:ea typeface="Calibri" pitchFamily="34" charset="-122"/>
                <a:cs typeface="Calibri" pitchFamily="34" charset="-120"/>
              </a:rPr>
              <a:t>SS2  ·  OCT  ·  90.50</a:t>
            </a:r>
            <a:endParaRPr lang="en-US" sz="1050" dirty="0"/>
          </a:p>
        </p:txBody>
      </p:sp>
      <p:sp>
        <p:nvSpPr>
          <p:cNvPr id="32" name="Text 25"/>
          <p:cNvSpPr txBox="1"/>
          <p:nvPr/>
        </p:nvSpPr>
        <p:spPr>
          <a:xfrm>
            <a:off x="4892040" y="5469763"/>
            <a:ext cx="6522415" cy="440563"/>
          </a:xfrm>
          <a:prstGeom prst="rect">
            <a:avLst/>
          </a:prstGeom>
          <a:noFill/>
          <a:ln/>
        </p:spPr>
        <p:txBody>
          <a:bodyPr wrap="square" lIns="0" tIns="0" rIns="0" bIns="0" rtlCol="0" anchor="t"/>
          <a:lstStyle/>
          <a:p>
            <a:pPr indent="0" marL="0">
              <a:buNone/>
            </a:pPr>
            <a:r>
              <a:rPr lang="en-US" sz="1250" i="1" dirty="0">
                <a:solidFill>
                  <a:srgbClr val="1F2A24"/>
                </a:solidFill>
                <a:latin typeface="Calibri" pitchFamily="34" charset="0"/>
                <a:ea typeface="Calibri" pitchFamily="34" charset="-122"/>
                <a:cs typeface="Calibri" pitchFamily="34" charset="-120"/>
              </a:rPr>
              <a:t>When the aircon is on, need to make sure the air is not directly blowing on client’s face.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66928"/>
          </a:xfrm>
          <a:prstGeom prst="rect">
            <a:avLst/>
          </a:prstGeom>
          <a:noFill/>
          <a:ln/>
        </p:spPr>
        <p:txBody>
          <a:bodyPr wrap="square" lIns="0" tIns="0" rIns="0" bIns="0" rtlCol="0" anchor="ctr"/>
          <a:lstStyle/>
          <a:p>
            <a:pPr indent="0" marL="0">
              <a:buNone/>
            </a:pPr>
            <a:r>
              <a:rPr lang="en-US" sz="3000" b="1" dirty="0">
                <a:solidFill>
                  <a:srgbClr val="245C45"/>
                </a:solidFill>
                <a:latin typeface="Calibri" pitchFamily="34" charset="0"/>
                <a:ea typeface="Calibri" pitchFamily="34" charset="-122"/>
                <a:cs typeface="Calibri" pitchFamily="34" charset="-120"/>
              </a:rPr>
              <a:t>Follow-up actions to confirm</a:t>
            </a:r>
            <a:endParaRPr lang="en-US" sz="3000" dirty="0"/>
          </a:p>
        </p:txBody>
      </p:sp>
      <p:sp>
        <p:nvSpPr>
          <p:cNvPr id="3" name="Text 1"/>
          <p:cNvSpPr txBox="1"/>
          <p:nvPr/>
        </p:nvSpPr>
        <p:spPr>
          <a:xfrm>
            <a:off x="548640" y="932688"/>
            <a:ext cx="11094415" cy="310896"/>
          </a:xfrm>
          <a:prstGeom prst="rect">
            <a:avLst/>
          </a:prstGeom>
          <a:noFill/>
          <a:ln/>
        </p:spPr>
        <p:txBody>
          <a:bodyPr wrap="square" lIns="0" tIns="0" rIns="0" bIns="0" rtlCol="0" anchor="t"/>
          <a:lstStyle/>
          <a:p>
            <a:pPr indent="0" marL="0">
              <a:buNone/>
            </a:pPr>
            <a:r>
              <a:rPr lang="en-US" sz="1350" dirty="0">
                <a:solidFill>
                  <a:srgbClr val="5E6B64"/>
                </a:solidFill>
                <a:latin typeface="Calibri" pitchFamily="34" charset="0"/>
                <a:ea typeface="Calibri" pitchFamily="34" charset="-122"/>
                <a:cs typeface="Calibri" pitchFamily="34" charset="-120"/>
              </a:rPr>
              <a:t>Agree the PIC and due date in this meeting, then add each item to MS Tracking</a:t>
            </a:r>
            <a:endParaRPr lang="en-US" sz="1350" dirty="0"/>
          </a:p>
        </p:txBody>
      </p:sp>
      <p:sp>
        <p:nvSpPr>
          <p:cNvPr id="4" name="Text 2"/>
          <p:cNvSpPr txBox="1"/>
          <p:nvPr/>
        </p:nvSpPr>
        <p:spPr>
          <a:xfrm>
            <a:off x="11094415" y="6473952"/>
            <a:ext cx="548640" cy="228600"/>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4709160"/>
                <a:gridCol w="1691640"/>
                <a:gridCol w="1051560"/>
                <a:gridCol w="914400"/>
                <a:gridCol w="896112"/>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Outlet</a:t>
                      </a:r>
                      <a:endParaRPr lang="en-US" sz="120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245C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follow up</a:t>
                      </a:r>
                      <a:endParaRPr lang="en-US" sz="120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245C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245C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PIC</a:t>
                      </a:r>
                      <a:endParaRPr lang="en-US" sz="120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245C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Due</a:t>
                      </a:r>
                      <a:endParaRPr lang="en-US" sz="120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245C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245C45"/>
                    </a:solidFill>
                  </a:tcPr>
                </a:tc>
              </a:tr>
              <a:tr h="621792">
                <a:tc>
                  <a:txBody>
                    <a:bodyPr/>
                    <a:lstStyle/>
                    <a:p>
                      <a:pPr indent="0" marL="0">
                        <a:buNone/>
                      </a:pPr>
                      <a:r>
                        <a:rPr lang="en-US" sz="1250" b="1" dirty="0">
                          <a:solidFill>
                            <a:srgbClr val="245C45"/>
                          </a:solidFill>
                          <a:latin typeface="Calibri" pitchFamily="34" charset="0"/>
                          <a:ea typeface="Calibri" pitchFamily="34" charset="-122"/>
                          <a:cs typeface="Calibri" pitchFamily="34" charset="-120"/>
                        </a:rPr>
                        <a:t>SS2</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dirty="0">
                          <a:solidFill>
                            <a:srgbClr val="1F2A24"/>
                          </a:solidFill>
                          <a:latin typeface="Calibri" pitchFamily="34" charset="0"/>
                          <a:ea typeface="Calibri" pitchFamily="34" charset="-122"/>
                          <a:cs typeface="Calibri" pitchFamily="34" charset="-120"/>
                        </a:rPr>
                        <a:t>Review arrival acknowledgement and the handover after a customer arrives.</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dirty="0">
                          <a:solidFill>
                            <a:srgbClr val="5E6B64"/>
                          </a:solidFill>
                          <a:latin typeface="Calibri" pitchFamily="34" charset="0"/>
                          <a:ea typeface="Calibri" pitchFamily="34" charset="-122"/>
                          <a:cs typeface="Calibri" pitchFamily="34" charset="-120"/>
                        </a:rPr>
                        <a:t>Reception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b="1" dirty="0">
                          <a:solidFill>
                            <a:srgbClr val="B3402A"/>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245C45"/>
                          </a:solidFill>
                          <a:latin typeface="Calibri" pitchFamily="34" charset="0"/>
                          <a:ea typeface="Calibri" pitchFamily="34" charset="-122"/>
                          <a:cs typeface="Calibri" pitchFamily="34" charset="-120"/>
                        </a:rPr>
                        <a:t>Bukit Mertajam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dirty="0">
                          <a:solidFill>
                            <a:srgbClr val="1F2A24"/>
                          </a:solidFill>
                          <a:latin typeface="Calibri" pitchFamily="34" charset="0"/>
                          <a:ea typeface="Calibri" pitchFamily="34" charset="-122"/>
                          <a:cs typeface="Calibri" pitchFamily="34" charset="-120"/>
                        </a:rPr>
                        <a:t>Review package transparency; coach consultant on finding customer needs and value, not price.</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dirty="0">
                          <a:solidFill>
                            <a:srgbClr val="5E6B64"/>
                          </a:solidFill>
                          <a:latin typeface="Calibri" pitchFamily="34" charset="0"/>
                          <a:ea typeface="Calibri" pitchFamily="34" charset="-122"/>
                          <a:cs typeface="Calibri" pitchFamily="34" charset="-120"/>
                        </a:rPr>
                        <a:t>Package / Sales</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b="1" dirty="0">
                          <a:solidFill>
                            <a:srgbClr val="B3402A"/>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r>
              <a:tr h="621792">
                <a:tc>
                  <a:txBody>
                    <a:bodyPr/>
                    <a:lstStyle/>
                    <a:p>
                      <a:pPr indent="0" marL="0">
                        <a:buNone/>
                      </a:pPr>
                      <a:r>
                        <a:rPr lang="en-US" sz="1250" b="1" dirty="0">
                          <a:solidFill>
                            <a:srgbClr val="245C45"/>
                          </a:solidFill>
                          <a:latin typeface="Calibri" pitchFamily="34" charset="0"/>
                          <a:ea typeface="Calibri" pitchFamily="34" charset="-122"/>
                          <a:cs typeface="Calibri" pitchFamily="34" charset="-120"/>
                        </a:rPr>
                        <a:t>Bukit Mertajam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dirty="0">
                          <a:solidFill>
                            <a:srgbClr val="1F2A24"/>
                          </a:solidFill>
                          <a:latin typeface="Calibri" pitchFamily="34" charset="0"/>
                          <a:ea typeface="Calibri" pitchFamily="34" charset="-122"/>
                          <a:cs typeface="Calibri" pitchFamily="34" charset="-120"/>
                        </a:rPr>
                        <a:t>Verify the blanket-changing practice and the related hygiene SOP.</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dirty="0">
                          <a:solidFill>
                            <a:srgbClr val="5E6B64"/>
                          </a:solidFill>
                          <a:latin typeface="Calibri" pitchFamily="34" charset="0"/>
                          <a:ea typeface="Calibri" pitchFamily="34" charset="-122"/>
                          <a:cs typeface="Calibri" pitchFamily="34" charset="-120"/>
                        </a:rPr>
                        <a:t>Hygiene</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b="1" dirty="0">
                          <a:solidFill>
                            <a:srgbClr val="B3402A"/>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245C45"/>
                          </a:solidFill>
                          <a:latin typeface="Calibri" pitchFamily="34" charset="0"/>
                          <a:ea typeface="Calibri" pitchFamily="34" charset="-122"/>
                          <a:cs typeface="Calibri" pitchFamily="34" charset="-120"/>
                        </a:rPr>
                        <a:t>Cheras Leisure Mall</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dirty="0">
                          <a:solidFill>
                            <a:srgbClr val="1F2A24"/>
                          </a:solidFill>
                          <a:latin typeface="Calibri" pitchFamily="34" charset="0"/>
                          <a:ea typeface="Calibri" pitchFamily="34" charset="-122"/>
                          <a:cs typeface="Calibri" pitchFamily="34" charset="-120"/>
                        </a:rPr>
                        <a:t>Coach needs-based consultation; give every customer a consistent welcome.</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dirty="0">
                          <a:solidFill>
                            <a:srgbClr val="5E6B64"/>
                          </a:solidFill>
                          <a:latin typeface="Calibri" pitchFamily="34" charset="0"/>
                          <a:ea typeface="Calibri" pitchFamily="34" charset="-122"/>
                          <a:cs typeface="Calibri" pitchFamily="34" charset="-120"/>
                        </a:rPr>
                        <a:t>Sales / Reception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b="1" dirty="0">
                          <a:solidFill>
                            <a:srgbClr val="B3402A"/>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r>
              <a:tr h="621792">
                <a:tc>
                  <a:txBody>
                    <a:bodyPr/>
                    <a:lstStyle/>
                    <a:p>
                      <a:pPr indent="0" marL="0">
                        <a:buNone/>
                      </a:pPr>
                      <a:r>
                        <a:rPr lang="en-US" sz="1250" b="1" dirty="0">
                          <a:solidFill>
                            <a:srgbClr val="245C45"/>
                          </a:solidFill>
                          <a:latin typeface="Calibri" pitchFamily="34" charset="0"/>
                          <a:ea typeface="Calibri" pitchFamily="34" charset="-122"/>
                          <a:cs typeface="Calibri" pitchFamily="34" charset="-120"/>
                        </a:rPr>
                        <a:t>Mount Austin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dirty="0">
                          <a:solidFill>
                            <a:srgbClr val="1F2A24"/>
                          </a:solidFill>
                          <a:latin typeface="Calibri" pitchFamily="34" charset="0"/>
                          <a:ea typeface="Calibri" pitchFamily="34" charset="-122"/>
                          <a:cs typeface="Calibri" pitchFamily="34" charset="-120"/>
                        </a:rPr>
                        <a:t>Respect message/call preference; verify skin-analysis disinfection; review comfort checks.</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dirty="0">
                          <a:solidFill>
                            <a:srgbClr val="5E6B64"/>
                          </a:solidFill>
                          <a:latin typeface="Calibri" pitchFamily="34" charset="0"/>
                          <a:ea typeface="Calibri" pitchFamily="34" charset="-122"/>
                          <a:cs typeface="Calibri" pitchFamily="34" charset="-120"/>
                        </a:rPr>
                        <a:t>Reception / Hygiene</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c>
                  <a:txBody>
                    <a:bodyPr/>
                    <a:lstStyle/>
                    <a:p>
                      <a:pPr indent="0" marL="0">
                        <a:buNone/>
                      </a:pPr>
                      <a:r>
                        <a:rPr lang="en-US" sz="1250" b="1" dirty="0">
                          <a:solidFill>
                            <a:srgbClr val="B3402A"/>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245C45"/>
                          </a:solidFill>
                          <a:latin typeface="Calibri" pitchFamily="34" charset="0"/>
                          <a:ea typeface="Calibri" pitchFamily="34" charset="-122"/>
                          <a:cs typeface="Calibri" pitchFamily="34" charset="-120"/>
                        </a:rPr>
                        <a:t>All outlets</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dirty="0">
                          <a:solidFill>
                            <a:srgbClr val="1F2A24"/>
                          </a:solidFill>
                          <a:latin typeface="Calibri" pitchFamily="34" charset="0"/>
                          <a:ea typeface="Calibri" pitchFamily="34" charset="-122"/>
                          <a:cs typeface="Calibri" pitchFamily="34" charset="-120"/>
                        </a:rPr>
                        <a:t>Keep pricing clear, explain treatment steps and avoid pressure during package discussions.</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dirty="0">
                          <a:solidFill>
                            <a:srgbClr val="5E6B64"/>
                          </a:solidFill>
                          <a:latin typeface="Calibri" pitchFamily="34" charset="0"/>
                          <a:ea typeface="Calibri" pitchFamily="34" charset="-122"/>
                          <a:cs typeface="Calibri" pitchFamily="34" charset="-120"/>
                        </a:rPr>
                        <a:t>Package / Sales</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i="1" dirty="0">
                          <a:solidFill>
                            <a:srgbClr val="9AA59F"/>
                          </a:solidFill>
                          <a:latin typeface="Calibri" pitchFamily="34" charset="0"/>
                          <a:ea typeface="Calibri" pitchFamily="34" charset="-122"/>
                          <a:cs typeface="Calibri" pitchFamily="34" charset="-120"/>
                        </a:rPr>
                        <a:t>To confirm</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c>
                  <a:txBody>
                    <a:bodyPr/>
                    <a:lstStyle/>
                    <a:p>
                      <a:pPr indent="0" marL="0">
                        <a:buNone/>
                      </a:pPr>
                      <a:r>
                        <a:rPr lang="en-US" sz="1250" b="1" dirty="0">
                          <a:solidFill>
                            <a:srgbClr val="B3402A"/>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101600" marR="101600" marT="76200" marB="76200" anchor="ctr">
                    <a:lnL w="9525" cap="flat" cmpd="sng" algn="ctr">
                      <a:solidFill>
                        <a:srgbClr val="D9E2DC"/>
                      </a:solidFill>
                      <a:prstDash val="solid"/>
                      <a:round/>
                      <a:headEnd type="none" w="med" len="med"/>
                      <a:tailEnd type="none" w="med" len="med"/>
                    </a:lnL>
                    <a:lnR w="9525" cap="flat" cmpd="sng" algn="ctr">
                      <a:solidFill>
                        <a:srgbClr val="D9E2DC"/>
                      </a:solidFill>
                      <a:prstDash val="solid"/>
                      <a:round/>
                      <a:headEnd type="none" w="med" len="med"/>
                      <a:tailEnd type="none" w="med" len="med"/>
                    </a:lnR>
                    <a:lnT w="9525" cap="flat" cmpd="sng" algn="ctr">
                      <a:solidFill>
                        <a:srgbClr val="D9E2DC"/>
                      </a:solidFill>
                      <a:prstDash val="solid"/>
                      <a:round/>
                      <a:headEnd type="none" w="med" len="med"/>
                      <a:tailEnd type="none" w="med" len="med"/>
                    </a:lnT>
                    <a:lnB w="9525" cap="flat" cmpd="sng" algn="ctr">
                      <a:solidFill>
                        <a:srgbClr val="D9E2DC"/>
                      </a:solidFill>
                      <a:prstDash val="solid"/>
                      <a:round/>
                      <a:headEnd type="none" w="med" len="med"/>
                      <a:tailEnd type="none" w="med" len="med"/>
                    </a:lnB>
                    <a:solidFill>
                      <a:srgbClr val="F4F8F5"/>
                    </a:solidFill>
                  </a:tcPr>
                </a:tc>
              </a:tr>
            </a:tbl>
          </a:graphicData>
        </a:graphic>
      </p:graphicFrame>
      <p:sp>
        <p:nvSpPr>
          <p:cNvPr id="6" name="Shape 3"/>
          <p:cNvSpPr/>
          <p:nvPr/>
        </p:nvSpPr>
        <p:spPr>
          <a:xfrm>
            <a:off x="548640" y="5897880"/>
            <a:ext cx="11094415" cy="502920"/>
          </a:xfrm>
          <a:prstGeom prst="roundRect">
            <a:avLst>
              <a:gd name="adj" fmla="val 21818"/>
            </a:avLst>
          </a:prstGeom>
          <a:solidFill>
            <a:srgbClr val="F7EEDC"/>
          </a:solidFill>
          <a:ln w="9525">
            <a:solidFill>
              <a:srgbClr val="F7EEDC"/>
            </a:solidFill>
            <a:prstDash val="solid"/>
          </a:ln>
        </p:spPr>
      </p:sp>
      <p:sp>
        <p:nvSpPr>
          <p:cNvPr id="7" name="Text 4"/>
          <p:cNvSpPr txBox="1"/>
          <p:nvPr/>
        </p:nvSpPr>
        <p:spPr>
          <a:xfrm>
            <a:off x="777240" y="5897880"/>
            <a:ext cx="10637215" cy="502920"/>
          </a:xfrm>
          <a:prstGeom prst="rect">
            <a:avLst/>
          </a:prstGeom>
          <a:noFill/>
          <a:ln/>
        </p:spPr>
        <p:txBody>
          <a:bodyPr wrap="square" lIns="0" tIns="0" rIns="0" bIns="0" rtlCol="0" anchor="ctr"/>
          <a:lstStyle/>
          <a:p>
            <a:pPr indent="0" marL="0">
              <a:buNone/>
            </a:pPr>
            <a:r>
              <a:rPr lang="en-US" sz="1200" dirty="0">
                <a:solidFill>
                  <a:srgbClr val="6E5220"/>
                </a:solidFill>
                <a:latin typeface="Calibri" pitchFamily="34" charset="0"/>
                <a:ea typeface="Calibri" pitchFamily="34" charset="-122"/>
                <a:cs typeface="Calibri" pitchFamily="34" charset="-120"/>
              </a:rPr>
              <a:t>Verify before closing: QA checks the next Mystery Shopper report for each outlet. If the issue does not come back, the item is verified and closed.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457200"/>
          </a:xfrm>
          <a:prstGeom prst="rect">
            <a:avLst/>
          </a:prstGeom>
          <a:noFill/>
          <a:ln/>
        </p:spPr>
        <p:txBody>
          <a:bodyPr wrap="square" lIns="0" tIns="0" rIns="0" bIns="0" rtlCol="0" anchor="ctr"/>
          <a:lstStyle/>
          <a:p>
            <a:pPr indent="0" marL="0">
              <a:buNone/>
            </a:pPr>
            <a:r>
              <a:rPr lang="en-US" sz="2400" b="1" dirty="0">
                <a:solidFill>
                  <a:srgbClr val="245C45"/>
                </a:solidFill>
                <a:latin typeface="Calibri" pitchFamily="34" charset="0"/>
                <a:ea typeface="Calibri" pitchFamily="34" charset="-122"/>
                <a:cs typeface="Calibri" pitchFamily="34" charset="-120"/>
              </a:rPr>
              <a:t>Appendix · Original RC comments (1/3)</a:t>
            </a:r>
            <a:endParaRPr lang="en-US" sz="2400" dirty="0"/>
          </a:p>
        </p:txBody>
      </p:sp>
      <p:sp>
        <p:nvSpPr>
          <p:cNvPr id="3" name="Text 1"/>
          <p:cNvSpPr txBox="1"/>
          <p:nvPr/>
        </p:nvSpPr>
        <p:spPr>
          <a:xfrm>
            <a:off x="548640" y="749808"/>
            <a:ext cx="8229600" cy="27432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Full shopper feedback as received, with the staff assigned to each visit</a:t>
            </a:r>
            <a:endParaRPr lang="en-US" sz="1200" dirty="0"/>
          </a:p>
        </p:txBody>
      </p:sp>
      <p:sp>
        <p:nvSpPr>
          <p:cNvPr id="4" name="Text 2"/>
          <p:cNvSpPr txBox="1"/>
          <p:nvPr/>
        </p:nvSpPr>
        <p:spPr>
          <a:xfrm>
            <a:off x="11094415" y="6565392"/>
            <a:ext cx="548640" cy="201168"/>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143000"/>
            <a:ext cx="5410048" cy="1878584"/>
          </a:xfrm>
          <a:prstGeom prst="roundRect">
            <a:avLst>
              <a:gd name="adj" fmla="val 3894"/>
            </a:avLst>
          </a:prstGeom>
          <a:solidFill>
            <a:srgbClr val="F4F8F5"/>
          </a:solidFill>
          <a:ln w="6350">
            <a:solidFill>
              <a:srgbClr val="D9E2DC"/>
            </a:solidFill>
            <a:prstDash val="solid"/>
          </a:ln>
        </p:spPr>
      </p:sp>
      <p:sp>
        <p:nvSpPr>
          <p:cNvPr id="6" name="Text 4"/>
          <p:cNvSpPr txBox="1"/>
          <p:nvPr/>
        </p:nvSpPr>
        <p:spPr>
          <a:xfrm>
            <a:off x="685800" y="1234440"/>
            <a:ext cx="5135728" cy="1732280"/>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01  ·  MOUNT AUSTIN  ·  SEP  ·  90.75</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KENNY  ·  Consultant TAN SIOK CHING  ·  Therapist LEE XIANG YEE  ·  CSC/CSR XINNI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及时回复 帮助安排预约时间 临近日期也会温馨提醒</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价格会有点偏高 并且一千块voucher只能当场决定才能使用会有电仓促</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一进门会主动上前询问是不是第一次来的不需要等我走到counter</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xuejing consultant详细和我讲解医院里有什么项目 都是什么功效 上了二楼后见到的护理师都有和我打招呼 非常亲切 会记住我的名字 称呼我的名字</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清洁洗脸的时候每一个步骤会先讲解她即将要做什么 有详细告知拍摄的照片不会没有经过同意下使用于marketing 让人整个过程都觉得很放心</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医生询问过程也不会觉得不舒服让人感觉是很专业的 讲解也非常仔细 都能听得懂</a:t>
            </a:r>
            <a:endParaRPr lang="en-US" sz="1050" dirty="0"/>
          </a:p>
          <a:p>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可以改善的地方的话希望consult可以是在独立房间 因为感觉周围很多其他的顾客 希望价格可以再优惠一点或者是推出可以多人共用一个配套 因为次数选择比较少</a:t>
            </a:r>
            <a:endParaRPr lang="en-US" sz="1050" dirty="0"/>
          </a:p>
        </p:txBody>
      </p:sp>
      <p:sp>
        <p:nvSpPr>
          <p:cNvPr id="7" name="Shape 5"/>
          <p:cNvSpPr/>
          <p:nvPr/>
        </p:nvSpPr>
        <p:spPr>
          <a:xfrm>
            <a:off x="548640" y="3113024"/>
            <a:ext cx="5410048" cy="1623822"/>
          </a:xfrm>
          <a:prstGeom prst="roundRect">
            <a:avLst>
              <a:gd name="adj" fmla="val 4505"/>
            </a:avLst>
          </a:prstGeom>
          <a:solidFill>
            <a:srgbClr val="F4F8F5"/>
          </a:solidFill>
          <a:ln w="6350">
            <a:solidFill>
              <a:srgbClr val="D9E2DC"/>
            </a:solidFill>
            <a:prstDash val="solid"/>
          </a:ln>
        </p:spPr>
      </p:sp>
      <p:sp>
        <p:nvSpPr>
          <p:cNvPr id="8" name="Text 6"/>
          <p:cNvSpPr txBox="1"/>
          <p:nvPr/>
        </p:nvSpPr>
        <p:spPr>
          <a:xfrm>
            <a:off x="685800" y="3204464"/>
            <a:ext cx="5135728" cy="1477518"/>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02  ·  BUKIT MERTAJAM  ·  SEP  ·  98.00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LEENA  ·  Consultant SHERLYN  ·  Therapist TIFFANY (NG SHI HUI)  ·  CSC/CSR GINGHUI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服务态度很亲切，非常专业又细心，整个护理过程很舒服，第一次体验很满意</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做完护理后皮肤明显感觉水润更光泽</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环境舒适 安静，整体感觉很有品质</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服务态度很满意，专业</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护理过程态度很亲切又耐心 ，</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从询问到护理都很细致，根据个人的情况认真的调整护理</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护理过程中也会不断关注肌肤的反应，</a:t>
            </a:r>
            <a:endParaRPr lang="en-US" sz="1050" dirty="0"/>
          </a:p>
          <a:p>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护理后皮肤感觉更加柔嫩光泽。</a:t>
            </a:r>
            <a:endParaRPr lang="en-US" sz="1050" dirty="0"/>
          </a:p>
        </p:txBody>
      </p:sp>
      <p:sp>
        <p:nvSpPr>
          <p:cNvPr id="9" name="Shape 7"/>
          <p:cNvSpPr/>
          <p:nvPr/>
        </p:nvSpPr>
        <p:spPr>
          <a:xfrm>
            <a:off x="548640" y="4828286"/>
            <a:ext cx="5410048" cy="1214247"/>
          </a:xfrm>
          <a:prstGeom prst="roundRect">
            <a:avLst>
              <a:gd name="adj" fmla="val 6024"/>
            </a:avLst>
          </a:prstGeom>
          <a:solidFill>
            <a:srgbClr val="F4F8F5"/>
          </a:solidFill>
          <a:ln w="6350">
            <a:solidFill>
              <a:srgbClr val="D9E2DC"/>
            </a:solidFill>
            <a:prstDash val="solid"/>
          </a:ln>
        </p:spPr>
      </p:sp>
      <p:sp>
        <p:nvSpPr>
          <p:cNvPr id="10" name="Text 8"/>
          <p:cNvSpPr txBox="1"/>
          <p:nvPr/>
        </p:nvSpPr>
        <p:spPr>
          <a:xfrm>
            <a:off x="685800" y="4919726"/>
            <a:ext cx="5135728" cy="1067943"/>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03  ·  MOUNT AUSTIN  ·  SEP  ·  100.00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JJ  ·  Consultant LEE JIA YI (JASYE)  ·  Therapist OOI THING YIK  ·  CSC/CSR IRENE</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Professional and prompt reply</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The whole experience was enjoyable. Staff was being super friendly and approachable. During consultation, they attended to my enquiries and advised accordingly. Doctor was being professional throughout. He explained to me clearly and gave me useful tips. Glad to experience my first laser here. Painless and I almost fell asleep. Will definitely recommend this to everyone!</a:t>
            </a:r>
            <a:endParaRPr lang="en-US" sz="1050" dirty="0"/>
          </a:p>
        </p:txBody>
      </p:sp>
      <p:sp>
        <p:nvSpPr>
          <p:cNvPr id="11" name="Shape 9"/>
          <p:cNvSpPr/>
          <p:nvPr/>
        </p:nvSpPr>
        <p:spPr>
          <a:xfrm>
            <a:off x="6233008" y="1143000"/>
            <a:ext cx="5410048" cy="1214247"/>
          </a:xfrm>
          <a:prstGeom prst="roundRect">
            <a:avLst>
              <a:gd name="adj" fmla="val 6024"/>
            </a:avLst>
          </a:prstGeom>
          <a:solidFill>
            <a:srgbClr val="F4F8F5"/>
          </a:solidFill>
          <a:ln w="6350">
            <a:solidFill>
              <a:srgbClr val="D9E2DC"/>
            </a:solidFill>
            <a:prstDash val="solid"/>
          </a:ln>
        </p:spPr>
      </p:sp>
      <p:sp>
        <p:nvSpPr>
          <p:cNvPr id="12" name="Text 10"/>
          <p:cNvSpPr txBox="1"/>
          <p:nvPr/>
        </p:nvSpPr>
        <p:spPr>
          <a:xfrm>
            <a:off x="6370168" y="1234440"/>
            <a:ext cx="5135728" cy="1067943"/>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04  ·  SS2  ·  SEP  ·  72.75</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EUNICE  ·  Consultant ATHENA  ·  Therapist YAN WAN EN  ·  CSC/CSR IRENE</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Package x10 too much for me~</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One thing about, when I walk in there’s a girl assist to ask my name and ask me to have a seat first, then she say will take a cup of tea for me but end she lost already 😂 i wait for 15min and I heard that two of the girl in reception saying that (My Name) is not yet here 😂 I immediately turn my head and I’m here for 15min already. After I met the Dr, she said ytd was too many people to the Klinik so I think it’s fine.</a:t>
            </a:r>
            <a:endParaRPr lang="en-US" sz="1050" dirty="0"/>
          </a:p>
        </p:txBody>
      </p:sp>
      <p:sp>
        <p:nvSpPr>
          <p:cNvPr id="13" name="Shape 11"/>
          <p:cNvSpPr/>
          <p:nvPr/>
        </p:nvSpPr>
        <p:spPr>
          <a:xfrm>
            <a:off x="6233008" y="2448687"/>
            <a:ext cx="5410048" cy="1241679"/>
          </a:xfrm>
          <a:prstGeom prst="roundRect">
            <a:avLst>
              <a:gd name="adj" fmla="val 5891"/>
            </a:avLst>
          </a:prstGeom>
          <a:solidFill>
            <a:srgbClr val="F4F8F5"/>
          </a:solidFill>
          <a:ln w="6350">
            <a:solidFill>
              <a:srgbClr val="D9E2DC"/>
            </a:solidFill>
            <a:prstDash val="solid"/>
          </a:ln>
        </p:spPr>
      </p:sp>
      <p:sp>
        <p:nvSpPr>
          <p:cNvPr id="14" name="Text 12"/>
          <p:cNvSpPr txBox="1"/>
          <p:nvPr/>
        </p:nvSpPr>
        <p:spPr>
          <a:xfrm>
            <a:off x="6370168" y="2540127"/>
            <a:ext cx="5135728" cy="1095375"/>
          </a:xfrm>
          <a:prstGeom prst="rect">
            <a:avLst/>
          </a:prstGeom>
          <a:noFill/>
          <a:ln/>
        </p:spPr>
        <p:txBody>
          <a:bodyPr wrap="square" lIns="0" tIns="0" rIns="0" bIns="0" rtlCol="0" anchor="t"/>
          <a:lstStyle/>
          <a:p>
            <a:pPr indent="0" marL="0">
              <a:spcAft>
                <a:spcPts val="300"/>
              </a:spcAft>
              <a:buNone/>
            </a:pPr>
            <a:r>
              <a:rPr lang="en-US" sz="1050" b="1" dirty="0">
                <a:solidFill>
                  <a:srgbClr val="B3402A"/>
                </a:solidFill>
                <a:latin typeface="Calibri" pitchFamily="34" charset="0"/>
                <a:ea typeface="Calibri" pitchFamily="34" charset="-122"/>
                <a:cs typeface="Calibri" pitchFamily="34" charset="-120"/>
              </a:rPr>
              <a:t>RC 05  ·  BUKIT MERTAJAM  ·  OCT  ·  65.00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HONG  ·  Consultant HONEY  ·  Therapist LAU GOAY ENG  ·  CSC/CSR YU TING</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Expensive</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Follow-up note: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会和honey 讨论怎么去找到顾客的需求，重点放在价值而不是价格</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Doctor is professional, package is overpriced, can change blanket for every customer for hygiene purpose.but can see some result on face, but need to monitor. Package can be more transparent but not giving more when previous offer is not satisfied by customer. But overall good exprience, can consider in future.</a:t>
            </a:r>
            <a:endParaRPr lang="en-US" sz="1050" dirty="0"/>
          </a:p>
        </p:txBody>
      </p:sp>
      <p:sp>
        <p:nvSpPr>
          <p:cNvPr id="15" name="Shape 13"/>
          <p:cNvSpPr/>
          <p:nvPr/>
        </p:nvSpPr>
        <p:spPr>
          <a:xfrm>
            <a:off x="6233008" y="3781806"/>
            <a:ext cx="5410048" cy="2005965"/>
          </a:xfrm>
          <a:prstGeom prst="roundRect">
            <a:avLst>
              <a:gd name="adj" fmla="val 3647"/>
            </a:avLst>
          </a:prstGeom>
          <a:solidFill>
            <a:srgbClr val="F4F8F5"/>
          </a:solidFill>
          <a:ln w="6350">
            <a:solidFill>
              <a:srgbClr val="D9E2DC"/>
            </a:solidFill>
            <a:prstDash val="solid"/>
          </a:ln>
        </p:spPr>
      </p:sp>
      <p:sp>
        <p:nvSpPr>
          <p:cNvPr id="16" name="Text 14"/>
          <p:cNvSpPr txBox="1"/>
          <p:nvPr/>
        </p:nvSpPr>
        <p:spPr>
          <a:xfrm>
            <a:off x="6370168" y="3873246"/>
            <a:ext cx="5135728" cy="1859661"/>
          </a:xfrm>
          <a:prstGeom prst="rect">
            <a:avLst/>
          </a:prstGeom>
          <a:noFill/>
          <a:ln/>
        </p:spPr>
        <p:txBody>
          <a:bodyPr wrap="square" lIns="0" tIns="0" rIns="0" bIns="0" rtlCol="0" anchor="t"/>
          <a:lstStyle/>
          <a:p>
            <a:pPr indent="0" marL="0">
              <a:spcAft>
                <a:spcPts val="300"/>
              </a:spcAft>
              <a:buNone/>
            </a:pPr>
            <a:r>
              <a:rPr lang="en-US" sz="1050" b="1" dirty="0">
                <a:solidFill>
                  <a:srgbClr val="B3402A"/>
                </a:solidFill>
                <a:latin typeface="Calibri" pitchFamily="34" charset="0"/>
                <a:ea typeface="Calibri" pitchFamily="34" charset="-122"/>
                <a:cs typeface="Calibri" pitchFamily="34" charset="-120"/>
              </a:rPr>
              <a:t>RC 07  ·  CHERAS LEISURE MALL  ·  OCT  ·  54.00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RAINNIE  ·  Consultant ALICE  ·  Therapist NG KAI WEI  ·  CSC/CSR XINNI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很有耐心 我临时有事情要换时间 态度也很好</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价格有点高过我可以承受的范围</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优点：</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1）整体服务很不错 有在关心顾客的皮肤状态，因为我本身有在看医生吃药，他们也会劝我好好吃完医生的药</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2）每一次facial的step美容师都会很耐心的解释step，和解答我的疑问</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缺点：</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1）比较hard sell，就是医生在打金光的时候，问的每一句话 都是要引导我签配套 有中为卖而卖的感觉 没有办法很好的体验</a:t>
            </a:r>
            <a:endParaRPr lang="en-US" sz="1050" dirty="0"/>
          </a:p>
          <a:p>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2）我一开始来到的时后，坐着等 结果一个老顾客到了之后 其他人就很热情的招待，让我觉得可能有点差别对待？</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457200"/>
          </a:xfrm>
          <a:prstGeom prst="rect">
            <a:avLst/>
          </a:prstGeom>
          <a:noFill/>
          <a:ln/>
        </p:spPr>
        <p:txBody>
          <a:bodyPr wrap="square" lIns="0" tIns="0" rIns="0" bIns="0" rtlCol="0" anchor="ctr"/>
          <a:lstStyle/>
          <a:p>
            <a:pPr indent="0" marL="0">
              <a:buNone/>
            </a:pPr>
            <a:r>
              <a:rPr lang="en-US" sz="2400" b="1" dirty="0">
                <a:solidFill>
                  <a:srgbClr val="245C45"/>
                </a:solidFill>
                <a:latin typeface="Calibri" pitchFamily="34" charset="0"/>
                <a:ea typeface="Calibri" pitchFamily="34" charset="-122"/>
                <a:cs typeface="Calibri" pitchFamily="34" charset="-120"/>
              </a:rPr>
              <a:t>Appendix · Original RC comments (2/3)</a:t>
            </a:r>
            <a:endParaRPr lang="en-US" sz="2400" dirty="0"/>
          </a:p>
        </p:txBody>
      </p:sp>
      <p:sp>
        <p:nvSpPr>
          <p:cNvPr id="3" name="Text 1"/>
          <p:cNvSpPr txBox="1"/>
          <p:nvPr/>
        </p:nvSpPr>
        <p:spPr>
          <a:xfrm>
            <a:off x="548640" y="749808"/>
            <a:ext cx="8229600" cy="27432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Full shopper feedback as received, with the staff assigned to each visit</a:t>
            </a:r>
            <a:endParaRPr lang="en-US" sz="1200" dirty="0"/>
          </a:p>
        </p:txBody>
      </p:sp>
      <p:sp>
        <p:nvSpPr>
          <p:cNvPr id="4" name="Text 2"/>
          <p:cNvSpPr txBox="1"/>
          <p:nvPr/>
        </p:nvSpPr>
        <p:spPr>
          <a:xfrm>
            <a:off x="11094415" y="6565392"/>
            <a:ext cx="548640" cy="201168"/>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48640" y="1143000"/>
            <a:ext cx="5410048" cy="3534537"/>
          </a:xfrm>
          <a:prstGeom prst="roundRect">
            <a:avLst>
              <a:gd name="adj" fmla="val 2070"/>
            </a:avLst>
          </a:prstGeom>
          <a:solidFill>
            <a:srgbClr val="F4F8F5"/>
          </a:solidFill>
          <a:ln w="6350">
            <a:solidFill>
              <a:srgbClr val="D9E2DC"/>
            </a:solidFill>
            <a:prstDash val="solid"/>
          </a:ln>
        </p:spPr>
      </p:sp>
      <p:sp>
        <p:nvSpPr>
          <p:cNvPr id="6" name="Text 4"/>
          <p:cNvSpPr txBox="1"/>
          <p:nvPr/>
        </p:nvSpPr>
        <p:spPr>
          <a:xfrm>
            <a:off x="685800" y="1234440"/>
            <a:ext cx="5135728" cy="3388233"/>
          </a:xfrm>
          <a:prstGeom prst="rect">
            <a:avLst/>
          </a:prstGeom>
          <a:noFill/>
          <a:ln/>
        </p:spPr>
        <p:txBody>
          <a:bodyPr wrap="square" lIns="0" tIns="0" rIns="0" bIns="0" rtlCol="0" anchor="t"/>
          <a:lstStyle/>
          <a:p>
            <a:pPr indent="0" marL="0">
              <a:spcAft>
                <a:spcPts val="300"/>
              </a:spcAft>
              <a:buNone/>
            </a:pPr>
            <a:r>
              <a:rPr lang="en-US" sz="1050" b="1" dirty="0">
                <a:solidFill>
                  <a:srgbClr val="B3402A"/>
                </a:solidFill>
                <a:latin typeface="Calibri" pitchFamily="34" charset="0"/>
                <a:ea typeface="Calibri" pitchFamily="34" charset="-122"/>
                <a:cs typeface="Calibri" pitchFamily="34" charset="-120"/>
              </a:rPr>
              <a:t>RC 06  ·  BUKIT MERTAJAM  ·  OCT  ·  63.75</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HONG  ·  Consultant HONEY  ·  Therapist TAN YE YING  ·  CSC/CSR YU TING</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Expensive</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Follow-up note: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会和honey 讨论怎么去找到顾客的需求，重点放在价值而不是价格</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Overall Experience</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Overall, the experience was good and comfortable. The doctor was professional and explained the treatment appropriately, which gave me confidence during the consultation. The treatment experience was also pleasant, and I could notice some improvement on my face after the treatment. However, I feel that the results still need to be monitored over a longer period to determine whether the improvement is consistent and significant.</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Package &amp; Pricing</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The package price feels relatively expensive compared with the overall experience and expected results. I think the package information and pricing could be presented in a more transparent and straightforward way, so customers can have a clearer understanding of what is included before making a decision.</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If a customer is not satisfied with a previous offer or package, it may be better to discuss the customer's concerns and expectations first rather than simply providing additional offers or incentives. This would make the package discussion feel more genuine and customer-focused.</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Hygiene &amp; Service</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For hygiene purposes, I would suggest changing the blanket for every customer. Since the blanket comes into direct contact with different customers during treatment, using a fresh blanket for each customer would provide a greater sense of cleanliness and comfort.</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Overall Impression</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Despite the concerns regarding pricing, package transparency, and hygiene, the overall experience was still positive. The doctor was professional, the service was comfortable, and some results could be seen on the face. I would consider returning or trying the treatment again in the future, but I would prefer to monitor the results first and have a clearer understanding of the package and pricing before making a longer-term commitment.</a:t>
            </a:r>
            <a:endParaRPr lang="en-US" sz="1050" dirty="0"/>
          </a:p>
        </p:txBody>
      </p:sp>
      <p:sp>
        <p:nvSpPr>
          <p:cNvPr id="7" name="Shape 5"/>
          <p:cNvSpPr/>
          <p:nvPr/>
        </p:nvSpPr>
        <p:spPr>
          <a:xfrm>
            <a:off x="548640" y="4768977"/>
            <a:ext cx="5410048" cy="1623822"/>
          </a:xfrm>
          <a:prstGeom prst="roundRect">
            <a:avLst>
              <a:gd name="adj" fmla="val 4505"/>
            </a:avLst>
          </a:prstGeom>
          <a:solidFill>
            <a:srgbClr val="F4F8F5"/>
          </a:solidFill>
          <a:ln w="6350">
            <a:solidFill>
              <a:srgbClr val="D9E2DC"/>
            </a:solidFill>
            <a:prstDash val="solid"/>
          </a:ln>
        </p:spPr>
      </p:sp>
      <p:sp>
        <p:nvSpPr>
          <p:cNvPr id="8" name="Text 6"/>
          <p:cNvSpPr txBox="1"/>
          <p:nvPr/>
        </p:nvSpPr>
        <p:spPr>
          <a:xfrm>
            <a:off x="685800" y="4860417"/>
            <a:ext cx="5135728" cy="1477518"/>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08  ·  GURNEY  ·  OCT  ·  80.50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TAN YI WEN  ·  Consultant CHAN AI MEI  ·  Therapist MARGARET CHIN SIEW THENG  ·  CSC/CSR XINNI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友善，态度好，服务快，专业</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Need to consider</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Staff prvided good services ,smiling faces ,professional Doctor available to serve customers better. More advertisement on Facebook,tittok,Instagram and social media and do more often on road show</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Employed more Influencer for advertising UR Clinic product concern to boost up  huge volume of customer</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More UR product free gift  for customer</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Thank you</a:t>
            </a:r>
            <a:endParaRPr lang="en-US" sz="1050" dirty="0"/>
          </a:p>
        </p:txBody>
      </p:sp>
      <p:sp>
        <p:nvSpPr>
          <p:cNvPr id="9" name="Shape 7"/>
          <p:cNvSpPr/>
          <p:nvPr/>
        </p:nvSpPr>
        <p:spPr>
          <a:xfrm>
            <a:off x="6233008" y="1143000"/>
            <a:ext cx="5410048" cy="1623822"/>
          </a:xfrm>
          <a:prstGeom prst="roundRect">
            <a:avLst>
              <a:gd name="adj" fmla="val 4505"/>
            </a:avLst>
          </a:prstGeom>
          <a:solidFill>
            <a:srgbClr val="F4F8F5"/>
          </a:solidFill>
          <a:ln w="6350">
            <a:solidFill>
              <a:srgbClr val="D9E2DC"/>
            </a:solidFill>
            <a:prstDash val="solid"/>
          </a:ln>
        </p:spPr>
      </p:sp>
      <p:sp>
        <p:nvSpPr>
          <p:cNvPr id="10" name="Text 8"/>
          <p:cNvSpPr txBox="1"/>
          <p:nvPr/>
        </p:nvSpPr>
        <p:spPr>
          <a:xfrm>
            <a:off x="6370168" y="1234440"/>
            <a:ext cx="5135728" cy="1477518"/>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09  ·  SS2  ·  OCT  ·  90.50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EUNICE  ·  Consultant TANG SIM MEI  ·  Therapist JESSIE (LAU JIA CHYI)  ·  CSC/CSR EVELYN</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Very friendly and helpful, especially when I asked more questions to clear my doubt, she has been replying quickly with relevant info</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Expensive, but may consider when my cash flow is higher</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All the staff are very professional and friendly, with clear guidance on where to go and what will happen next to ensure little to none waiting. Treatments were comfortable and Doctor Eunice minimized the discomfort by explaining what is the treatment about and how it works. Environment overall is very good, perhaps the only thing to improve is aircon, can be colder, and also when the aircon is on, need to make sure the air is not directly blowing on client’s face. But overall, really satisfied!</a:t>
            </a:r>
            <a:endParaRPr lang="en-US" sz="1050" dirty="0"/>
          </a:p>
        </p:txBody>
      </p:sp>
      <p:sp>
        <p:nvSpPr>
          <p:cNvPr id="11" name="Shape 9"/>
          <p:cNvSpPr/>
          <p:nvPr/>
        </p:nvSpPr>
        <p:spPr>
          <a:xfrm>
            <a:off x="6233008" y="2858262"/>
            <a:ext cx="5410048" cy="1878584"/>
          </a:xfrm>
          <a:prstGeom prst="roundRect">
            <a:avLst>
              <a:gd name="adj" fmla="val 3894"/>
            </a:avLst>
          </a:prstGeom>
          <a:solidFill>
            <a:srgbClr val="F4F8F5"/>
          </a:solidFill>
          <a:ln w="6350">
            <a:solidFill>
              <a:srgbClr val="D9E2DC"/>
            </a:solidFill>
            <a:prstDash val="solid"/>
          </a:ln>
        </p:spPr>
      </p:sp>
      <p:sp>
        <p:nvSpPr>
          <p:cNvPr id="12" name="Text 10"/>
          <p:cNvSpPr txBox="1"/>
          <p:nvPr/>
        </p:nvSpPr>
        <p:spPr>
          <a:xfrm>
            <a:off x="6370168" y="2949702"/>
            <a:ext cx="5135728" cy="1732280"/>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10  ·  MOUNT AUSTIN  ·  OCT  ·  87.25</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TAI LILY  ·  Consultant LEW PEI SHIN  ·  Therapist OOI THING YIK  ·  CSC/CSR GRACEYY</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客服小姐姐很好！我安排了appointment的时间后想要换时间，她有帮我check了，但是没有slot了。不过去的前一天，她提醒了我隔天的appointment，还有发现有空的下午slot，问我要不要换，最后帮我换了时间，态度回复速度都好很快！</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还想看后续1-2星期后的效果</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环境舒适干净卫生</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一进门接待也让人觉得亲切！</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医生也很专业 问的问题都有解答到</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在介绍配套的时候也不会一直hardsell</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整体下来感受都蛮好的</a:t>
            </a:r>
            <a:endParaRPr lang="en-US" sz="1050" dirty="0"/>
          </a:p>
          <a:p>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只是动线可以再改善一点，不用跑上跑下，因为consultation room在楼下，机器那些又在楼上</a:t>
            </a:r>
            <a:endParaRPr lang="en-US" sz="1050" dirty="0"/>
          </a:p>
        </p:txBody>
      </p:sp>
      <p:sp>
        <p:nvSpPr>
          <p:cNvPr id="13" name="Shape 11"/>
          <p:cNvSpPr/>
          <p:nvPr/>
        </p:nvSpPr>
        <p:spPr>
          <a:xfrm>
            <a:off x="6233008" y="4828286"/>
            <a:ext cx="5410048" cy="1623822"/>
          </a:xfrm>
          <a:prstGeom prst="roundRect">
            <a:avLst>
              <a:gd name="adj" fmla="val 4505"/>
            </a:avLst>
          </a:prstGeom>
          <a:solidFill>
            <a:srgbClr val="F4F8F5"/>
          </a:solidFill>
          <a:ln w="6350">
            <a:solidFill>
              <a:srgbClr val="D9E2DC"/>
            </a:solidFill>
            <a:prstDash val="solid"/>
          </a:ln>
        </p:spPr>
      </p:sp>
      <p:sp>
        <p:nvSpPr>
          <p:cNvPr id="14" name="Text 12"/>
          <p:cNvSpPr txBox="1"/>
          <p:nvPr/>
        </p:nvSpPr>
        <p:spPr>
          <a:xfrm>
            <a:off x="6370168" y="4919726"/>
            <a:ext cx="5135728" cy="1477518"/>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12  ·  RAJA UDA  ·  OCT  ·  98.00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DR.ROZANNE  ·  Consultant YY  ·  Therapist UN MIN QIN (SAFENIE)  ·  CSC/CSR GING HUI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Good service, friendly staff and quick responses. Thank you for your help!</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The treatment package is a bit too expensive for my budget. I would consider it if there were more affordable options or promotions.</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The staff were friendly, professional and helpful throughout my visit. The service was good, and the clinic environment was comfortable. However, the treatment package is quite expensive for my budget. I hope the clinic can offer more affordable packages, promotions and flexible treatment options in the future. This would make the treatments more accessible to customers. Overall, I appreciate the service and hope to visit again when there is a suitable package available.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457200"/>
          </a:xfrm>
          <a:prstGeom prst="rect">
            <a:avLst/>
          </a:prstGeom>
          <a:noFill/>
          <a:ln/>
        </p:spPr>
        <p:txBody>
          <a:bodyPr wrap="square" lIns="0" tIns="0" rIns="0" bIns="0" rtlCol="0" anchor="ctr"/>
          <a:lstStyle/>
          <a:p>
            <a:pPr indent="0" marL="0">
              <a:buNone/>
            </a:pPr>
            <a:r>
              <a:rPr lang="en-US" sz="2400" b="1" dirty="0">
                <a:solidFill>
                  <a:srgbClr val="245C45"/>
                </a:solidFill>
                <a:latin typeface="Calibri" pitchFamily="34" charset="0"/>
                <a:ea typeface="Calibri" pitchFamily="34" charset="-122"/>
                <a:cs typeface="Calibri" pitchFamily="34" charset="-120"/>
              </a:rPr>
              <a:t>Appendix · Original RC comments (3/3)</a:t>
            </a:r>
            <a:endParaRPr lang="en-US" sz="2400" dirty="0"/>
          </a:p>
        </p:txBody>
      </p:sp>
      <p:sp>
        <p:nvSpPr>
          <p:cNvPr id="3" name="Text 1"/>
          <p:cNvSpPr txBox="1"/>
          <p:nvPr/>
        </p:nvSpPr>
        <p:spPr>
          <a:xfrm>
            <a:off x="548640" y="749808"/>
            <a:ext cx="8229600" cy="274320"/>
          </a:xfrm>
          <a:prstGeom prst="rect">
            <a:avLst/>
          </a:prstGeom>
          <a:noFill/>
          <a:ln/>
        </p:spPr>
        <p:txBody>
          <a:bodyPr wrap="square" lIns="0" tIns="0" rIns="0" bIns="0" rtlCol="0" anchor="t"/>
          <a:lstStyle/>
          <a:p>
            <a:pPr indent="0" marL="0">
              <a:buNone/>
            </a:pPr>
            <a:r>
              <a:rPr lang="en-US" sz="1200" dirty="0">
                <a:solidFill>
                  <a:srgbClr val="5E6B64"/>
                </a:solidFill>
                <a:latin typeface="Calibri" pitchFamily="34" charset="0"/>
                <a:ea typeface="Calibri" pitchFamily="34" charset="-122"/>
                <a:cs typeface="Calibri" pitchFamily="34" charset="-120"/>
              </a:rPr>
              <a:t>Full shopper feedback as received, with the staff assigned to each visit</a:t>
            </a:r>
            <a:endParaRPr lang="en-US" sz="1200" dirty="0"/>
          </a:p>
        </p:txBody>
      </p:sp>
      <p:sp>
        <p:nvSpPr>
          <p:cNvPr id="4" name="Text 2"/>
          <p:cNvSpPr txBox="1"/>
          <p:nvPr/>
        </p:nvSpPr>
        <p:spPr>
          <a:xfrm>
            <a:off x="11094415" y="6565392"/>
            <a:ext cx="548640" cy="201168"/>
          </a:xfrm>
          <a:prstGeom prst="rect">
            <a:avLst/>
          </a:prstGeom>
          <a:noFill/>
          <a:ln/>
        </p:spPr>
        <p:txBody>
          <a:bodyPr wrap="square" lIns="0" tIns="0" rIns="0" bIns="0" rtlCol="0" anchor="t"/>
          <a:lstStyle/>
          <a:p>
            <a:pPr algn="r" indent="0" marL="0">
              <a:buNone/>
            </a:pPr>
            <a:r>
              <a:rPr lang="en-US" sz="1000" dirty="0">
                <a:solidFill>
                  <a:srgbClr val="9AA59F"/>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143000"/>
            <a:ext cx="5410048" cy="2388108"/>
          </a:xfrm>
          <a:prstGeom prst="roundRect">
            <a:avLst>
              <a:gd name="adj" fmla="val 3063"/>
            </a:avLst>
          </a:prstGeom>
          <a:solidFill>
            <a:srgbClr val="F4F8F5"/>
          </a:solidFill>
          <a:ln w="6350">
            <a:solidFill>
              <a:srgbClr val="D9E2DC"/>
            </a:solidFill>
            <a:prstDash val="solid"/>
          </a:ln>
        </p:spPr>
      </p:sp>
      <p:sp>
        <p:nvSpPr>
          <p:cNvPr id="6" name="Text 4"/>
          <p:cNvSpPr txBox="1"/>
          <p:nvPr/>
        </p:nvSpPr>
        <p:spPr>
          <a:xfrm>
            <a:off x="685800" y="1234440"/>
            <a:ext cx="5135728" cy="2241804"/>
          </a:xfrm>
          <a:prstGeom prst="rect">
            <a:avLst/>
          </a:prstGeom>
          <a:noFill/>
          <a:ln/>
        </p:spPr>
        <p:txBody>
          <a:bodyPr wrap="square" lIns="0" tIns="0" rIns="0" bIns="0" rtlCol="0" anchor="t"/>
          <a:lstStyle/>
          <a:p>
            <a:pPr indent="0" marL="0">
              <a:spcAft>
                <a:spcPts val="300"/>
              </a:spcAft>
              <a:buNone/>
            </a:pPr>
            <a:r>
              <a:rPr lang="en-US" sz="1050" b="1" dirty="0">
                <a:solidFill>
                  <a:srgbClr val="B3402A"/>
                </a:solidFill>
                <a:latin typeface="Calibri" pitchFamily="34" charset="0"/>
                <a:ea typeface="Calibri" pitchFamily="34" charset="-122"/>
                <a:cs typeface="Calibri" pitchFamily="34" charset="-120"/>
              </a:rPr>
              <a:t>RC 11  ·  MOUNT AUSTIN  ·  OCT  ·  65.00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JJ  ·  Consultant LEE JIA YI (JASYE)  ·  Therapist JESSY TEE  ·  CSC/CSR EVELYN</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协调时间很积极 但是建议提醒顾客不要用打电话 信息顾客就好 像我是超讨厌call的 所以提醒顾客预订时间不要打电话不要打电话不要打电话！</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想买 但是价钱还是太高 作为一个学生 有点压力 可能经济自由后会考虑</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不要打电话 不要打电话 不要打电话！</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建议可以准备一次性拖鞋（可以让顾客自行选择要一次性还是塑胶拖鞋</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医生在开始前 可以show一下机器的实物看一下酱紫顾客有一个概念</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冷气虽然有调但是我更建议直接问顾客需要多少度 </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因为第一次我说冷 调了过后变房间不冷掉</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但是我说不冷后冷气又太冷了</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然后第二次测皮肤的时候3个定位点都忘记消毒 第一次测的时候只消毒了下巴位置</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护肤最后的时候涂太多次眼睛 导致眼睛干涩很不舒服</a:t>
            </a:r>
            <a:endParaRPr lang="en-US" sz="1050" dirty="0"/>
          </a:p>
          <a:p>
            <a:pPr indent="0" marL="0">
              <a:buNone/>
            </a:pPr>
            <a:r>
              <a:rPr lang="en-US" sz="850" dirty="0">
                <a:solidFill>
                  <a:srgbClr val="1F2A24"/>
                </a:solidFill>
                <a:latin typeface="Microsoft YaHei" pitchFamily="34" charset="0"/>
                <a:ea typeface="Microsoft YaHei" pitchFamily="34" charset="-122"/>
                <a:cs typeface="Microsoft YaHei" pitchFamily="34" charset="-120"/>
              </a:rPr>
              <a:t>等待区可以设矿泉水或者饮水机</a:t>
            </a:r>
            <a:endParaRPr lang="en-US" sz="1050" dirty="0"/>
          </a:p>
          <a:p>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因为从一开始进去等 到填信息这段期间 再到带进检测皮肤这一段时间还是挺长的 外面的冷气也挺足 口挺干的 红枣茶是跟医生咨询的时候才拿来 但是那个时候很烫 根本不适合入口 好喝是好喝 但是有点甜</a:t>
            </a:r>
            <a:endParaRPr lang="en-US" sz="1050" dirty="0"/>
          </a:p>
        </p:txBody>
      </p:sp>
      <p:sp>
        <p:nvSpPr>
          <p:cNvPr id="7" name="Shape 5"/>
          <p:cNvSpPr/>
          <p:nvPr/>
        </p:nvSpPr>
        <p:spPr>
          <a:xfrm>
            <a:off x="548640" y="3622548"/>
            <a:ext cx="5410048" cy="1878584"/>
          </a:xfrm>
          <a:prstGeom prst="roundRect">
            <a:avLst>
              <a:gd name="adj" fmla="val 3894"/>
            </a:avLst>
          </a:prstGeom>
          <a:solidFill>
            <a:srgbClr val="F4F8F5"/>
          </a:solidFill>
          <a:ln w="6350">
            <a:solidFill>
              <a:srgbClr val="D9E2DC"/>
            </a:solidFill>
            <a:prstDash val="solid"/>
          </a:ln>
        </p:spPr>
      </p:sp>
      <p:sp>
        <p:nvSpPr>
          <p:cNvPr id="8" name="Text 6"/>
          <p:cNvSpPr txBox="1"/>
          <p:nvPr/>
        </p:nvSpPr>
        <p:spPr>
          <a:xfrm>
            <a:off x="685800" y="3713988"/>
            <a:ext cx="5135728" cy="1732280"/>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13  ·  CHERAS LEISURE MALL  ·  OCT  ·  96.00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SONIA  ·  Consultant KETTY  ·  Therapist CASSIE HO YEN TONG  ·  CSC/CSR IRENE</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Very professional</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Still considering, I will purchase the treatment package recommended by Dr Sonia in the future.</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Doctor Sonia and aesthetic nurses demonstrate high clinical expertise. consultation are thorough, treatment are explained clearly and professional.</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For service attitude, front desk staff are consistently warm, polite and patient when welcoming customer.</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The clinic management provided a smooth appointment scheduling and send timely automated reminders a day before actual day.</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For environment, treatment room and equipment are impeccably clean and sterile.</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The overall clinic environment create a calming and stress free environment for customers.</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Overall a good experience with UR. Highly recommended to my friend and family.</a:t>
            </a:r>
            <a:endParaRPr lang="en-US" sz="1050" dirty="0"/>
          </a:p>
        </p:txBody>
      </p:sp>
      <p:sp>
        <p:nvSpPr>
          <p:cNvPr id="9" name="Shape 7"/>
          <p:cNvSpPr/>
          <p:nvPr/>
        </p:nvSpPr>
        <p:spPr>
          <a:xfrm>
            <a:off x="6233008" y="1143000"/>
            <a:ext cx="5410048" cy="1369060"/>
          </a:xfrm>
          <a:prstGeom prst="roundRect">
            <a:avLst>
              <a:gd name="adj" fmla="val 5343"/>
            </a:avLst>
          </a:prstGeom>
          <a:solidFill>
            <a:srgbClr val="F4F8F5"/>
          </a:solidFill>
          <a:ln w="6350">
            <a:solidFill>
              <a:srgbClr val="D9E2DC"/>
            </a:solidFill>
            <a:prstDash val="solid"/>
          </a:ln>
        </p:spPr>
      </p:sp>
      <p:sp>
        <p:nvSpPr>
          <p:cNvPr id="10" name="Text 8"/>
          <p:cNvSpPr txBox="1"/>
          <p:nvPr/>
        </p:nvSpPr>
        <p:spPr>
          <a:xfrm>
            <a:off x="6370168" y="1234440"/>
            <a:ext cx="5135728" cy="1222756"/>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14  ·  RAJA UDA  ·  OCT  ·  97.50</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DR.ROZANNE  ·  Consultant VENUE  ·  Therapist UN MIN QIN (SAFENIE)  ·  CSC/CSR GING HUI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非常好，又细心有礼貌💞</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暂时还不会,价格已超出预算。 感谢昨天所有为我I服务的工作人员细心呵护与美女医生的細心讲解💞</a:t>
            </a:r>
            <a:endParaRPr lang="en-US" sz="1050" dirty="0"/>
          </a:p>
          <a:p>
            <a:pPr indent="0" marL="0">
              <a:spcAft>
                <a:spcPts val="300"/>
              </a:spcAft>
              <a:buNone/>
            </a:pPr>
            <a:r>
              <a:rPr lang="en-US" sz="850" dirty="0">
                <a:solidFill>
                  <a:srgbClr val="1F2A24"/>
                </a:solidFill>
                <a:latin typeface="Microsoft YaHei" pitchFamily="34" charset="0"/>
                <a:ea typeface="Microsoft YaHei" pitchFamily="34" charset="-122"/>
                <a:cs typeface="Microsoft YaHei" pitchFamily="34" charset="-120"/>
              </a:rPr>
              <a:t>这里的整体体验非常优秀！医生专业度极高，解答非常细致耐心，让人感觉安心又踏实。服务态度亲切周到，从进门接待到整个流程都非常顺畅。诊所环境干净整洁、温馨舒适，运营细节也处理得很到位,非常值得信赖♥️</a:t>
            </a:r>
            <a:endParaRPr lang="en-US" sz="1050" dirty="0"/>
          </a:p>
        </p:txBody>
      </p:sp>
      <p:sp>
        <p:nvSpPr>
          <p:cNvPr id="11" name="Shape 9"/>
          <p:cNvSpPr/>
          <p:nvPr/>
        </p:nvSpPr>
        <p:spPr>
          <a:xfrm>
            <a:off x="6233008" y="2603500"/>
            <a:ext cx="5410048" cy="1369060"/>
          </a:xfrm>
          <a:prstGeom prst="roundRect">
            <a:avLst>
              <a:gd name="adj" fmla="val 5343"/>
            </a:avLst>
          </a:prstGeom>
          <a:solidFill>
            <a:srgbClr val="F4F8F5"/>
          </a:solidFill>
          <a:ln w="6350">
            <a:solidFill>
              <a:srgbClr val="D9E2DC"/>
            </a:solidFill>
            <a:prstDash val="solid"/>
          </a:ln>
        </p:spPr>
      </p:sp>
      <p:sp>
        <p:nvSpPr>
          <p:cNvPr id="12" name="Text 10"/>
          <p:cNvSpPr txBox="1"/>
          <p:nvPr/>
        </p:nvSpPr>
        <p:spPr>
          <a:xfrm>
            <a:off x="6370168" y="2694940"/>
            <a:ext cx="5135728" cy="1222756"/>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15  ·  GREENLANE  ·  OCT  ·  73.25</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 CHERYL  ·  Consultant JANICE  ·  Therapist YUNNY (ANG YUN QI)  ·  CSC/CSR EVELYN</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Polite , attentive &amp; excellent service</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Over my budget</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The clinic provides skin treatment services in a pleasant and cozy environment. Staff are encouraged to maintain a friendly, professional attitude and offer personalised advice without making customers feel pressured to purchase additional treatment or products. A more relaxed customer approach would help clients feel comfortable , valued and confident in returning.</a:t>
            </a:r>
            <a:endParaRPr lang="en-US" sz="1050" dirty="0"/>
          </a:p>
        </p:txBody>
      </p:sp>
      <p:sp>
        <p:nvSpPr>
          <p:cNvPr id="13" name="Shape 11"/>
          <p:cNvSpPr/>
          <p:nvPr/>
        </p:nvSpPr>
        <p:spPr>
          <a:xfrm>
            <a:off x="6233008" y="4064000"/>
            <a:ext cx="5410048" cy="1878584"/>
          </a:xfrm>
          <a:prstGeom prst="roundRect">
            <a:avLst>
              <a:gd name="adj" fmla="val 3894"/>
            </a:avLst>
          </a:prstGeom>
          <a:solidFill>
            <a:srgbClr val="F4F8F5"/>
          </a:solidFill>
          <a:ln w="6350">
            <a:solidFill>
              <a:srgbClr val="D9E2DC"/>
            </a:solidFill>
            <a:prstDash val="solid"/>
          </a:ln>
        </p:spPr>
      </p:sp>
      <p:sp>
        <p:nvSpPr>
          <p:cNvPr id="14" name="Text 12"/>
          <p:cNvSpPr txBox="1"/>
          <p:nvPr/>
        </p:nvSpPr>
        <p:spPr>
          <a:xfrm>
            <a:off x="6370168" y="4155440"/>
            <a:ext cx="5135728" cy="1732280"/>
          </a:xfrm>
          <a:prstGeom prst="rect">
            <a:avLst/>
          </a:prstGeom>
          <a:noFill/>
          <a:ln/>
        </p:spPr>
        <p:txBody>
          <a:bodyPr wrap="square" lIns="0" tIns="0" rIns="0" bIns="0" rtlCol="0" anchor="t"/>
          <a:lstStyle/>
          <a:p>
            <a:pPr indent="0" marL="0">
              <a:spcAft>
                <a:spcPts val="300"/>
              </a:spcAft>
              <a:buNone/>
            </a:pPr>
            <a:r>
              <a:rPr lang="en-US" sz="1050" b="1" dirty="0">
                <a:solidFill>
                  <a:srgbClr val="245C45"/>
                </a:solidFill>
                <a:latin typeface="Calibri" pitchFamily="34" charset="0"/>
                <a:ea typeface="Calibri" pitchFamily="34" charset="-122"/>
                <a:cs typeface="Calibri" pitchFamily="34" charset="-120"/>
              </a:rPr>
              <a:t>RC 16  ·  GREENLANE  ·  OCT  ·  82.75</a:t>
            </a:r>
            <a:endParaRPr lang="en-US" sz="1050" dirty="0"/>
          </a:p>
          <a:p>
            <a:pPr indent="0" marL="0">
              <a:spcAft>
                <a:spcPts val="300"/>
              </a:spcAft>
              <a:buNone/>
            </a:pPr>
            <a:r>
              <a:rPr lang="en-US" sz="850" dirty="0">
                <a:solidFill>
                  <a:srgbClr val="5E6B64"/>
                </a:solidFill>
                <a:latin typeface="Calibri" pitchFamily="34" charset="0"/>
                <a:ea typeface="Calibri" pitchFamily="34" charset="-122"/>
                <a:cs typeface="Calibri" pitchFamily="34" charset="-120"/>
              </a:rPr>
              <a:t>Doctor DR.MICHELLE  ·  Consultant STELLA  ·  Therapist TIFFANY (CHENG ZHI EN)  ·  CSC/CSR XINNI</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Service: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Booking was accurate and with WhatsApp confirmation and reminders</a:t>
            </a:r>
            <a:endParaRPr lang="en-US" sz="1050" dirty="0"/>
          </a:p>
          <a:p>
            <a:pPr indent="0" marL="0">
              <a:buNone/>
            </a:pPr>
            <a:r>
              <a:rPr lang="en-US" sz="850" b="1" dirty="0">
                <a:solidFill>
                  <a:srgbClr val="245C45"/>
                </a:solidFill>
                <a:latin typeface="Calibri" pitchFamily="34" charset="0"/>
                <a:ea typeface="Calibri" pitchFamily="34" charset="-122"/>
                <a:cs typeface="Calibri" pitchFamily="34" charset="-120"/>
              </a:rPr>
              <a:t>Package: </a:t>
            </a:r>
            <a:pPr indent="0" marL="0">
              <a:spcAft>
                <a:spcPts val="300"/>
              </a:spcAft>
              <a:buNone/>
            </a:pPr>
            <a:r>
              <a:rPr lang="en-US" sz="850" dirty="0">
                <a:solidFill>
                  <a:srgbClr val="1F2A24"/>
                </a:solidFill>
                <a:latin typeface="Calibri" pitchFamily="34" charset="0"/>
                <a:ea typeface="Calibri" pitchFamily="34" charset="-122"/>
                <a:cs typeface="Calibri" pitchFamily="34" charset="-120"/>
              </a:rPr>
              <a:t>It is affordable but with that price I have other priorities</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I had a generally great experience during my recent visit to UR Klinik. The booking process was accurate, complete with helpful follow-ups prior to the appointment. On the day itself, I was greeted warmly upon arriving.</a:t>
            </a:r>
            <a:endParaRPr lang="en-US" sz="1050" dirty="0"/>
          </a:p>
          <a:p>
            <a:pPr indent="0" marL="0">
              <a:buNone/>
            </a:pPr>
            <a:r>
              <a:rPr lang="en-US" sz="850" dirty="0">
                <a:solidFill>
                  <a:srgbClr val="1F2A24"/>
                </a:solidFill>
                <a:latin typeface="Calibri" pitchFamily="34" charset="0"/>
                <a:ea typeface="Calibri" pitchFamily="34" charset="-122"/>
                <a:cs typeface="Calibri" pitchFamily="34" charset="-120"/>
              </a:rPr>
              <a:t>The consultant who attended to me was very professional and attentive, and the therapist was excellent—striking just the right amount of pleasant small talk throughout the session. The doctor was also highly professional, truly understood my needs, and explained everything in clear detail at a level that was easy to digest.</a:t>
            </a:r>
            <a:endParaRPr lang="en-US" sz="1050" dirty="0"/>
          </a:p>
          <a:p>
            <a:pPr indent="0" marL="0">
              <a:spcAft>
                <a:spcPts val="300"/>
              </a:spcAft>
              <a:buNone/>
            </a:pPr>
            <a:r>
              <a:rPr lang="en-US" sz="850" dirty="0">
                <a:solidFill>
                  <a:srgbClr val="1F2A24"/>
                </a:solidFill>
                <a:latin typeface="Calibri" pitchFamily="34" charset="0"/>
                <a:ea typeface="Calibri" pitchFamily="34" charset="-122"/>
                <a:cs typeface="Calibri" pitchFamily="34" charset="-120"/>
              </a:rPr>
              <a:t>While the packages offered are reasonable for what they provide, I ultimately decided to hold off as I’d personally rather put that budget toward a week-long vacation in Japan with my wife! Overall, top-notch service and care from the whole team.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UR Klinik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Mystery Shopper Review — September–October 2026</dc:title>
  <dc:subject>PptxGenJS Presentation</dc:subject>
  <dc:creator>PptxGenJS</dc:creator>
  <cp:lastModifiedBy>PptxGenJS</cp:lastModifiedBy>
  <cp:revision>1</cp:revision>
  <dcterms:created xsi:type="dcterms:W3CDTF">2026-10-12T11:08:11Z</dcterms:created>
  <dcterms:modified xsi:type="dcterms:W3CDTF">2026-10-12T11:08:11Z</dcterms:modified>
</cp:coreProperties>
</file>