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9D6E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CE8F2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77.5</c:v>
                </c:pt>
                <c:pt idx="1">
                  <c:v>22.5</c:v>
                </c:pt>
              </c:numCache>
            </c:numRef>
          </c:val>
        </c:ser>
        <c:firstSliceAng val="0"/>
        <c:holeSize val="77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8F1E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CE8F2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93.25</c:v>
                </c:pt>
                <c:pt idx="1">
                  <c:v>6.75</c:v>
                </c:pt>
              </c:numCache>
            </c:numRef>
          </c:val>
        </c:ser>
        <c:firstSliceAng val="0"/>
        <c:holeSize val="77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D5C7B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CE8F2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66.75</c:v>
                </c:pt>
                <c:pt idx="1">
                  <c:v>33.25</c:v>
                </c:pt>
              </c:numCache>
            </c:numRef>
          </c:val>
        </c:ser>
        <c:firstSliceAng val="0"/>
        <c:holeSize val="77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9D6E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CE8F2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77.5</c:v>
                </c:pt>
                <c:pt idx="1">
                  <c:v>22.5</c:v>
                </c:pt>
              </c:numCache>
            </c:numRef>
          </c:val>
        </c:ser>
        <c:firstSliceAng val="0"/>
        <c:holeSize val="77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08F1E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CE8F2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93.25</c:v>
                </c:pt>
                <c:pt idx="1">
                  <c:v>6.75</c:v>
                </c:pt>
              </c:numCache>
            </c:numRef>
          </c:val>
        </c:ser>
        <c:firstSliceAng val="0"/>
        <c:holeSize val="77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2"/>
          <c:y val="0.02"/>
          <c:w val="0.96"/>
          <c:h val="0.96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D5C7B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CE8F2"/>
              </a:solidFill>
              <a:ln w="6350" cap="flat">
                <a:solidFill>
                  <a:srgbClr val="ECE8F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Score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66.75</c:v>
                </c:pt>
                <c:pt idx="1">
                  <c:v>33.25</c:v>
                </c:pt>
              </c:numCache>
            </c:numRef>
          </c:val>
        </c:ser>
        <c:firstSliceAng val="0"/>
        <c:holeSize val="77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9DB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9DB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3" Type="http://schemas.openxmlformats.org/officeDocument/2006/relationships/image" Target="../media/image-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image" Target="../media/image-3-5.png"/><Relationship Id="rId7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8.png"/><Relationship Id="rId10" Type="http://schemas.openxmlformats.org/officeDocument/2006/relationships/image" Target="../media/image-3-9.png"/><Relationship Id="rId11" Type="http://schemas.openxmlformats.org/officeDocument/2006/relationships/image" Target="../media/image-3-10.png"/><Relationship Id="rId12" Type="http://schemas.openxmlformats.org/officeDocument/2006/relationships/image" Target="../media/image-3-11.png"/><Relationship Id="rId13" Type="http://schemas.openxmlformats.org/officeDocument/2006/relationships/image" Target="../media/image-3-12.png"/><Relationship Id="rId14" Type="http://schemas.openxmlformats.org/officeDocument/2006/relationships/image" Target="../media/image-3-13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Relationship Id="rId10" Type="http://schemas.openxmlformats.org/officeDocument/2006/relationships/image" Target="../media/image-4-9.png"/><Relationship Id="rId11" Type="http://schemas.openxmlformats.org/officeDocument/2006/relationships/image" Target="../media/image-4-10.png"/><Relationship Id="rId12" Type="http://schemas.openxmlformats.org/officeDocument/2006/relationships/image" Target="../media/image-4-11.png"/><Relationship Id="rId13" Type="http://schemas.openxmlformats.org/officeDocument/2006/relationships/image" Target="../media/image-4-12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image" Target="../media/image-5-4.png"/><Relationship Id="rId6" Type="http://schemas.openxmlformats.org/officeDocument/2006/relationships/image" Target="../media/image-5-5.png"/><Relationship Id="rId7" Type="http://schemas.openxmlformats.org/officeDocument/2006/relationships/image" Target="../media/image-5-6.png"/><Relationship Id="rId8" Type="http://schemas.openxmlformats.org/officeDocument/2006/relationships/image" Target="../media/image-5-7.png"/><Relationship Id="rId9" Type="http://schemas.openxmlformats.org/officeDocument/2006/relationships/image" Target="../media/image-5-8.png"/><Relationship Id="rId10" Type="http://schemas.openxmlformats.org/officeDocument/2006/relationships/image" Target="../media/image-5-9.png"/><Relationship Id="rId11" Type="http://schemas.openxmlformats.org/officeDocument/2006/relationships/image" Target="../media/image-5-10.png"/><Relationship Id="rId12" Type="http://schemas.openxmlformats.org/officeDocument/2006/relationships/image" Target="../media/image-5-11.png"/><Relationship Id="rId13" Type="http://schemas.openxmlformats.org/officeDocument/2006/relationships/image" Target="../media/image-5-12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 KLINIK  ·  CUSTOMER EXPERIENCE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 Shopper Results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40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outlets  ·  3 real customer experiences  ·  actual third-party feedback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4584" y="3063240"/>
            <a:ext cx="3474720" cy="3246120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4584" y="3319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2A9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GREENLANE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1286104" y="374904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1286104" y="4480560"/>
            <a:ext cx="2011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77.5</a:t>
            </a:r>
            <a:endParaRPr lang="en-US" sz="3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100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554584" y="5852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 Shopper Score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58488" y="3063240"/>
            <a:ext cx="3474720" cy="3246120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58488" y="3319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E08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PUCHONG</a:t>
            </a:r>
            <a:endParaRPr lang="en-US" sz="15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5090008" y="374904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5090008" y="4480560"/>
            <a:ext cx="2011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93.25</a:t>
            </a:r>
            <a:endParaRPr lang="en-US" sz="3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100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4358488" y="5852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 Shopper Score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324448" y="2871216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5B84A"/>
          </a:solidFill>
          <a:ln w="12700">
            <a:solidFill>
              <a:srgbClr val="F5B84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2464" y="2962656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708496" y="287121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score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62392" y="3063240"/>
            <a:ext cx="3474720" cy="3246120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162392" y="331927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DD5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CHERAS LEISURE MALL</a:t>
            </a:r>
            <a:endParaRPr lang="en-US" sz="1500" dirty="0"/>
          </a:p>
        </p:txBody>
      </p:sp>
      <p:graphicFrame>
        <p:nvGraphicFramePr>
          <p:cNvPr id="21" name="Chart 2" descr=""/>
          <p:cNvGraphicFramePr/>
          <p:nvPr/>
        </p:nvGraphicFramePr>
        <p:xfrm>
          <a:off x="8893912" y="374904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Text 16"/>
          <p:cNvSpPr txBox="1"/>
          <p:nvPr/>
        </p:nvSpPr>
        <p:spPr>
          <a:xfrm>
            <a:off x="8893912" y="4480560"/>
            <a:ext cx="20116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66.75</a:t>
            </a:r>
            <a:endParaRPr lang="en-US" sz="3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100</a:t>
            </a:r>
            <a:endParaRPr lang="en-US" sz="3000" dirty="0"/>
          </a:p>
        </p:txBody>
      </p:sp>
      <p:sp>
        <p:nvSpPr>
          <p:cNvPr id="23" name="Text 17"/>
          <p:cNvSpPr txBox="1"/>
          <p:nvPr/>
        </p:nvSpPr>
        <p:spPr>
          <a:xfrm>
            <a:off x="8162392" y="5852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 Shopper Score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September 2026 submissions are included below.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20440" cy="493776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04672" y="16916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A9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Greenlane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2971800" y="1709928"/>
            <a:ext cx="868680" cy="420624"/>
          </a:xfrm>
          <a:prstGeom prst="roundRect">
            <a:avLst>
              <a:gd name="adj" fmla="val 50000"/>
            </a:avLst>
          </a:prstGeom>
          <a:solidFill>
            <a:srgbClr val="2A9D6E"/>
          </a:solidFill>
          <a:ln w="12700">
            <a:solidFill>
              <a:srgbClr val="2A9D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71800" y="170992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77.5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04672" y="2267712"/>
            <a:ext cx="310896" cy="310896"/>
          </a:xfrm>
          <a:prstGeom prst="ellipse">
            <a:avLst/>
          </a:prstGeom>
          <a:solidFill>
            <a:srgbClr val="2A9D6E"/>
          </a:solidFill>
          <a:ln w="12700">
            <a:solidFill>
              <a:srgbClr val="2A9D6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287" y="2342327"/>
            <a:ext cx="161666" cy="16166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07008" y="226771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LOVED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2679192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equipment impressed the shopper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set gift felt thoughtful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date tea was warm and nice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organised environment; staff guided her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Sylvin was friendly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4480560"/>
            <a:ext cx="3246120" cy="1773936"/>
          </a:xfrm>
          <a:prstGeom prst="roundRect">
            <a:avLst>
              <a:gd name="adj" fmla="val 7216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2960" y="4608576"/>
            <a:ext cx="310896" cy="310896"/>
          </a:xfrm>
          <a:prstGeom prst="ellipse">
            <a:avLst/>
          </a:prstGeom>
          <a:solidFill>
            <a:srgbClr val="2A9D6E"/>
          </a:solidFill>
          <a:ln w="12700">
            <a:solidFill>
              <a:srgbClr val="2A9D6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75" y="4683191"/>
            <a:ext cx="161666" cy="16166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25296" y="46085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TO GROW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5001768"/>
            <a:ext cx="30175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could be more accessible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analysis could be improved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could be shorter; ideally within 2 hours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34256" y="1463040"/>
            <a:ext cx="3520440" cy="493776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590288" y="16916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E08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Puchong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6757416" y="1709928"/>
            <a:ext cx="868680" cy="420624"/>
          </a:xfrm>
          <a:prstGeom prst="roundRect">
            <a:avLst>
              <a:gd name="adj" fmla="val 50000"/>
            </a:avLst>
          </a:prstGeom>
          <a:solidFill>
            <a:srgbClr val="E08F1E"/>
          </a:solidFill>
          <a:ln w="12700">
            <a:solidFill>
              <a:srgbClr val="E08F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757416" y="170992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93.25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4590288" y="2267712"/>
            <a:ext cx="310896" cy="310896"/>
          </a:xfrm>
          <a:prstGeom prst="ellipse">
            <a:avLst/>
          </a:prstGeom>
          <a:solidFill>
            <a:srgbClr val="E08F1E"/>
          </a:solidFill>
          <a:ln w="12700">
            <a:solidFill>
              <a:srgbClr val="E08F1E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903" y="2342327"/>
            <a:ext cx="161666" cy="161666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992624" y="226771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6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LOVED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4590288" y="2679192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experience was very good; team was patient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explanation was better than a typical beauty clinic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clearly explained concerns, causes, improvement methods and treatment plan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was friendly, caring and explained every step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471416" y="4480560"/>
            <a:ext cx="3246120" cy="1773936"/>
          </a:xfrm>
          <a:prstGeom prst="roundRect">
            <a:avLst>
              <a:gd name="adj" fmla="val 7216"/>
            </a:avLst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608576" y="4608576"/>
            <a:ext cx="310896" cy="310896"/>
          </a:xfrm>
          <a:prstGeom prst="ellipse">
            <a:avLst/>
          </a:prstGeom>
          <a:solidFill>
            <a:srgbClr val="E08F1E"/>
          </a:solidFill>
          <a:ln w="12700">
            <a:solidFill>
              <a:srgbClr val="E08F1E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3191" y="4683191"/>
            <a:ext cx="161666" cy="16166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010912" y="46085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6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TO GROW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4608576" y="5001768"/>
            <a:ext cx="30175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 customer about simple treatment movements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eyes adjust gradually after bright light treatment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may be high for the average customer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8119872" y="1463040"/>
            <a:ext cx="3520440" cy="4937760"/>
          </a:xfrm>
          <a:prstGeom prst="roundRect">
            <a:avLst>
              <a:gd name="adj" fmla="val 46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8375904" y="169164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DD5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Cheras Leisure Mall</a:t>
            </a:r>
            <a:endParaRPr lang="en-US" sz="1900" dirty="0"/>
          </a:p>
        </p:txBody>
      </p:sp>
      <p:sp>
        <p:nvSpPr>
          <p:cNvPr id="32" name="Shape 26"/>
          <p:cNvSpPr/>
          <p:nvPr/>
        </p:nvSpPr>
        <p:spPr>
          <a:xfrm>
            <a:off x="10543032" y="1709928"/>
            <a:ext cx="868680" cy="420624"/>
          </a:xfrm>
          <a:prstGeom prst="roundRect">
            <a:avLst>
              <a:gd name="adj" fmla="val 50000"/>
            </a:avLst>
          </a:prstGeom>
          <a:solidFill>
            <a:srgbClr val="DD5C7B"/>
          </a:solidFill>
          <a:ln w="12700">
            <a:solidFill>
              <a:srgbClr val="DD5C7B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10543032" y="170992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66.75</a:t>
            </a:r>
            <a:endParaRPr lang="en-US" sz="1600" dirty="0"/>
          </a:p>
        </p:txBody>
      </p:sp>
      <p:sp>
        <p:nvSpPr>
          <p:cNvPr id="34" name="Shape 28"/>
          <p:cNvSpPr/>
          <p:nvPr/>
        </p:nvSpPr>
        <p:spPr>
          <a:xfrm>
            <a:off x="8375904" y="2267712"/>
            <a:ext cx="310896" cy="310896"/>
          </a:xfrm>
          <a:prstGeom prst="ellipse">
            <a:avLst/>
          </a:prstGeom>
          <a:solidFill>
            <a:srgbClr val="DD5C7B"/>
          </a:solidFill>
          <a:ln w="12700">
            <a:solidFill>
              <a:srgbClr val="DD5C7B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0519" y="2342327"/>
            <a:ext cx="161666" cy="161666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8778240" y="226771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LOVED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8375904" y="2679192"/>
            <a:ext cx="30632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was satisfied with the result; skin looked brighter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introduced the service / package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still saw value in the outcome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8257032" y="4480560"/>
            <a:ext cx="3246120" cy="1773936"/>
          </a:xfrm>
          <a:prstGeom prst="roundRect">
            <a:avLst>
              <a:gd name="adj" fmla="val 7216"/>
            </a:avLst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394192" y="4608576"/>
            <a:ext cx="310896" cy="310896"/>
          </a:xfrm>
          <a:prstGeom prst="ellipse">
            <a:avLst/>
          </a:prstGeom>
          <a:solidFill>
            <a:srgbClr val="DD5C7B"/>
          </a:solidFill>
          <a:ln w="12700">
            <a:solidFill>
              <a:srgbClr val="DD5C7B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8807" y="4683191"/>
            <a:ext cx="161666" cy="161666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8796528" y="46085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TO GROW</a:t>
            </a:r>
            <a:endParaRPr lang="en-US" sz="1100" dirty="0"/>
          </a:p>
        </p:txBody>
      </p:sp>
      <p:sp>
        <p:nvSpPr>
          <p:cNvPr id="42" name="Text 34"/>
          <p:cNvSpPr txBox="1"/>
          <p:nvPr/>
        </p:nvSpPr>
        <p:spPr>
          <a:xfrm>
            <a:off x="8394192" y="5001768"/>
            <a:ext cx="301752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product/package selling pressure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was not affordable; felt shocked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could be faster; less waiting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 conversation was quite loud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Prefers WhatsApp instead of direct calls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9DB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9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Greenlane</a:t>
            </a:r>
            <a:pPr indent="0" marL="0">
              <a:buNone/>
            </a:pPr>
            <a:r>
              <a:rPr lang="en-US" sz="32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full customer feedback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 ·  Mystery Shopper visit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743200" cy="4937760"/>
          </a:xfrm>
          <a:prstGeom prst="roundRect">
            <a:avLst>
              <a:gd name="adj" fmla="val 6000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 SHOPPER SCORE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148840"/>
          <a:ext cx="21031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68680" y="2907792"/>
            <a:ext cx="210312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77.5</a:t>
            </a:r>
            <a:endParaRPr lang="en-US" sz="3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100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1719072" y="4526280"/>
            <a:ext cx="402336" cy="402336"/>
          </a:xfrm>
          <a:prstGeom prst="ellipse">
            <a:avLst/>
          </a:prstGeom>
          <a:solidFill>
            <a:srgbClr val="2A9D6E"/>
          </a:solidFill>
          <a:ln w="12700">
            <a:solidFill>
              <a:srgbClr val="2A9D6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633" y="4622841"/>
            <a:ext cx="209215" cy="20921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5029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HIGHLIGHT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5303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Impressive technology + thoughtful details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3566160" y="1463040"/>
            <a:ext cx="4206240" cy="493776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840480" y="1719072"/>
            <a:ext cx="365760" cy="365760"/>
          </a:xfrm>
          <a:prstGeom prst="ellipse">
            <a:avLst/>
          </a:prstGeom>
          <a:solidFill>
            <a:srgbClr val="2A9D6E"/>
          </a:solidFill>
          <a:ln w="12700">
            <a:solidFill>
              <a:srgbClr val="2A9D6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8262" y="1806854"/>
            <a:ext cx="190195" cy="19019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5968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shopper loved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3840480" y="2331720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41" y="2428281"/>
            <a:ext cx="209215" cy="20921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07408" y="2350008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/ equipment experience was surprising and impressive.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3840480" y="3044952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7041" y="3141513"/>
            <a:ext cx="209215" cy="20921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407408" y="3063240"/>
            <a:ext cx="3136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set gift looked refined; details felt thoughtful.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840480" y="3703320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7041" y="3799881"/>
            <a:ext cx="209215" cy="20921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4407408" y="3721608"/>
            <a:ext cx="3136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date tea felt warm and comforting.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3840480" y="4251960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7041" y="4348521"/>
            <a:ext cx="209215" cy="20921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407408" y="4270248"/>
            <a:ext cx="3136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was clean, neat and well organised.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3840480" y="4910328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041" y="5006889"/>
            <a:ext cx="209215" cy="209215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407408" y="4928616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guided the shopper throughout the visit.</a:t>
            </a:r>
            <a:endParaRPr lang="en-US" sz="1300" dirty="0"/>
          </a:p>
        </p:txBody>
      </p:sp>
      <p:sp>
        <p:nvSpPr>
          <p:cNvPr id="31" name="Shape 21"/>
          <p:cNvSpPr/>
          <p:nvPr/>
        </p:nvSpPr>
        <p:spPr>
          <a:xfrm>
            <a:off x="3840480" y="5623560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7041" y="5720121"/>
            <a:ext cx="209215" cy="209215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4407408" y="5641848"/>
            <a:ext cx="3136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Sylvin was described as very friendly.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8046720" y="1463040"/>
            <a:ext cx="3593592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35" name="Shape 24"/>
          <p:cNvSpPr/>
          <p:nvPr/>
        </p:nvSpPr>
        <p:spPr>
          <a:xfrm>
            <a:off x="8321040" y="1719072"/>
            <a:ext cx="365760" cy="365760"/>
          </a:xfrm>
          <a:prstGeom prst="ellipse">
            <a:avLst/>
          </a:prstGeom>
          <a:solidFill>
            <a:srgbClr val="2A9D6E"/>
          </a:solidFill>
          <a:ln w="12700">
            <a:solidFill>
              <a:srgbClr val="2A9D6E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8822" y="1806854"/>
            <a:ext cx="190195" cy="190195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796528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to grow</a:t>
            </a:r>
            <a:endParaRPr lang="en-US" sz="1700" dirty="0"/>
          </a:p>
        </p:txBody>
      </p:sp>
      <p:sp>
        <p:nvSpPr>
          <p:cNvPr id="38" name="Shape 26"/>
          <p:cNvSpPr/>
          <p:nvPr/>
        </p:nvSpPr>
        <p:spPr>
          <a:xfrm>
            <a:off x="8321040" y="2286000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7601" y="2382561"/>
            <a:ext cx="209215" cy="209215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8887968" y="2304288"/>
            <a:ext cx="25694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could be more accessible for a wider group.</a:t>
            </a:r>
            <a:endParaRPr lang="en-US" sz="1250" dirty="0"/>
          </a:p>
        </p:txBody>
      </p:sp>
      <p:sp>
        <p:nvSpPr>
          <p:cNvPr id="41" name="Shape 28"/>
          <p:cNvSpPr/>
          <p:nvPr/>
        </p:nvSpPr>
        <p:spPr>
          <a:xfrm>
            <a:off x="8321040" y="2788920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17601" y="2885481"/>
            <a:ext cx="209215" cy="20921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8887968" y="2807208"/>
            <a:ext cx="2569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analysis still has room to improve.</a:t>
            </a:r>
            <a:endParaRPr lang="en-US" sz="1250" dirty="0"/>
          </a:p>
        </p:txBody>
      </p:sp>
      <p:sp>
        <p:nvSpPr>
          <p:cNvPr id="44" name="Shape 30"/>
          <p:cNvSpPr/>
          <p:nvPr/>
        </p:nvSpPr>
        <p:spPr>
          <a:xfrm>
            <a:off x="8321040" y="3246120"/>
            <a:ext cx="402336" cy="402336"/>
          </a:xfrm>
          <a:prstGeom prst="ellipse">
            <a:avLst/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17601" y="3342681"/>
            <a:ext cx="209215" cy="209215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887968" y="3264408"/>
            <a:ext cx="25694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duration could be shorter, ideally within 2 hours.</a:t>
            </a:r>
            <a:endParaRPr lang="en-US" sz="1250" dirty="0"/>
          </a:p>
        </p:txBody>
      </p:sp>
      <p:sp>
        <p:nvSpPr>
          <p:cNvPr id="47" name="Shape 32"/>
          <p:cNvSpPr/>
          <p:nvPr/>
        </p:nvSpPr>
        <p:spPr>
          <a:xfrm>
            <a:off x="8046720" y="4023360"/>
            <a:ext cx="3593592" cy="2377440"/>
          </a:xfrm>
          <a:prstGeom prst="roundRect">
            <a:avLst>
              <a:gd name="adj" fmla="val 6923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21040" y="4279392"/>
            <a:ext cx="310896" cy="310896"/>
          </a:xfrm>
          <a:prstGeom prst="rect">
            <a:avLst/>
          </a:prstGeom>
        </p:spPr>
      </p:pic>
      <p:sp>
        <p:nvSpPr>
          <p:cNvPr id="49" name="Text 33"/>
          <p:cNvSpPr txBox="1"/>
          <p:nvPr/>
        </p:nvSpPr>
        <p:spPr>
          <a:xfrm>
            <a:off x="8759952" y="427939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AI ANALYSIS</a:t>
            </a:r>
            <a:endParaRPr lang="en-US" sz="1100" dirty="0"/>
          </a:p>
        </p:txBody>
      </p:sp>
      <p:sp>
        <p:nvSpPr>
          <p:cNvPr id="50" name="Text 34"/>
          <p:cNvSpPr txBox="1"/>
          <p:nvPr/>
        </p:nvSpPr>
        <p:spPr>
          <a:xfrm>
            <a:off x="8321040" y="4709160"/>
            <a:ext cx="3090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know it is AI, but I was hoping for a stronger wow / surprise feeling. It could be more interactive and make better use of AI to engage with the customer, instead of only showing the analysis.”</a:t>
            </a:r>
            <a:endParaRPr lang="en-US" sz="1200" dirty="0"/>
          </a:p>
        </p:txBody>
      </p:sp>
      <p:sp>
        <p:nvSpPr>
          <p:cNvPr id="51" name="Text 35"/>
          <p:cNvSpPr txBox="1"/>
          <p:nvPr/>
        </p:nvSpPr>
        <p:spPr>
          <a:xfrm>
            <a:off x="8321040" y="5870448"/>
            <a:ext cx="30906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point: </a:t>
            </a:r>
            <a:pPr indent="0" marL="0">
              <a:buNone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shopper wants a more engaging, interactive AI experience.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9DB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8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Puchong</a:t>
            </a:r>
            <a:pPr indent="0" marL="0">
              <a:buNone/>
            </a:pPr>
            <a:r>
              <a:rPr lang="en-US" sz="32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full customer feedback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 ·  Mystery Shopper visit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743200" cy="4937760"/>
          </a:xfrm>
          <a:prstGeom prst="roundRect">
            <a:avLst>
              <a:gd name="adj" fmla="val 6000"/>
            </a:avLst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A86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 SHOPPER SCORE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148840"/>
          <a:ext cx="21031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68680" y="2907792"/>
            <a:ext cx="210312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93.25</a:t>
            </a:r>
            <a:endParaRPr lang="en-US" sz="3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100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1719072" y="4526280"/>
            <a:ext cx="402336" cy="402336"/>
          </a:xfrm>
          <a:prstGeom prst="ellipse">
            <a:avLst/>
          </a:prstGeom>
          <a:solidFill>
            <a:srgbClr val="E08F1E"/>
          </a:solidFill>
          <a:ln w="12700">
            <a:solidFill>
              <a:srgbClr val="E08F1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633" y="4622841"/>
            <a:ext cx="209215" cy="20921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5029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A86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HIGHLIGHT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5303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explanation + caring treatment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9400032" y="475488"/>
            <a:ext cx="2240280" cy="420624"/>
          </a:xfrm>
          <a:prstGeom prst="roundRect">
            <a:avLst>
              <a:gd name="adj" fmla="val 50000"/>
            </a:avLst>
          </a:prstGeom>
          <a:solidFill>
            <a:srgbClr val="F5B84A"/>
          </a:solidFill>
          <a:ln w="12700">
            <a:solidFill>
              <a:srgbClr val="F5B84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4624" y="57607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857232" y="475488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score this month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3566160" y="1463040"/>
            <a:ext cx="4206240" cy="493776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840480" y="1719072"/>
            <a:ext cx="365760" cy="365760"/>
          </a:xfrm>
          <a:prstGeom prst="ellipse">
            <a:avLst/>
          </a:prstGeom>
          <a:solidFill>
            <a:srgbClr val="E08F1E"/>
          </a:solidFill>
          <a:ln w="12700">
            <a:solidFill>
              <a:srgbClr val="E08F1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8262" y="1806854"/>
            <a:ext cx="190195" cy="19019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315968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shopper loved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3840480" y="2331720"/>
            <a:ext cx="402336" cy="402336"/>
          </a:xfrm>
          <a:prstGeom prst="ellipse">
            <a:avLst/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7041" y="2428281"/>
            <a:ext cx="209215" cy="20921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407408" y="2350008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experience was very good; the team was patient.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840480" y="3246120"/>
            <a:ext cx="402336" cy="402336"/>
          </a:xfrm>
          <a:prstGeom prst="ellipse">
            <a:avLst/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7041" y="3342681"/>
            <a:ext cx="209215" cy="20921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4407408" y="3264408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 were explained well and felt better than a typical beauty clinic.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3840480" y="4160520"/>
            <a:ext cx="402336" cy="402336"/>
          </a:xfrm>
          <a:prstGeom prst="ellipse">
            <a:avLst/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7041" y="4257081"/>
            <a:ext cx="209215" cy="20921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407408" y="4178808"/>
            <a:ext cx="313639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explained facial concerns, causes, improvement methods and the recommended treatment plan.</a:t>
            </a:r>
            <a:endParaRPr lang="en-US" sz="1300" dirty="0"/>
          </a:p>
        </p:txBody>
      </p:sp>
      <p:sp>
        <p:nvSpPr>
          <p:cNvPr id="28" name="Shape 19"/>
          <p:cNvSpPr/>
          <p:nvPr/>
        </p:nvSpPr>
        <p:spPr>
          <a:xfrm>
            <a:off x="3840480" y="5257800"/>
            <a:ext cx="402336" cy="402336"/>
          </a:xfrm>
          <a:prstGeom prst="ellipse">
            <a:avLst/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041" y="5354361"/>
            <a:ext cx="209215" cy="209215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407408" y="5276088"/>
            <a:ext cx="31363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was friendly, cared about comfort and explained every step.</a:t>
            </a:r>
            <a:endParaRPr lang="en-US" sz="1300" dirty="0"/>
          </a:p>
        </p:txBody>
      </p:sp>
      <p:sp>
        <p:nvSpPr>
          <p:cNvPr id="31" name="Shape 21"/>
          <p:cNvSpPr/>
          <p:nvPr/>
        </p:nvSpPr>
        <p:spPr>
          <a:xfrm>
            <a:off x="8046720" y="1463040"/>
            <a:ext cx="3593592" cy="297180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32" name="Shape 22"/>
          <p:cNvSpPr/>
          <p:nvPr/>
        </p:nvSpPr>
        <p:spPr>
          <a:xfrm>
            <a:off x="8321040" y="1719072"/>
            <a:ext cx="365760" cy="365760"/>
          </a:xfrm>
          <a:prstGeom prst="ellipse">
            <a:avLst/>
          </a:prstGeom>
          <a:solidFill>
            <a:srgbClr val="E08F1E"/>
          </a:solidFill>
          <a:ln w="12700">
            <a:solidFill>
              <a:srgbClr val="E08F1E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8822" y="1806854"/>
            <a:ext cx="190195" cy="190195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8796528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touches to add</a:t>
            </a:r>
            <a:endParaRPr lang="en-US" sz="1700" dirty="0"/>
          </a:p>
        </p:txBody>
      </p:sp>
      <p:sp>
        <p:nvSpPr>
          <p:cNvPr id="35" name="Shape 24"/>
          <p:cNvSpPr/>
          <p:nvPr/>
        </p:nvSpPr>
        <p:spPr>
          <a:xfrm>
            <a:off x="8321040" y="2286000"/>
            <a:ext cx="402336" cy="402336"/>
          </a:xfrm>
          <a:prstGeom prst="ellipse">
            <a:avLst/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7601" y="2382561"/>
            <a:ext cx="209215" cy="209215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887968" y="2304288"/>
            <a:ext cx="2569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treatment, remind the customer about simple actions, e.g. turning the head or pursing the lips.</a:t>
            </a:r>
            <a:endParaRPr lang="en-US" sz="1200" dirty="0"/>
          </a:p>
        </p:txBody>
      </p:sp>
      <p:sp>
        <p:nvSpPr>
          <p:cNvPr id="38" name="Shape 26"/>
          <p:cNvSpPr/>
          <p:nvPr/>
        </p:nvSpPr>
        <p:spPr>
          <a:xfrm>
            <a:off x="8321040" y="2999232"/>
            <a:ext cx="402336" cy="402336"/>
          </a:xfrm>
          <a:prstGeom prst="ellipse">
            <a:avLst/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7601" y="3095793"/>
            <a:ext cx="209215" cy="209215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8887968" y="3017520"/>
            <a:ext cx="2569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bright light treatment, help eyes adjust to room brightness gradually before the mirror.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8321040" y="3712464"/>
            <a:ext cx="402336" cy="402336"/>
          </a:xfrm>
          <a:prstGeom prst="ellipse">
            <a:avLst/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17601" y="3809025"/>
            <a:ext cx="209215" cy="20921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8887968" y="3730752"/>
            <a:ext cx="25694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may be a burden for the average customer unless the facial condition is serious enough.</a:t>
            </a:r>
            <a:endParaRPr lang="en-US" sz="1200" dirty="0"/>
          </a:p>
        </p:txBody>
      </p:sp>
      <p:sp>
        <p:nvSpPr>
          <p:cNvPr id="44" name="Shape 30"/>
          <p:cNvSpPr/>
          <p:nvPr/>
        </p:nvSpPr>
        <p:spPr>
          <a:xfrm>
            <a:off x="8046720" y="4617720"/>
            <a:ext cx="3593592" cy="1783080"/>
          </a:xfrm>
          <a:prstGeom prst="roundRect">
            <a:avLst>
              <a:gd name="adj" fmla="val 9231"/>
            </a:avLst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21040" y="4818888"/>
            <a:ext cx="274320" cy="27432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8705088" y="4818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6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CUSTOMER'S WORDS</a:t>
            </a:r>
            <a:endParaRPr lang="en-US" sz="1100" dirty="0"/>
          </a:p>
        </p:txBody>
      </p:sp>
      <p:sp>
        <p:nvSpPr>
          <p:cNvPr id="47" name="Text 32"/>
          <p:cNvSpPr txBox="1"/>
          <p:nvPr/>
        </p:nvSpPr>
        <p:spPr>
          <a:xfrm>
            <a:off x="8321040" y="5184648"/>
            <a:ext cx="3136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“整体体验非常好。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B2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招待热情、讲解清晰。”</a:t>
            </a:r>
            <a:endParaRPr lang="en-US" sz="1400" dirty="0"/>
          </a:p>
        </p:txBody>
      </p:sp>
      <p:sp>
        <p:nvSpPr>
          <p:cNvPr id="48" name="Text 33"/>
          <p:cNvSpPr txBox="1"/>
          <p:nvPr/>
        </p:nvSpPr>
        <p:spPr>
          <a:xfrm>
            <a:off x="8321040" y="580644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“Overall a very good experience. Warm welcome, clear explanations.”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9DB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D5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Cheras Leisure Mall</a:t>
            </a:r>
            <a:pPr indent="0" marL="0">
              <a:buNone/>
            </a:pPr>
            <a:r>
              <a:rPr lang="en-US" sz="32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full customer feedback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 ·  Mystery Shopper visit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743200" cy="4937760"/>
          </a:xfrm>
          <a:prstGeom prst="roundRect">
            <a:avLst>
              <a:gd name="adj" fmla="val 6000"/>
            </a:avLst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 SHOPPER SCORE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68680" y="2148840"/>
          <a:ext cx="21031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68680" y="2907792"/>
            <a:ext cx="2103120" cy="65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66.75</a:t>
            </a:r>
            <a:endParaRPr lang="en-US" sz="3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100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1719072" y="4526280"/>
            <a:ext cx="402336" cy="402336"/>
          </a:xfrm>
          <a:prstGeom prst="ellipse">
            <a:avLst/>
          </a:prstGeom>
          <a:solidFill>
            <a:srgbClr val="DD5C7B"/>
          </a:solidFill>
          <a:ln w="12700">
            <a:solidFill>
              <a:srgbClr val="DD5C7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633" y="4622841"/>
            <a:ext cx="209215" cy="20921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5029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HIGHLIGHT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5303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visible result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3566160" y="1463040"/>
            <a:ext cx="4206240" cy="260604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840480" y="1719072"/>
            <a:ext cx="365760" cy="365760"/>
          </a:xfrm>
          <a:prstGeom prst="ellipse">
            <a:avLst/>
          </a:prstGeom>
          <a:solidFill>
            <a:srgbClr val="DD5C7B"/>
          </a:solidFill>
          <a:ln w="12700">
            <a:solidFill>
              <a:srgbClr val="DD5C7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8262" y="1806854"/>
            <a:ext cx="190195" cy="19019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315968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shopper loved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3840480" y="2331720"/>
            <a:ext cx="402336" cy="402336"/>
          </a:xfrm>
          <a:prstGeom prst="ellipse">
            <a:avLst/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7041" y="2428281"/>
            <a:ext cx="209215" cy="20921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07408" y="23500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introduced the service / package.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3840480" y="2862072"/>
            <a:ext cx="402336" cy="402336"/>
          </a:xfrm>
          <a:prstGeom prst="ellipse">
            <a:avLst/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7041" y="2958633"/>
            <a:ext cx="209215" cy="209215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407408" y="288036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was satisfied with the result.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840480" y="3392424"/>
            <a:ext cx="402336" cy="402336"/>
          </a:xfrm>
          <a:prstGeom prst="ellipse">
            <a:avLst/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7041" y="3488985"/>
            <a:ext cx="209215" cy="20921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4407408" y="3410712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felt her skin looked brighter after treatment.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3566160" y="4297680"/>
            <a:ext cx="4206240" cy="2103120"/>
          </a:xfrm>
          <a:prstGeom prst="roundRect">
            <a:avLst>
              <a:gd name="adj" fmla="val 7826"/>
            </a:avLst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0" y="4663440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279392" y="46634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CUSTOMER'S WORDS</a:t>
            </a:r>
            <a:endParaRPr lang="en-US" sz="1100" dirty="0"/>
          </a:p>
        </p:txBody>
      </p:sp>
      <p:sp>
        <p:nvSpPr>
          <p:cNvPr id="28" name="Text 19"/>
          <p:cNvSpPr txBox="1"/>
          <p:nvPr/>
        </p:nvSpPr>
        <p:spPr>
          <a:xfrm>
            <a:off x="3840480" y="519379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B2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“满意效果，皮肤比较白了。”</a:t>
            </a:r>
            <a:endParaRPr lang="en-US" sz="2000" dirty="0"/>
          </a:p>
        </p:txBody>
      </p:sp>
      <p:sp>
        <p:nvSpPr>
          <p:cNvPr id="29" name="Text 20"/>
          <p:cNvSpPr txBox="1"/>
          <p:nvPr/>
        </p:nvSpPr>
        <p:spPr>
          <a:xfrm>
            <a:off x="3840480" y="57607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“Happy with the result — my skin looks brighter now.”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46720" y="1463040"/>
            <a:ext cx="3593592" cy="4937760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321040" y="1719072"/>
            <a:ext cx="365760" cy="365760"/>
          </a:xfrm>
          <a:prstGeom prst="ellipse">
            <a:avLst/>
          </a:prstGeom>
          <a:solidFill>
            <a:srgbClr val="DD5C7B"/>
          </a:solidFill>
          <a:ln w="12700">
            <a:solidFill>
              <a:srgbClr val="DD5C7B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8822" y="1806854"/>
            <a:ext cx="190195" cy="19019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8796528" y="17190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to grow</a:t>
            </a:r>
            <a:endParaRPr lang="en-US" sz="1700" dirty="0"/>
          </a:p>
        </p:txBody>
      </p:sp>
      <p:sp>
        <p:nvSpPr>
          <p:cNvPr id="34" name="Text 24"/>
          <p:cNvSpPr txBox="1"/>
          <p:nvPr/>
        </p:nvSpPr>
        <p:spPr>
          <a:xfrm>
            <a:off x="8321040" y="2240280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FELT UNCOMFORTABLE</a:t>
            </a:r>
            <a:endParaRPr lang="en-US" sz="1050" dirty="0"/>
          </a:p>
        </p:txBody>
      </p:sp>
      <p:sp>
        <p:nvSpPr>
          <p:cNvPr id="35" name="Shape 25"/>
          <p:cNvSpPr/>
          <p:nvPr/>
        </p:nvSpPr>
        <p:spPr>
          <a:xfrm>
            <a:off x="8321040" y="2560320"/>
            <a:ext cx="402336" cy="402336"/>
          </a:xfrm>
          <a:prstGeom prst="ellipse">
            <a:avLst/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7601" y="2656881"/>
            <a:ext cx="209215" cy="209215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8887968" y="2578608"/>
            <a:ext cx="25694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pushed toward products / packages.</a:t>
            </a:r>
            <a:endParaRPr lang="en-US" sz="1250" dirty="0"/>
          </a:p>
        </p:txBody>
      </p:sp>
      <p:sp>
        <p:nvSpPr>
          <p:cNvPr id="38" name="Shape 27"/>
          <p:cNvSpPr/>
          <p:nvPr/>
        </p:nvSpPr>
        <p:spPr>
          <a:xfrm>
            <a:off x="8321040" y="3063240"/>
            <a:ext cx="402336" cy="402336"/>
          </a:xfrm>
          <a:prstGeom prst="ellipse">
            <a:avLst/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7601" y="3159801"/>
            <a:ext cx="209215" cy="209215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8887968" y="3081528"/>
            <a:ext cx="256946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felt unaffordable and caused pressure.</a:t>
            </a:r>
            <a:endParaRPr lang="en-US" sz="1250" dirty="0"/>
          </a:p>
        </p:txBody>
      </p:sp>
      <p:sp>
        <p:nvSpPr>
          <p:cNvPr id="41" name="Text 29"/>
          <p:cNvSpPr txBox="1"/>
          <p:nvPr/>
        </p:nvSpPr>
        <p:spPr>
          <a:xfrm>
            <a:off x="8321040" y="367588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IMPROVEMENT POINTS</a:t>
            </a:r>
            <a:endParaRPr lang="en-US" sz="1050" dirty="0"/>
          </a:p>
        </p:txBody>
      </p:sp>
      <p:sp>
        <p:nvSpPr>
          <p:cNvPr id="42" name="Shape 30"/>
          <p:cNvSpPr/>
          <p:nvPr/>
        </p:nvSpPr>
        <p:spPr>
          <a:xfrm>
            <a:off x="8321040" y="3995928"/>
            <a:ext cx="402336" cy="402336"/>
          </a:xfrm>
          <a:prstGeom prst="ellipse">
            <a:avLst/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7601" y="4092489"/>
            <a:ext cx="209215" cy="209215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8887968" y="4014216"/>
            <a:ext cx="2569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could be faster; less waiting between steps.</a:t>
            </a:r>
            <a:endParaRPr lang="en-US" sz="1250" dirty="0"/>
          </a:p>
        </p:txBody>
      </p:sp>
      <p:sp>
        <p:nvSpPr>
          <p:cNvPr id="45" name="Shape 32"/>
          <p:cNvSpPr/>
          <p:nvPr/>
        </p:nvSpPr>
        <p:spPr>
          <a:xfrm>
            <a:off x="8321040" y="4544568"/>
            <a:ext cx="402336" cy="402336"/>
          </a:xfrm>
          <a:prstGeom prst="ellipse">
            <a:avLst/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17601" y="4641129"/>
            <a:ext cx="209215" cy="209215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8887968" y="4562856"/>
            <a:ext cx="2569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 conversations during treatment were quite loud.</a:t>
            </a:r>
            <a:endParaRPr lang="en-US" sz="1250" dirty="0"/>
          </a:p>
        </p:txBody>
      </p:sp>
      <p:sp>
        <p:nvSpPr>
          <p:cNvPr id="48" name="Shape 34"/>
          <p:cNvSpPr/>
          <p:nvPr/>
        </p:nvSpPr>
        <p:spPr>
          <a:xfrm>
            <a:off x="8321040" y="5093208"/>
            <a:ext cx="402336" cy="402336"/>
          </a:xfrm>
          <a:prstGeom prst="ellipse">
            <a:avLst/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49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17601" y="5189769"/>
            <a:ext cx="209215" cy="209215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8887968" y="5111496"/>
            <a:ext cx="2569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Prefers WhatsApp messages rather than direct phone calls.</a:t>
            </a:r>
            <a:endParaRPr lang="en-US" sz="1250" dirty="0"/>
          </a:p>
        </p:txBody>
      </p:sp>
      <p:sp>
        <p:nvSpPr>
          <p:cNvPr id="51" name="Text 36"/>
          <p:cNvSpPr txBox="1"/>
          <p:nvPr/>
        </p:nvSpPr>
        <p:spPr>
          <a:xfrm>
            <a:off x="8321040" y="5687568"/>
            <a:ext cx="3136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B2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“不太喜欢客服直接打电话，信息就好。”</a:t>
            </a:r>
            <a:endParaRPr lang="en-US" sz="1200" dirty="0"/>
          </a:p>
          <a:p>
            <a:pPr indent="0" marL="0">
              <a:buNone/>
            </a:pPr>
            <a:r>
              <a:rPr lang="en-US" sz="1150" i="1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“I'd rather not get direct calls — a message is fine.”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9DB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three shoppers actually experienced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perspective only — no cross-outlet assumptions.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148132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83664"/>
            <a:ext cx="731520" cy="731520"/>
          </a:xfrm>
          <a:prstGeom prst="ellipse">
            <a:avLst/>
          </a:prstGeom>
          <a:solidFill>
            <a:srgbClr val="2A9D6E"/>
          </a:solidFill>
          <a:ln w="12700">
            <a:solidFill>
              <a:srgbClr val="2A9D6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059229"/>
            <a:ext cx="380390" cy="3803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85623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Greenlane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77.5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069080" y="17830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POSITIVE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4069080" y="207568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Impressive technology + thoughtful details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17830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SIGNALS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818120" y="2112264"/>
            <a:ext cx="946404" cy="347472"/>
          </a:xfrm>
          <a:prstGeom prst="roundRect">
            <a:avLst>
              <a:gd name="adj" fmla="val 50000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992" y="2194560"/>
            <a:ext cx="182880" cy="1828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183880" y="2112264"/>
            <a:ext cx="5349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874252" y="2112264"/>
            <a:ext cx="1553566" cy="347472"/>
          </a:xfrm>
          <a:prstGeom prst="roundRect">
            <a:avLst>
              <a:gd name="adj" fmla="val 50000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124" y="2194560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40012" y="2112264"/>
            <a:ext cx="11420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engagement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818120" y="2532888"/>
            <a:ext cx="1629461" cy="347472"/>
          </a:xfrm>
          <a:prstGeom prst="roundRect">
            <a:avLst>
              <a:gd name="adj" fmla="val 50000"/>
            </a:avLst>
          </a:prstGeom>
          <a:solidFill>
            <a:srgbClr val="E6F5EE"/>
          </a:solidFill>
          <a:ln w="12700">
            <a:solidFill>
              <a:srgbClr val="E6F5EE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992" y="2615184"/>
            <a:ext cx="182880" cy="1828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183880" y="2532888"/>
            <a:ext cx="121798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75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duration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3236976"/>
            <a:ext cx="11091672" cy="148132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2960" y="3611880"/>
            <a:ext cx="731520" cy="731520"/>
          </a:xfrm>
          <a:prstGeom prst="ellipse">
            <a:avLst/>
          </a:prstGeom>
          <a:solidFill>
            <a:srgbClr val="E08F1E"/>
          </a:solidFill>
          <a:ln w="12700">
            <a:solidFill>
              <a:srgbClr val="E08F1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525" y="3787445"/>
            <a:ext cx="380390" cy="38039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737360" y="35844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8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Puchong</a:t>
            </a:r>
            <a:endParaRPr lang="en-US" sz="1900" dirty="0"/>
          </a:p>
        </p:txBody>
      </p:sp>
      <p:sp>
        <p:nvSpPr>
          <p:cNvPr id="25" name="Text 18"/>
          <p:cNvSpPr txBox="1"/>
          <p:nvPr/>
        </p:nvSpPr>
        <p:spPr>
          <a:xfrm>
            <a:off x="1737360" y="401421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93.25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4069080" y="351129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6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POSITIVE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4069080" y="3803904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explanation + caring treatment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7818120" y="35112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6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SIGNALS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7818120" y="3840480"/>
            <a:ext cx="1629461" cy="34747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6992" y="3922776"/>
            <a:ext cx="182880" cy="1828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183880" y="3840480"/>
            <a:ext cx="121798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6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cues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9557309" y="3840480"/>
            <a:ext cx="1781251" cy="34747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6181" y="3922776"/>
            <a:ext cx="182880" cy="18288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9923069" y="3840480"/>
            <a:ext cx="13697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6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adjustment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7818120" y="4261104"/>
            <a:ext cx="946404" cy="347472"/>
          </a:xfrm>
          <a:prstGeom prst="roundRect">
            <a:avLst>
              <a:gd name="adj" fmla="val 50000"/>
            </a:avLst>
          </a:prstGeom>
          <a:solidFill>
            <a:srgbClr val="FDF1DF"/>
          </a:solidFill>
          <a:ln w="12700">
            <a:solidFill>
              <a:srgbClr val="FDF1DF"/>
            </a:solidFill>
            <a:prstDash val="solid"/>
          </a:ln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6992" y="4343400"/>
            <a:ext cx="182880" cy="1828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183880" y="4261104"/>
            <a:ext cx="5349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66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38" name="Shape 28"/>
          <p:cNvSpPr/>
          <p:nvPr/>
        </p:nvSpPr>
        <p:spPr>
          <a:xfrm>
            <a:off x="548640" y="4965192"/>
            <a:ext cx="11091672" cy="148132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39" name="Shape 29"/>
          <p:cNvSpPr/>
          <p:nvPr/>
        </p:nvSpPr>
        <p:spPr>
          <a:xfrm>
            <a:off x="822960" y="5340096"/>
            <a:ext cx="731520" cy="731520"/>
          </a:xfrm>
          <a:prstGeom prst="ellipse">
            <a:avLst/>
          </a:prstGeom>
          <a:solidFill>
            <a:srgbClr val="DD5C7B"/>
          </a:solidFill>
          <a:ln w="12700">
            <a:solidFill>
              <a:srgbClr val="DD5C7B"/>
            </a:solidFill>
            <a:prstDash val="solid"/>
          </a:ln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8525" y="5515661"/>
            <a:ext cx="380390" cy="38039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1737360" y="53126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D5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Cheras Leisure Mall</a:t>
            </a:r>
            <a:endParaRPr lang="en-US" sz="1900" dirty="0"/>
          </a:p>
        </p:txBody>
      </p:sp>
      <p:sp>
        <p:nvSpPr>
          <p:cNvPr id="42" name="Text 31"/>
          <p:cNvSpPr txBox="1"/>
          <p:nvPr/>
        </p:nvSpPr>
        <p:spPr>
          <a:xfrm>
            <a:off x="1737360" y="57424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66.75</a:t>
            </a:r>
            <a:endParaRPr lang="en-US" sz="1300" dirty="0"/>
          </a:p>
        </p:txBody>
      </p:sp>
      <p:sp>
        <p:nvSpPr>
          <p:cNvPr id="43" name="Text 32"/>
          <p:cNvSpPr txBox="1"/>
          <p:nvPr/>
        </p:nvSpPr>
        <p:spPr>
          <a:xfrm>
            <a:off x="4069080" y="52395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POSITIVE</a:t>
            </a:r>
            <a:endParaRPr lang="en-US" sz="1050" dirty="0"/>
          </a:p>
        </p:txBody>
      </p:sp>
      <p:sp>
        <p:nvSpPr>
          <p:cNvPr id="44" name="Text 33"/>
          <p:cNvSpPr txBox="1"/>
          <p:nvPr/>
        </p:nvSpPr>
        <p:spPr>
          <a:xfrm>
            <a:off x="4069080" y="55321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visible result</a:t>
            </a:r>
            <a:endParaRPr lang="en-US" sz="1800" dirty="0"/>
          </a:p>
        </p:txBody>
      </p:sp>
      <p:sp>
        <p:nvSpPr>
          <p:cNvPr id="45" name="Text 34"/>
          <p:cNvSpPr txBox="1"/>
          <p:nvPr/>
        </p:nvSpPr>
        <p:spPr>
          <a:xfrm>
            <a:off x="7818120" y="52395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SIGNALS</a:t>
            </a:r>
            <a:endParaRPr lang="en-US" sz="1050" dirty="0"/>
          </a:p>
        </p:txBody>
      </p:sp>
      <p:sp>
        <p:nvSpPr>
          <p:cNvPr id="46" name="Shape 35"/>
          <p:cNvSpPr/>
          <p:nvPr/>
        </p:nvSpPr>
        <p:spPr>
          <a:xfrm>
            <a:off x="7818120" y="5568696"/>
            <a:ext cx="1629461" cy="347472"/>
          </a:xfrm>
          <a:prstGeom prst="roundRect">
            <a:avLst>
              <a:gd name="adj" fmla="val 50000"/>
            </a:avLst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4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6992" y="5650992"/>
            <a:ext cx="182880" cy="182880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8183880" y="5568696"/>
            <a:ext cx="121798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pressure</a:t>
            </a:r>
            <a:endParaRPr lang="en-US" sz="1200" dirty="0"/>
          </a:p>
        </p:txBody>
      </p:sp>
      <p:sp>
        <p:nvSpPr>
          <p:cNvPr id="49" name="Shape 37"/>
          <p:cNvSpPr/>
          <p:nvPr/>
        </p:nvSpPr>
        <p:spPr>
          <a:xfrm>
            <a:off x="9557309" y="5568696"/>
            <a:ext cx="1098194" cy="347472"/>
          </a:xfrm>
          <a:prstGeom prst="roundRect">
            <a:avLst>
              <a:gd name="adj" fmla="val 50000"/>
            </a:avLst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5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76181" y="5650992"/>
            <a:ext cx="182880" cy="182880"/>
          </a:xfrm>
          <a:prstGeom prst="rect">
            <a:avLst/>
          </a:prstGeom>
        </p:spPr>
      </p:pic>
      <p:sp>
        <p:nvSpPr>
          <p:cNvPr id="51" name="Text 38"/>
          <p:cNvSpPr txBox="1"/>
          <p:nvPr/>
        </p:nvSpPr>
        <p:spPr>
          <a:xfrm>
            <a:off x="9923069" y="5568696"/>
            <a:ext cx="68671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</a:t>
            </a:r>
            <a:endParaRPr lang="en-US" sz="1200" dirty="0"/>
          </a:p>
        </p:txBody>
      </p:sp>
      <p:sp>
        <p:nvSpPr>
          <p:cNvPr id="52" name="Shape 39"/>
          <p:cNvSpPr/>
          <p:nvPr/>
        </p:nvSpPr>
        <p:spPr>
          <a:xfrm>
            <a:off x="7818120" y="5989320"/>
            <a:ext cx="946404" cy="347472"/>
          </a:xfrm>
          <a:prstGeom prst="roundRect">
            <a:avLst>
              <a:gd name="adj" fmla="val 50000"/>
            </a:avLst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5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6992" y="6071616"/>
            <a:ext cx="182880" cy="18288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8183880" y="5989320"/>
            <a:ext cx="5349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</a:t>
            </a:r>
            <a:endParaRPr lang="en-US" sz="1200" dirty="0"/>
          </a:p>
        </p:txBody>
      </p:sp>
      <p:sp>
        <p:nvSpPr>
          <p:cNvPr id="55" name="Shape 41"/>
          <p:cNvSpPr/>
          <p:nvPr/>
        </p:nvSpPr>
        <p:spPr>
          <a:xfrm>
            <a:off x="8874252" y="5989320"/>
            <a:ext cx="1933042" cy="347472"/>
          </a:xfrm>
          <a:prstGeom prst="roundRect">
            <a:avLst>
              <a:gd name="adj" fmla="val 50000"/>
            </a:avLst>
          </a:prstGeom>
          <a:solidFill>
            <a:srgbClr val="FCEAEF"/>
          </a:solidFill>
          <a:ln w="12700">
            <a:solidFill>
              <a:srgbClr val="FCEAEF"/>
            </a:solidFill>
            <a:prstDash val="solid"/>
          </a:ln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93124" y="6071616"/>
            <a:ext cx="182880" cy="182880"/>
          </a:xfrm>
          <a:prstGeom prst="rect">
            <a:avLst/>
          </a:prstGeom>
        </p:spPr>
      </p:pic>
      <p:sp>
        <p:nvSpPr>
          <p:cNvPr id="57" name="Text 42"/>
          <p:cNvSpPr txBox="1"/>
          <p:nvPr/>
        </p:nvSpPr>
        <p:spPr>
          <a:xfrm>
            <a:off x="9240012" y="5989320"/>
            <a:ext cx="15215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preference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9DB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customers' own words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original comments, kept close to the shoppers' wording — with English translations.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22392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64792"/>
            <a:ext cx="1004011" cy="329184"/>
          </a:xfrm>
          <a:prstGeom prst="roundRect">
            <a:avLst>
              <a:gd name="adj" fmla="val 50000"/>
            </a:avLst>
          </a:prstGeom>
          <a:solidFill>
            <a:srgbClr val="2A9D6E"/>
          </a:solidFill>
          <a:ln w="12700">
            <a:solidFill>
              <a:srgbClr val="2A9D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64792"/>
            <a:ext cx="10040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Greenlane</a:t>
            </a:r>
            <a:endParaRPr lang="en-US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17373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22402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“服务体验仪器先进度各方面都让人惊喜和赞叹……红枣茶喝了温暖……Sylvin 很有亲和力。”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44952"/>
            <a:ext cx="4873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service experience and advanced equipment were surprising and impressive in every way… the red date tea was warming… Sylvin is very approachable.”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508760"/>
            <a:ext cx="5422392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1764792"/>
            <a:ext cx="2518258" cy="329184"/>
          </a:xfrm>
          <a:prstGeom prst="roundRect">
            <a:avLst>
              <a:gd name="adj" fmla="val 50000"/>
            </a:avLst>
          </a:prstGeom>
          <a:solidFill>
            <a:srgbClr val="2A9D6E"/>
          </a:solidFill>
          <a:ln w="12700">
            <a:solidFill>
              <a:srgbClr val="2A9D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1764792"/>
            <a:ext cx="25182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Greenlane  ·  on the AI analysis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173736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492240" y="22402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“我知道那是 AI…我希望有更强的 wow / surprise feeling，更互动、更会用 AI 和顾客互动，而不只是展示 analysis。”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3044952"/>
            <a:ext cx="4873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know it's AI… I hoped for a stronger wow / surprise feeling — more interactive, using AI to engage the customer, not just showing the analysis.”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4087368"/>
            <a:ext cx="5422392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4343400"/>
            <a:ext cx="872338" cy="329184"/>
          </a:xfrm>
          <a:prstGeom prst="roundRect">
            <a:avLst>
              <a:gd name="adj" fmla="val 50000"/>
            </a:avLst>
          </a:prstGeom>
          <a:solidFill>
            <a:srgbClr val="E08F1E"/>
          </a:solidFill>
          <a:ln w="12700">
            <a:solidFill>
              <a:srgbClr val="E08F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4343400"/>
            <a:ext cx="872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Puchong</a:t>
            </a:r>
            <a:endParaRPr lang="en-US" sz="11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9512" y="4315968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2960" y="4818888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“整体体验非常好。招待热情、讲解清晰。医生认真解释面部问题……护理师很友好，关心顾客感受。”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5623560"/>
            <a:ext cx="4873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“Overall a very good experience. Warm welcome, clear explanations. The doctor carefully explained my facial concerns… the therapist was friendly and cared about how I felt.”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17920" y="4087368"/>
            <a:ext cx="5422392" cy="233172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3B2A5A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492240" y="4343400"/>
            <a:ext cx="1662379" cy="329184"/>
          </a:xfrm>
          <a:prstGeom prst="roundRect">
            <a:avLst>
              <a:gd name="adj" fmla="val 50000"/>
            </a:avLst>
          </a:prstGeom>
          <a:solidFill>
            <a:srgbClr val="DD5C7B"/>
          </a:solidFill>
          <a:ln w="12700">
            <a:solidFill>
              <a:srgbClr val="DD5C7B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92240" y="4343400"/>
            <a:ext cx="16623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Cheras Leisure Mall</a:t>
            </a:r>
            <a:endParaRPr lang="en-US" sz="115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92" y="4315968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492240" y="4818888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2A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“感觉被推销产品，过程压力，价位也负担不起，有被吓到。希望流程可以快一点……”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492240" y="5623560"/>
            <a:ext cx="4873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felt like being sold products; the process felt pressuring, and the price was unaffordable — I was taken aback. I hope the process can be faster…”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39DB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B2A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8648" y="1371600"/>
            <a:ext cx="914400" cy="914400"/>
          </a:xfrm>
          <a:prstGeom prst="ellipse">
            <a:avLst/>
          </a:prstGeom>
          <a:solidFill>
            <a:srgbClr val="F5B84A"/>
          </a:solidFill>
          <a:ln w="12700">
            <a:solidFill>
              <a:srgbClr val="F5B84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8104" y="1591056"/>
            <a:ext cx="475488" cy="4754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5603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 team!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474720"/>
            <a:ext cx="9448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D9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welcomes, clear explanations and caring hands are what our shoppers remembered.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D9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keep building on them — one visit at a time.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2502256" y="4800600"/>
            <a:ext cx="1938528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730856" y="4983480"/>
            <a:ext cx="201168" cy="201168"/>
          </a:xfrm>
          <a:prstGeom prst="ellipse">
            <a:avLst/>
          </a:prstGeom>
          <a:solidFill>
            <a:srgbClr val="2A9D6E"/>
          </a:solidFill>
          <a:ln w="12700">
            <a:solidFill>
              <a:srgbClr val="2A9D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032608" y="480060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Greenlane  </a:t>
            </a:r>
            <a:pPr indent="0" marL="0">
              <a:buNone/>
            </a:pPr>
            <a:r>
              <a:rPr lang="en-US" sz="1400" b="1" dirty="0">
                <a:solidFill>
                  <a:srgbClr val="2A9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77.5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715104" y="4800600"/>
            <a:ext cx="1856232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43704" y="4983480"/>
            <a:ext cx="201168" cy="201168"/>
          </a:xfrm>
          <a:prstGeom prst="ellipse">
            <a:avLst/>
          </a:prstGeom>
          <a:solidFill>
            <a:srgbClr val="E08F1E"/>
          </a:solidFill>
          <a:ln w="12700">
            <a:solidFill>
              <a:srgbClr val="E08F1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45456" y="4800600"/>
            <a:ext cx="1216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Puchong  </a:t>
            </a:r>
            <a:pPr indent="0" marL="0">
              <a:buNone/>
            </a:pPr>
            <a:r>
              <a:rPr lang="en-US" sz="1400" b="1" dirty="0">
                <a:solidFill>
                  <a:srgbClr val="E08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93.25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845656" y="4800600"/>
            <a:ext cx="2843784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074256" y="4983480"/>
            <a:ext cx="201168" cy="201168"/>
          </a:xfrm>
          <a:prstGeom prst="ellipse">
            <a:avLst/>
          </a:prstGeom>
          <a:solidFill>
            <a:srgbClr val="DD5C7B"/>
          </a:solidFill>
          <a:ln w="12700">
            <a:solidFill>
              <a:srgbClr val="DD5C7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76008" y="4800600"/>
            <a:ext cx="2203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2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Cheras Leisure Mall  </a:t>
            </a:r>
            <a:pPr indent="0" marL="0">
              <a:buNone/>
            </a:pPr>
            <a:r>
              <a:rPr lang="en-US" sz="1400" b="1" dirty="0">
                <a:solidFill>
                  <a:srgbClr val="DD5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66.75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UR Klinik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Mystery Shopper — September 2026</dc:title>
  <dc:subject>PptxGenJS Presentation</dc:subject>
  <dc:creator>PptxGenJS</dc:creator>
  <cp:lastModifiedBy>PptxGenJS</cp:lastModifiedBy>
  <cp:revision>1</cp:revision>
  <dcterms:created xsi:type="dcterms:W3CDTF">2026-09-28T13:14:05Z</dcterms:created>
  <dcterms:modified xsi:type="dcterms:W3CDTF">2026-09-28T13:14:05Z</dcterms:modified>
</cp:coreProperties>
</file>