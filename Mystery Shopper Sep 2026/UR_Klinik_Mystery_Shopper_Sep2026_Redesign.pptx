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4.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5.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6.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2"/>
          <c:y val="0.02"/>
          <c:w val="0.96"/>
          <c:h val="0.96"/>
        </c:manualLayout>
      </c:layout>
      <c:doughnutChart>
        <c:varyColors val="1"/>
        <c:ser>
          <c:idx val="0"/>
          <c:order val="0"/>
          <c:tx>
            <c:strRef>
              <c:f>Sheet1!$B$1</c:f>
              <c:strCache>
                <c:ptCount val="1"/>
                <c:pt idx="0">
                  <c:v>Score</c:v>
                </c:pt>
              </c:strCache>
            </c:strRef>
          </c:tx>
          <c:spPr>
            <a:solidFill>
              <a:schemeClr val="accent1"/>
            </a:solidFill>
            <a:ln w="9525" cap="flat">
              <a:solidFill>
                <a:srgbClr val="F9F9F9"/>
              </a:solidFill>
              <a:prstDash val="solid"/>
              <a:round/>
            </a:ln>
            <a:effectLst/>
          </c:spPr>
          <c:dPt>
            <c:idx val="0"/>
            <c:bubble3D val="0"/>
            <c:spPr>
              <a:solidFill>
                <a:srgbClr val="2A9D6E"/>
              </a:solidFill>
              <a:ln w="6350" cap="flat">
                <a:solidFill>
                  <a:srgbClr val="ECE8F2"/>
                </a:solidFill>
                <a:prstDash val="solid"/>
                <a:round/>
              </a:ln>
              <a:effectLst/>
            </c:spPr>
          </c:dPt>
          <c:dPt>
            <c:idx val="1"/>
            <c:bubble3D val="0"/>
            <c:spPr>
              <a:solidFill>
                <a:srgbClr val="ECE8F2"/>
              </a:solidFill>
              <a:ln w="6350" cap="flat">
                <a:solidFill>
                  <a:srgbClr val="ECE8F2"/>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Score</c:v>
                </c:pt>
                <c:pt idx="1">
                  <c:v>Remaining</c:v>
                </c:pt>
              </c:strCache>
            </c:strRef>
          </c:cat>
          <c:val>
            <c:numRef>
              <c:f>Sheet1!$B$2:$B$3</c:f>
              <c:numCache>
                <c:ptCount val="2"/>
                <c:pt idx="0">
                  <c:v>77.5</c:v>
                </c:pt>
                <c:pt idx="1">
                  <c:v>22.5</c:v>
                </c:pt>
              </c:numCache>
            </c:numRef>
          </c:val>
        </c:ser>
        <c:firstSliceAng val="0"/>
        <c:holeSize val="77"/>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2"/>
          <c:y val="0.02"/>
          <c:w val="0.96"/>
          <c:h val="0.96"/>
        </c:manualLayout>
      </c:layout>
      <c:doughnutChart>
        <c:varyColors val="1"/>
        <c:ser>
          <c:idx val="0"/>
          <c:order val="0"/>
          <c:tx>
            <c:strRef>
              <c:f>Sheet1!$B$1</c:f>
              <c:strCache>
                <c:ptCount val="1"/>
                <c:pt idx="0">
                  <c:v>Score</c:v>
                </c:pt>
              </c:strCache>
            </c:strRef>
          </c:tx>
          <c:spPr>
            <a:solidFill>
              <a:schemeClr val="accent1"/>
            </a:solidFill>
            <a:ln w="9525" cap="flat">
              <a:solidFill>
                <a:srgbClr val="F9F9F9"/>
              </a:solidFill>
              <a:prstDash val="solid"/>
              <a:round/>
            </a:ln>
            <a:effectLst/>
          </c:spPr>
          <c:dPt>
            <c:idx val="0"/>
            <c:bubble3D val="0"/>
            <c:spPr>
              <a:solidFill>
                <a:srgbClr val="E08F1E"/>
              </a:solidFill>
              <a:ln w="6350" cap="flat">
                <a:solidFill>
                  <a:srgbClr val="ECE8F2"/>
                </a:solidFill>
                <a:prstDash val="solid"/>
                <a:round/>
              </a:ln>
              <a:effectLst/>
            </c:spPr>
          </c:dPt>
          <c:dPt>
            <c:idx val="1"/>
            <c:bubble3D val="0"/>
            <c:spPr>
              <a:solidFill>
                <a:srgbClr val="ECE8F2"/>
              </a:solidFill>
              <a:ln w="6350" cap="flat">
                <a:solidFill>
                  <a:srgbClr val="ECE8F2"/>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Score</c:v>
                </c:pt>
                <c:pt idx="1">
                  <c:v>Remaining</c:v>
                </c:pt>
              </c:strCache>
            </c:strRef>
          </c:cat>
          <c:val>
            <c:numRef>
              <c:f>Sheet1!$B$2:$B$3</c:f>
              <c:numCache>
                <c:ptCount val="2"/>
                <c:pt idx="0">
                  <c:v>93.25</c:v>
                </c:pt>
                <c:pt idx="1">
                  <c:v>6.75</c:v>
                </c:pt>
              </c:numCache>
            </c:numRef>
          </c:val>
        </c:ser>
        <c:firstSliceAng val="0"/>
        <c:holeSize val="77"/>
      </c:doughnutChart>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2"/>
          <c:y val="0.02"/>
          <c:w val="0.96"/>
          <c:h val="0.96"/>
        </c:manualLayout>
      </c:layout>
      <c:doughnutChart>
        <c:varyColors val="1"/>
        <c:ser>
          <c:idx val="0"/>
          <c:order val="0"/>
          <c:tx>
            <c:strRef>
              <c:f>Sheet1!$B$1</c:f>
              <c:strCache>
                <c:ptCount val="1"/>
                <c:pt idx="0">
                  <c:v>Score</c:v>
                </c:pt>
              </c:strCache>
            </c:strRef>
          </c:tx>
          <c:spPr>
            <a:solidFill>
              <a:schemeClr val="accent1"/>
            </a:solidFill>
            <a:ln w="9525" cap="flat">
              <a:solidFill>
                <a:srgbClr val="F9F9F9"/>
              </a:solidFill>
              <a:prstDash val="solid"/>
              <a:round/>
            </a:ln>
            <a:effectLst/>
          </c:spPr>
          <c:dPt>
            <c:idx val="0"/>
            <c:bubble3D val="0"/>
            <c:spPr>
              <a:solidFill>
                <a:srgbClr val="DD5C7B"/>
              </a:solidFill>
              <a:ln w="6350" cap="flat">
                <a:solidFill>
                  <a:srgbClr val="ECE8F2"/>
                </a:solidFill>
                <a:prstDash val="solid"/>
                <a:round/>
              </a:ln>
              <a:effectLst/>
            </c:spPr>
          </c:dPt>
          <c:dPt>
            <c:idx val="1"/>
            <c:bubble3D val="0"/>
            <c:spPr>
              <a:solidFill>
                <a:srgbClr val="ECE8F2"/>
              </a:solidFill>
              <a:ln w="6350" cap="flat">
                <a:solidFill>
                  <a:srgbClr val="ECE8F2"/>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Score</c:v>
                </c:pt>
                <c:pt idx="1">
                  <c:v>Remaining</c:v>
                </c:pt>
              </c:strCache>
            </c:strRef>
          </c:cat>
          <c:val>
            <c:numRef>
              <c:f>Sheet1!$B$2:$B$3</c:f>
              <c:numCache>
                <c:ptCount val="2"/>
                <c:pt idx="0">
                  <c:v>66.75</c:v>
                </c:pt>
                <c:pt idx="1">
                  <c:v>33.25</c:v>
                </c:pt>
              </c:numCache>
            </c:numRef>
          </c:val>
        </c:ser>
        <c:firstSliceAng val="0"/>
        <c:holeSize val="77"/>
      </c:doughnutChart>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2"/>
          <c:y val="0.02"/>
          <c:w val="0.96"/>
          <c:h val="0.96"/>
        </c:manualLayout>
      </c:layout>
      <c:doughnutChart>
        <c:varyColors val="1"/>
        <c:ser>
          <c:idx val="0"/>
          <c:order val="0"/>
          <c:tx>
            <c:strRef>
              <c:f>Sheet1!$B$1</c:f>
              <c:strCache>
                <c:ptCount val="1"/>
                <c:pt idx="0">
                  <c:v>Score</c:v>
                </c:pt>
              </c:strCache>
            </c:strRef>
          </c:tx>
          <c:spPr>
            <a:solidFill>
              <a:schemeClr val="accent1"/>
            </a:solidFill>
            <a:ln w="9525" cap="flat">
              <a:solidFill>
                <a:srgbClr val="F9F9F9"/>
              </a:solidFill>
              <a:prstDash val="solid"/>
              <a:round/>
            </a:ln>
            <a:effectLst/>
          </c:spPr>
          <c:dPt>
            <c:idx val="0"/>
            <c:bubble3D val="0"/>
            <c:spPr>
              <a:solidFill>
                <a:srgbClr val="2A9D6E"/>
              </a:solidFill>
              <a:ln w="6350" cap="flat">
                <a:solidFill>
                  <a:srgbClr val="ECE8F2"/>
                </a:solidFill>
                <a:prstDash val="solid"/>
                <a:round/>
              </a:ln>
              <a:effectLst/>
            </c:spPr>
          </c:dPt>
          <c:dPt>
            <c:idx val="1"/>
            <c:bubble3D val="0"/>
            <c:spPr>
              <a:solidFill>
                <a:srgbClr val="ECE8F2"/>
              </a:solidFill>
              <a:ln w="6350" cap="flat">
                <a:solidFill>
                  <a:srgbClr val="ECE8F2"/>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Score</c:v>
                </c:pt>
                <c:pt idx="1">
                  <c:v>Remaining</c:v>
                </c:pt>
              </c:strCache>
            </c:strRef>
          </c:cat>
          <c:val>
            <c:numRef>
              <c:f>Sheet1!$B$2:$B$3</c:f>
              <c:numCache>
                <c:ptCount val="2"/>
                <c:pt idx="0">
                  <c:v>77.5</c:v>
                </c:pt>
                <c:pt idx="1">
                  <c:v>22.5</c:v>
                </c:pt>
              </c:numCache>
            </c:numRef>
          </c:val>
        </c:ser>
        <c:firstSliceAng val="0"/>
        <c:holeSize val="77"/>
      </c:doughnutChart>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2"/>
          <c:y val="0.02"/>
          <c:w val="0.96"/>
          <c:h val="0.96"/>
        </c:manualLayout>
      </c:layout>
      <c:doughnutChart>
        <c:varyColors val="1"/>
        <c:ser>
          <c:idx val="0"/>
          <c:order val="0"/>
          <c:tx>
            <c:strRef>
              <c:f>Sheet1!$B$1</c:f>
              <c:strCache>
                <c:ptCount val="1"/>
                <c:pt idx="0">
                  <c:v>Score</c:v>
                </c:pt>
              </c:strCache>
            </c:strRef>
          </c:tx>
          <c:spPr>
            <a:solidFill>
              <a:schemeClr val="accent1"/>
            </a:solidFill>
            <a:ln w="9525" cap="flat">
              <a:solidFill>
                <a:srgbClr val="F9F9F9"/>
              </a:solidFill>
              <a:prstDash val="solid"/>
              <a:round/>
            </a:ln>
            <a:effectLst/>
          </c:spPr>
          <c:dPt>
            <c:idx val="0"/>
            <c:bubble3D val="0"/>
            <c:spPr>
              <a:solidFill>
                <a:srgbClr val="E08F1E"/>
              </a:solidFill>
              <a:ln w="6350" cap="flat">
                <a:solidFill>
                  <a:srgbClr val="ECE8F2"/>
                </a:solidFill>
                <a:prstDash val="solid"/>
                <a:round/>
              </a:ln>
              <a:effectLst/>
            </c:spPr>
          </c:dPt>
          <c:dPt>
            <c:idx val="1"/>
            <c:bubble3D val="0"/>
            <c:spPr>
              <a:solidFill>
                <a:srgbClr val="ECE8F2"/>
              </a:solidFill>
              <a:ln w="6350" cap="flat">
                <a:solidFill>
                  <a:srgbClr val="ECE8F2"/>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Score</c:v>
                </c:pt>
                <c:pt idx="1">
                  <c:v>Remaining</c:v>
                </c:pt>
              </c:strCache>
            </c:strRef>
          </c:cat>
          <c:val>
            <c:numRef>
              <c:f>Sheet1!$B$2:$B$3</c:f>
              <c:numCache>
                <c:ptCount val="2"/>
                <c:pt idx="0">
                  <c:v>93.25</c:v>
                </c:pt>
                <c:pt idx="1">
                  <c:v>6.75</c:v>
                </c:pt>
              </c:numCache>
            </c:numRef>
          </c:val>
        </c:ser>
        <c:firstSliceAng val="0"/>
        <c:holeSize val="77"/>
      </c:doughnutChart>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2"/>
          <c:y val="0.02"/>
          <c:w val="0.96"/>
          <c:h val="0.96"/>
        </c:manualLayout>
      </c:layout>
      <c:doughnutChart>
        <c:varyColors val="1"/>
        <c:ser>
          <c:idx val="0"/>
          <c:order val="0"/>
          <c:tx>
            <c:strRef>
              <c:f>Sheet1!$B$1</c:f>
              <c:strCache>
                <c:ptCount val="1"/>
                <c:pt idx="0">
                  <c:v>Score</c:v>
                </c:pt>
              </c:strCache>
            </c:strRef>
          </c:tx>
          <c:spPr>
            <a:solidFill>
              <a:schemeClr val="accent1"/>
            </a:solidFill>
            <a:ln w="9525" cap="flat">
              <a:solidFill>
                <a:srgbClr val="F9F9F9"/>
              </a:solidFill>
              <a:prstDash val="solid"/>
              <a:round/>
            </a:ln>
            <a:effectLst/>
          </c:spPr>
          <c:dPt>
            <c:idx val="0"/>
            <c:bubble3D val="0"/>
            <c:spPr>
              <a:solidFill>
                <a:srgbClr val="DD5C7B"/>
              </a:solidFill>
              <a:ln w="6350" cap="flat">
                <a:solidFill>
                  <a:srgbClr val="ECE8F2"/>
                </a:solidFill>
                <a:prstDash val="solid"/>
                <a:round/>
              </a:ln>
              <a:effectLst/>
            </c:spPr>
          </c:dPt>
          <c:dPt>
            <c:idx val="1"/>
            <c:bubble3D val="0"/>
            <c:spPr>
              <a:solidFill>
                <a:srgbClr val="ECE8F2"/>
              </a:solidFill>
              <a:ln w="6350" cap="flat">
                <a:solidFill>
                  <a:srgbClr val="ECE8F2"/>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Score</c:v>
                </c:pt>
                <c:pt idx="1">
                  <c:v>Remaining</c:v>
                </c:pt>
              </c:strCache>
            </c:strRef>
          </c:cat>
          <c:val>
            <c:numRef>
              <c:f>Sheet1!$B$2:$B$3</c:f>
              <c:numCache>
                <c:ptCount val="2"/>
                <c:pt idx="0">
                  <c:v>66.75</c:v>
                </c:pt>
                <c:pt idx="1">
                  <c:v>33.25</c:v>
                </c:pt>
              </c:numCache>
            </c:numRef>
          </c:val>
        </c:ser>
        <c:firstSliceAng val="0"/>
        <c:holeSize val="77"/>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Today I'll share our Mystery Shopper results for September 2026. One shopper visited each of our 3 outlets. Puchong got our top score at 93.25, Greenlane got 77.5, and Cheras Leisure Mall got 66.75.
中文：
大家早上好。今天跟大家分享 2026 年 9 月的神秘顾客（Mystery Shopper）结果。这次每间分店都有一位神秘顾客到访，一共 3 间分店。Puchong 拿到本月最高分 93.25，Greenlane 是 77.5，Cheras Leisure Mall 是 66.75。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quick look at all three. On top is what each shopper loved, and at the bottom is where we can grow. The good news: every shopper found something they liked. One thing to note: price came up in all three visits.
中文：
先快速看一下三间分店。上面是顾客喜欢的地方，下面是我们可以进步的地方。好消息是，每位顾客都有喜欢的地方。有一点要留意：三次到访，顾客都有提到价格。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Greenlane scored 77.5. The shopper was impressed by our equipment and loved the small details: the travel set gift, the warm red date tea, and a clean, tidy clinic. Sylvin was praised for being very friendly. Well done, Sylvin! To grow: the shopper wanted the AI analysis to feel more interactive, with more of a 'wow'. They also hoped the visit could be shorter, within 2 hours, and felt the price could be more accessible.
中文：
Greenlane 拿到 77.5 分。顾客对我们的仪器印象很深，也很喜欢一些小细节：旅行套装礼物、暖暖的红枣茶，还有干净整齐的环境。Sylvin 也被称赞很有亲和力，做得好，Sylvin！可以进步的地方：顾客希望 AI 分析可以更互动，多一点“wow”的感觉。顾客也希望整个流程可以短一点，最好在 2 小时内完成，价格也可以更亲民一些。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Puchong is our top score at 93.25. Congratulations, team! The shopper said the overall experience was very good. The doctor explained everything clearly, and the therapist was friendly and caring. Just a few small touches: during treatment, remind customers of simple actions like turning the head. After the bright light, help their eyes adjust before they look in the mirror. And the price may feel high for some customers.
中文：
Puchong 是本月最高分，93.25 分，恭喜团队！顾客说整体体验非常好。医生解释得很清楚，护理师也很友善、很贴心。只有几个小细节可以加强：护理过程中，提醒顾客一些简单动作，比如转头；做完强光护理后，先让顾客的眼睛慢慢适应，再照镜子；还有，价格对一般顾客来说可能偏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Cheras Leisure Mall scored 66.75. The good part: the customer was happy with the result, and her skin looked brighter. Where we can improve: she felt pushed to buy products or packages, and the price felt too high. She also hoped for less waiting and a quieter corridor. And she prefers WhatsApp messages instead of phone calls.
中文：
Cheras Leisure Mall 拿到 66.75 分。好的地方是，顾客对效果很满意，觉得皮肤变亮了。需要改进的地方：顾客觉得被推销产品和配套，也觉得价格负担不起。她也希望等待时间少一点、走廊安静一点。另外，她比较喜欢用 WhatsApp 联系，而不是直接打电话。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one line each: Greenlane, impressive technology and thoughtful details. Puchong, clear explanation and caring treatment. Cheras, a good visible result. Please take the improvement points back to your team.
中文：
每间分店用一句话总结：Greenlane，先进的科技加上贴心的细节；Puchong，清楚的讲解加上用心的护理；Cheras，看得见的效果。请大家把需要改进的地方带回去跟团队分享。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some of the shoppers' own words, with English translations. (Read one or two out loud.)
中文：
这里是几位顾客的原话，也附上了英文翻译。（挑一两句念出来。）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team. Our shoppers remembered the warm welcome, the clear explanations and the caring hands. Let's keep that going, one visit at a time. Any questions?
中文：
谢谢大家！顾客记得的是我们热情的招待、清楚的讲解和用心的护理。让我们继续保持，每一次到访都用心做好。大家有什么问题吗？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9DB5"/>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9DB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4" Type="http://schemas.openxmlformats.org/officeDocument/2006/relationships/chart" Target="/ppt/charts/chart3.xml"/><Relationship Id="rId3" Type="http://schemas.openxmlformats.org/officeDocument/2006/relationships/image" Target="../media/image-1-1.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image" Target="../media/image-3-7.png"/><Relationship Id="rId9" Type="http://schemas.openxmlformats.org/officeDocument/2006/relationships/image" Target="../media/image-3-8.png"/><Relationship Id="rId10" Type="http://schemas.openxmlformats.org/officeDocument/2006/relationships/image" Target="../media/image-3-9.png"/><Relationship Id="rId11" Type="http://schemas.openxmlformats.org/officeDocument/2006/relationships/image" Target="../media/image-3-10.png"/><Relationship Id="rId12" Type="http://schemas.openxmlformats.org/officeDocument/2006/relationships/image" Target="../media/image-3-11.png"/><Relationship Id="rId13" Type="http://schemas.openxmlformats.org/officeDocument/2006/relationships/image" Target="../media/image-3-12.png"/><Relationship Id="rId14" Type="http://schemas.openxmlformats.org/officeDocument/2006/relationships/image" Target="../media/image-3-13.png"/><Relationship Id="rId15" Type="http://schemas.openxmlformats.org/officeDocument/2006/relationships/slideLayout" Target="../slideLayouts/slideLayout1.xml"/><Relationship Id="rId1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image" Target="../media/image-4-8.png"/><Relationship Id="rId10" Type="http://schemas.openxmlformats.org/officeDocument/2006/relationships/image" Target="../media/image-4-9.png"/><Relationship Id="rId11" Type="http://schemas.openxmlformats.org/officeDocument/2006/relationships/image" Target="../media/image-4-10.png"/><Relationship Id="rId12" Type="http://schemas.openxmlformats.org/officeDocument/2006/relationships/image" Target="../media/image-4-11.png"/><Relationship Id="rId13" Type="http://schemas.openxmlformats.org/officeDocument/2006/relationships/image" Target="../media/image-4-12.png"/><Relationship Id="rId14" Type="http://schemas.openxmlformats.org/officeDocument/2006/relationships/slideLayout" Target="../slideLayouts/slideLayout1.xml"/><Relationship Id="rId1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image" Target="../media/image-5-6.png"/><Relationship Id="rId8" Type="http://schemas.openxmlformats.org/officeDocument/2006/relationships/image" Target="../media/image-5-7.png"/><Relationship Id="rId9" Type="http://schemas.openxmlformats.org/officeDocument/2006/relationships/image" Target="../media/image-5-8.png"/><Relationship Id="rId10" Type="http://schemas.openxmlformats.org/officeDocument/2006/relationships/image" Target="../media/image-5-9.png"/><Relationship Id="rId11" Type="http://schemas.openxmlformats.org/officeDocument/2006/relationships/image" Target="../media/image-5-10.png"/><Relationship Id="rId12" Type="http://schemas.openxmlformats.org/officeDocument/2006/relationships/image" Target="../media/image-5-11.png"/><Relationship Id="rId13" Type="http://schemas.openxmlformats.org/officeDocument/2006/relationships/image" Target="../media/image-5-12.png"/><Relationship Id="rId14" Type="http://schemas.openxmlformats.org/officeDocument/2006/relationships/slideLayout" Target="../slideLayouts/slideLayout1.xml"/><Relationship Id="rId1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slideLayout" Target="../slideLayouts/slideLayout1.xml"/><Relationship Id="rId1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B2A5A"/>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274320"/>
          </a:xfrm>
          <a:prstGeom prst="rect">
            <a:avLst/>
          </a:prstGeom>
          <a:noFill/>
          <a:ln/>
        </p:spPr>
        <p:txBody>
          <a:bodyPr wrap="square" lIns="0" tIns="0" rIns="0" bIns="0" rtlCol="0" anchor="t"/>
          <a:lstStyle/>
          <a:p>
            <a:pPr indent="0" marL="0">
              <a:buNone/>
            </a:pPr>
            <a:r>
              <a:rPr lang="en-US" sz="1200" b="1" spc="200" kern="0" dirty="0">
                <a:solidFill>
                  <a:srgbClr val="D9D0EC"/>
                </a:solidFill>
                <a:latin typeface="Calibri" pitchFamily="34" charset="0"/>
                <a:ea typeface="Calibri" pitchFamily="34" charset="-122"/>
                <a:cs typeface="Calibri" pitchFamily="34" charset="-120"/>
              </a:rPr>
              <a:t>UR KLINIK  ·  CUSTOMER EXPERIENCE</a:t>
            </a:r>
            <a:endParaRPr lang="en-US" sz="1200" dirty="0"/>
          </a:p>
        </p:txBody>
      </p:sp>
      <p:sp>
        <p:nvSpPr>
          <p:cNvPr id="3" name="Text 1"/>
          <p:cNvSpPr txBox="1"/>
          <p:nvPr/>
        </p:nvSpPr>
        <p:spPr>
          <a:xfrm>
            <a:off x="640080" y="868680"/>
            <a:ext cx="100584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Mystery Shopper Results</a:t>
            </a:r>
            <a:endParaRPr lang="en-US" sz="4400" dirty="0"/>
          </a:p>
        </p:txBody>
      </p:sp>
      <p:sp>
        <p:nvSpPr>
          <p:cNvPr id="4" name="Text 2"/>
          <p:cNvSpPr txBox="1"/>
          <p:nvPr/>
        </p:nvSpPr>
        <p:spPr>
          <a:xfrm>
            <a:off x="640080" y="1691640"/>
            <a:ext cx="7315200" cy="457200"/>
          </a:xfrm>
          <a:prstGeom prst="rect">
            <a:avLst/>
          </a:prstGeom>
          <a:noFill/>
          <a:ln/>
        </p:spPr>
        <p:txBody>
          <a:bodyPr wrap="square" lIns="0" tIns="0" rIns="0" bIns="0" rtlCol="0" anchor="ctr"/>
          <a:lstStyle/>
          <a:p>
            <a:pPr indent="0" marL="0">
              <a:buNone/>
            </a:pPr>
            <a:r>
              <a:rPr lang="en-US" sz="2400" b="1" dirty="0">
                <a:solidFill>
                  <a:srgbClr val="F5B84A"/>
                </a:solidFill>
                <a:latin typeface="Calibri" pitchFamily="34" charset="0"/>
                <a:ea typeface="Calibri" pitchFamily="34" charset="-122"/>
                <a:cs typeface="Calibri" pitchFamily="34" charset="-120"/>
              </a:rPr>
              <a:t>September 2026</a:t>
            </a:r>
            <a:endParaRPr lang="en-US" sz="2400" dirty="0"/>
          </a:p>
        </p:txBody>
      </p:sp>
      <p:sp>
        <p:nvSpPr>
          <p:cNvPr id="5" name="Text 3"/>
          <p:cNvSpPr txBox="1"/>
          <p:nvPr/>
        </p:nvSpPr>
        <p:spPr>
          <a:xfrm>
            <a:off x="640080" y="2240280"/>
            <a:ext cx="10058400" cy="365760"/>
          </a:xfrm>
          <a:prstGeom prst="rect">
            <a:avLst/>
          </a:prstGeom>
          <a:noFill/>
          <a:ln/>
        </p:spPr>
        <p:txBody>
          <a:bodyPr wrap="square" lIns="0" tIns="0" rIns="0" bIns="0" rtlCol="0" anchor="ctr"/>
          <a:lstStyle/>
          <a:p>
            <a:pPr indent="0" marL="0">
              <a:buNone/>
            </a:pPr>
            <a:r>
              <a:rPr lang="en-US" sz="1600" dirty="0">
                <a:solidFill>
                  <a:srgbClr val="D9D0EC"/>
                </a:solidFill>
                <a:latin typeface="Calibri" pitchFamily="34" charset="0"/>
                <a:ea typeface="Calibri" pitchFamily="34" charset="-122"/>
                <a:cs typeface="Calibri" pitchFamily="34" charset="-120"/>
              </a:rPr>
              <a:t>3 outlets  ·  3 real customer experiences  ·  actual third-party feedback</a:t>
            </a:r>
            <a:endParaRPr lang="en-US" sz="1600" dirty="0"/>
          </a:p>
        </p:txBody>
      </p:sp>
      <p:sp>
        <p:nvSpPr>
          <p:cNvPr id="6" name="Shape 4"/>
          <p:cNvSpPr/>
          <p:nvPr/>
        </p:nvSpPr>
        <p:spPr>
          <a:xfrm>
            <a:off x="554584" y="3063240"/>
            <a:ext cx="3474720" cy="3246120"/>
          </a:xfrm>
          <a:prstGeom prst="roundRect">
            <a:avLst>
              <a:gd name="adj" fmla="val 5070"/>
            </a:avLst>
          </a:prstGeom>
          <a:solidFill>
            <a:srgbClr val="FFFFFF"/>
          </a:solidFill>
          <a:ln w="12700">
            <a:solidFill>
              <a:srgbClr val="FFFFFF"/>
            </a:solidFill>
            <a:prstDash val="solid"/>
          </a:ln>
        </p:spPr>
      </p:sp>
      <p:sp>
        <p:nvSpPr>
          <p:cNvPr id="7" name="Text 5"/>
          <p:cNvSpPr txBox="1"/>
          <p:nvPr/>
        </p:nvSpPr>
        <p:spPr>
          <a:xfrm>
            <a:off x="554584" y="3319272"/>
            <a:ext cx="3474720" cy="320040"/>
          </a:xfrm>
          <a:prstGeom prst="rect">
            <a:avLst/>
          </a:prstGeom>
          <a:noFill/>
          <a:ln/>
        </p:spPr>
        <p:txBody>
          <a:bodyPr wrap="square" lIns="0" tIns="0" rIns="0" bIns="0" rtlCol="0" anchor="t"/>
          <a:lstStyle/>
          <a:p>
            <a:pPr algn="ctr" indent="0" marL="0">
              <a:buNone/>
            </a:pPr>
            <a:r>
              <a:rPr lang="en-US" sz="1500" b="1" spc="100" kern="0" dirty="0">
                <a:solidFill>
                  <a:srgbClr val="2A9D6E"/>
                </a:solidFill>
                <a:latin typeface="Calibri" pitchFamily="34" charset="0"/>
                <a:ea typeface="Calibri" pitchFamily="34" charset="-122"/>
                <a:cs typeface="Calibri" pitchFamily="34" charset="-120"/>
              </a:rPr>
              <a:t>GREENLANE</a:t>
            </a:r>
            <a:endParaRPr lang="en-US" sz="1500" dirty="0"/>
          </a:p>
        </p:txBody>
      </p:sp>
      <p:graphicFrame>
        <p:nvGraphicFramePr>
          <p:cNvPr id="8" name="Chart 0" descr=""/>
          <p:cNvGraphicFramePr/>
          <p:nvPr/>
        </p:nvGraphicFramePr>
        <p:xfrm>
          <a:off x="1286104" y="3749040"/>
          <a:ext cx="2011680" cy="201168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1286104" y="4480560"/>
            <a:ext cx="2011680" cy="609600"/>
          </a:xfrm>
          <a:prstGeom prst="rect">
            <a:avLst/>
          </a:prstGeom>
          <a:noFill/>
          <a:ln/>
        </p:spPr>
        <p:txBody>
          <a:bodyPr wrap="square" lIns="0" tIns="0" rIns="0" bIns="0" rtlCol="0" anchor="ctr"/>
          <a:lstStyle/>
          <a:p>
            <a:pPr algn="ctr" indent="0" marL="0">
              <a:buNone/>
            </a:pPr>
            <a:r>
              <a:rPr lang="en-US" sz="3000" b="1" dirty="0">
                <a:solidFill>
                  <a:srgbClr val="3B2A5A"/>
                </a:solidFill>
                <a:latin typeface="Calibri" pitchFamily="34" charset="0"/>
                <a:ea typeface="Calibri" pitchFamily="34" charset="-122"/>
                <a:cs typeface="Calibri" pitchFamily="34" charset="-120"/>
              </a:rPr>
              <a:t>77.5</a:t>
            </a:r>
            <a:endParaRPr lang="en-US" sz="3000" dirty="0"/>
          </a:p>
          <a:p>
            <a:pPr algn="ctr" indent="0" marL="0">
              <a:buNone/>
            </a:pPr>
            <a:r>
              <a:rPr lang="en-US" sz="1000" dirty="0">
                <a:solidFill>
                  <a:srgbClr val="6E6784"/>
                </a:solidFill>
                <a:latin typeface="Calibri" pitchFamily="34" charset="0"/>
                <a:ea typeface="Calibri" pitchFamily="34" charset="-122"/>
                <a:cs typeface="Calibri" pitchFamily="34" charset="-120"/>
              </a:rPr>
              <a:t>out of 100</a:t>
            </a:r>
            <a:endParaRPr lang="en-US" sz="3000" dirty="0"/>
          </a:p>
        </p:txBody>
      </p:sp>
      <p:sp>
        <p:nvSpPr>
          <p:cNvPr id="10" name="Text 7"/>
          <p:cNvSpPr txBox="1"/>
          <p:nvPr/>
        </p:nvSpPr>
        <p:spPr>
          <a:xfrm>
            <a:off x="554584" y="5852160"/>
            <a:ext cx="3474720" cy="274320"/>
          </a:xfrm>
          <a:prstGeom prst="rect">
            <a:avLst/>
          </a:prstGeom>
          <a:noFill/>
          <a:ln/>
        </p:spPr>
        <p:txBody>
          <a:bodyPr wrap="square" lIns="0" tIns="0" rIns="0" bIns="0" rtlCol="0" anchor="t"/>
          <a:lstStyle/>
          <a:p>
            <a:pPr algn="ctr" indent="0" marL="0">
              <a:buNone/>
            </a:pPr>
            <a:r>
              <a:rPr lang="en-US" sz="1200" dirty="0">
                <a:solidFill>
                  <a:srgbClr val="6E6784"/>
                </a:solidFill>
                <a:latin typeface="Calibri" pitchFamily="34" charset="0"/>
                <a:ea typeface="Calibri" pitchFamily="34" charset="-122"/>
                <a:cs typeface="Calibri" pitchFamily="34" charset="-120"/>
              </a:rPr>
              <a:t>Mystery Shopper Score</a:t>
            </a:r>
            <a:endParaRPr lang="en-US" sz="1200" dirty="0"/>
          </a:p>
        </p:txBody>
      </p:sp>
      <p:sp>
        <p:nvSpPr>
          <p:cNvPr id="11" name="Shape 8"/>
          <p:cNvSpPr/>
          <p:nvPr/>
        </p:nvSpPr>
        <p:spPr>
          <a:xfrm>
            <a:off x="4358488" y="3063240"/>
            <a:ext cx="3474720" cy="3246120"/>
          </a:xfrm>
          <a:prstGeom prst="roundRect">
            <a:avLst>
              <a:gd name="adj" fmla="val 5070"/>
            </a:avLst>
          </a:prstGeom>
          <a:solidFill>
            <a:srgbClr val="FFFFFF"/>
          </a:solidFill>
          <a:ln w="12700">
            <a:solidFill>
              <a:srgbClr val="FFFFFF"/>
            </a:solidFill>
            <a:prstDash val="solid"/>
          </a:ln>
        </p:spPr>
      </p:sp>
      <p:sp>
        <p:nvSpPr>
          <p:cNvPr id="12" name="Text 9"/>
          <p:cNvSpPr txBox="1"/>
          <p:nvPr/>
        </p:nvSpPr>
        <p:spPr>
          <a:xfrm>
            <a:off x="4358488" y="3319272"/>
            <a:ext cx="3474720" cy="320040"/>
          </a:xfrm>
          <a:prstGeom prst="rect">
            <a:avLst/>
          </a:prstGeom>
          <a:noFill/>
          <a:ln/>
        </p:spPr>
        <p:txBody>
          <a:bodyPr wrap="square" lIns="0" tIns="0" rIns="0" bIns="0" rtlCol="0" anchor="t"/>
          <a:lstStyle/>
          <a:p>
            <a:pPr algn="ctr" indent="0" marL="0">
              <a:buNone/>
            </a:pPr>
            <a:r>
              <a:rPr lang="en-US" sz="1500" b="1" spc="100" kern="0" dirty="0">
                <a:solidFill>
                  <a:srgbClr val="E08F1E"/>
                </a:solidFill>
                <a:latin typeface="Calibri" pitchFamily="34" charset="0"/>
                <a:ea typeface="Calibri" pitchFamily="34" charset="-122"/>
                <a:cs typeface="Calibri" pitchFamily="34" charset="-120"/>
              </a:rPr>
              <a:t>PUCHONG</a:t>
            </a:r>
            <a:endParaRPr lang="en-US" sz="1500" dirty="0"/>
          </a:p>
        </p:txBody>
      </p:sp>
      <p:graphicFrame>
        <p:nvGraphicFramePr>
          <p:cNvPr id="13" name="Chart 1" descr=""/>
          <p:cNvGraphicFramePr/>
          <p:nvPr/>
        </p:nvGraphicFramePr>
        <p:xfrm>
          <a:off x="5090008" y="3749040"/>
          <a:ext cx="2011680" cy="2011680"/>
        </p:xfrm>
        <a:graphic xmlns:a="http://schemas.openxmlformats.org/drawingml/2006/main">
          <a:graphicData uri="http://schemas.openxmlformats.org/drawingml/2006/chart">
            <c:chart xmlns:c="http://schemas.openxmlformats.org/drawingml/2006/chart" r:id="rId2"/>
          </a:graphicData>
        </a:graphic>
      </p:graphicFrame>
      <p:sp>
        <p:nvSpPr>
          <p:cNvPr id="14" name="Text 10"/>
          <p:cNvSpPr txBox="1"/>
          <p:nvPr/>
        </p:nvSpPr>
        <p:spPr>
          <a:xfrm>
            <a:off x="5090008" y="4480560"/>
            <a:ext cx="2011680" cy="609600"/>
          </a:xfrm>
          <a:prstGeom prst="rect">
            <a:avLst/>
          </a:prstGeom>
          <a:noFill/>
          <a:ln/>
        </p:spPr>
        <p:txBody>
          <a:bodyPr wrap="square" lIns="0" tIns="0" rIns="0" bIns="0" rtlCol="0" anchor="ctr"/>
          <a:lstStyle/>
          <a:p>
            <a:pPr algn="ctr" indent="0" marL="0">
              <a:buNone/>
            </a:pPr>
            <a:r>
              <a:rPr lang="en-US" sz="3000" b="1" dirty="0">
                <a:solidFill>
                  <a:srgbClr val="3B2A5A"/>
                </a:solidFill>
                <a:latin typeface="Calibri" pitchFamily="34" charset="0"/>
                <a:ea typeface="Calibri" pitchFamily="34" charset="-122"/>
                <a:cs typeface="Calibri" pitchFamily="34" charset="-120"/>
              </a:rPr>
              <a:t>93.25</a:t>
            </a:r>
            <a:endParaRPr lang="en-US" sz="3000" dirty="0"/>
          </a:p>
          <a:p>
            <a:pPr algn="ctr" indent="0" marL="0">
              <a:buNone/>
            </a:pPr>
            <a:r>
              <a:rPr lang="en-US" sz="1000" dirty="0">
                <a:solidFill>
                  <a:srgbClr val="6E6784"/>
                </a:solidFill>
                <a:latin typeface="Calibri" pitchFamily="34" charset="0"/>
                <a:ea typeface="Calibri" pitchFamily="34" charset="-122"/>
                <a:cs typeface="Calibri" pitchFamily="34" charset="-120"/>
              </a:rPr>
              <a:t>out of 100</a:t>
            </a:r>
            <a:endParaRPr lang="en-US" sz="3000" dirty="0"/>
          </a:p>
        </p:txBody>
      </p:sp>
      <p:sp>
        <p:nvSpPr>
          <p:cNvPr id="15" name="Text 11"/>
          <p:cNvSpPr txBox="1"/>
          <p:nvPr/>
        </p:nvSpPr>
        <p:spPr>
          <a:xfrm>
            <a:off x="4358488" y="5852160"/>
            <a:ext cx="3474720" cy="274320"/>
          </a:xfrm>
          <a:prstGeom prst="rect">
            <a:avLst/>
          </a:prstGeom>
          <a:noFill/>
          <a:ln/>
        </p:spPr>
        <p:txBody>
          <a:bodyPr wrap="square" lIns="0" tIns="0" rIns="0" bIns="0" rtlCol="0" anchor="t"/>
          <a:lstStyle/>
          <a:p>
            <a:pPr algn="ctr" indent="0" marL="0">
              <a:buNone/>
            </a:pPr>
            <a:r>
              <a:rPr lang="en-US" sz="1200" dirty="0">
                <a:solidFill>
                  <a:srgbClr val="6E6784"/>
                </a:solidFill>
                <a:latin typeface="Calibri" pitchFamily="34" charset="0"/>
                <a:ea typeface="Calibri" pitchFamily="34" charset="-122"/>
                <a:cs typeface="Calibri" pitchFamily="34" charset="-120"/>
              </a:rPr>
              <a:t>Mystery Shopper Score</a:t>
            </a:r>
            <a:endParaRPr lang="en-US" sz="1200" dirty="0"/>
          </a:p>
        </p:txBody>
      </p:sp>
      <p:sp>
        <p:nvSpPr>
          <p:cNvPr id="16" name="Shape 12"/>
          <p:cNvSpPr/>
          <p:nvPr/>
        </p:nvSpPr>
        <p:spPr>
          <a:xfrm>
            <a:off x="6324448" y="2871216"/>
            <a:ext cx="1325880" cy="384048"/>
          </a:xfrm>
          <a:prstGeom prst="roundRect">
            <a:avLst>
              <a:gd name="adj" fmla="val 50000"/>
            </a:avLst>
          </a:prstGeom>
          <a:solidFill>
            <a:srgbClr val="F5B84A"/>
          </a:solidFill>
          <a:ln w="12700">
            <a:solidFill>
              <a:srgbClr val="F5B84A"/>
            </a:solidFill>
            <a:prstDash val="solid"/>
          </a:ln>
        </p:spPr>
      </p:sp>
      <p:pic>
        <p:nvPicPr>
          <p:cNvPr id="17" name="Image 0" descr="preencoded.png">    </p:cNvPr>
          <p:cNvPicPr>
            <a:picLocks noChangeAspect="1"/>
          </p:cNvPicPr>
          <p:nvPr/>
        </p:nvPicPr>
        <p:blipFill>
          <a:blip r:embed="rId3"/>
          <a:stretch>
            <a:fillRect/>
          </a:stretch>
        </p:blipFill>
        <p:spPr>
          <a:xfrm>
            <a:off x="6452464" y="2962656"/>
            <a:ext cx="201168" cy="201168"/>
          </a:xfrm>
          <a:prstGeom prst="rect">
            <a:avLst/>
          </a:prstGeom>
        </p:spPr>
      </p:pic>
      <p:sp>
        <p:nvSpPr>
          <p:cNvPr id="18" name="Text 13"/>
          <p:cNvSpPr txBox="1"/>
          <p:nvPr/>
        </p:nvSpPr>
        <p:spPr>
          <a:xfrm>
            <a:off x="6708496" y="2871216"/>
            <a:ext cx="868680" cy="384048"/>
          </a:xfrm>
          <a:prstGeom prst="rect">
            <a:avLst/>
          </a:prstGeom>
          <a:noFill/>
          <a:ln/>
        </p:spPr>
        <p:txBody>
          <a:bodyPr wrap="square" lIns="0" tIns="0" rIns="0" bIns="0" rtlCol="0" anchor="ctr"/>
          <a:lstStyle/>
          <a:p>
            <a:pPr indent="0" marL="0">
              <a:buNone/>
            </a:pPr>
            <a:r>
              <a:rPr lang="en-US" sz="1200" b="1" dirty="0">
                <a:solidFill>
                  <a:srgbClr val="3B2A5A"/>
                </a:solidFill>
                <a:latin typeface="Calibri" pitchFamily="34" charset="0"/>
                <a:ea typeface="Calibri" pitchFamily="34" charset="-122"/>
                <a:cs typeface="Calibri" pitchFamily="34" charset="-120"/>
              </a:rPr>
              <a:t>Top score</a:t>
            </a:r>
            <a:endParaRPr lang="en-US" sz="1200" dirty="0"/>
          </a:p>
        </p:txBody>
      </p:sp>
      <p:sp>
        <p:nvSpPr>
          <p:cNvPr id="19" name="Shape 14"/>
          <p:cNvSpPr/>
          <p:nvPr/>
        </p:nvSpPr>
        <p:spPr>
          <a:xfrm>
            <a:off x="8162392" y="3063240"/>
            <a:ext cx="3474720" cy="3246120"/>
          </a:xfrm>
          <a:prstGeom prst="roundRect">
            <a:avLst>
              <a:gd name="adj" fmla="val 5070"/>
            </a:avLst>
          </a:prstGeom>
          <a:solidFill>
            <a:srgbClr val="FFFFFF"/>
          </a:solidFill>
          <a:ln w="12700">
            <a:solidFill>
              <a:srgbClr val="FFFFFF"/>
            </a:solidFill>
            <a:prstDash val="solid"/>
          </a:ln>
        </p:spPr>
      </p:sp>
      <p:sp>
        <p:nvSpPr>
          <p:cNvPr id="20" name="Text 15"/>
          <p:cNvSpPr txBox="1"/>
          <p:nvPr/>
        </p:nvSpPr>
        <p:spPr>
          <a:xfrm>
            <a:off x="8162392" y="3319272"/>
            <a:ext cx="3474720" cy="320040"/>
          </a:xfrm>
          <a:prstGeom prst="rect">
            <a:avLst/>
          </a:prstGeom>
          <a:noFill/>
          <a:ln/>
        </p:spPr>
        <p:txBody>
          <a:bodyPr wrap="square" lIns="0" tIns="0" rIns="0" bIns="0" rtlCol="0" anchor="t"/>
          <a:lstStyle/>
          <a:p>
            <a:pPr algn="ctr" indent="0" marL="0">
              <a:buNone/>
            </a:pPr>
            <a:r>
              <a:rPr lang="en-US" sz="1500" b="1" spc="100" kern="0" dirty="0">
                <a:solidFill>
                  <a:srgbClr val="DD5C7B"/>
                </a:solidFill>
                <a:latin typeface="Calibri" pitchFamily="34" charset="0"/>
                <a:ea typeface="Calibri" pitchFamily="34" charset="-122"/>
                <a:cs typeface="Calibri" pitchFamily="34" charset="-120"/>
              </a:rPr>
              <a:t>CHERAS LEISURE MALL</a:t>
            </a:r>
            <a:endParaRPr lang="en-US" sz="1500" dirty="0"/>
          </a:p>
        </p:txBody>
      </p:sp>
      <p:graphicFrame>
        <p:nvGraphicFramePr>
          <p:cNvPr id="21" name="Chart 2" descr=""/>
          <p:cNvGraphicFramePr/>
          <p:nvPr/>
        </p:nvGraphicFramePr>
        <p:xfrm>
          <a:off x="8893912" y="3749040"/>
          <a:ext cx="2011680" cy="2011680"/>
        </p:xfrm>
        <a:graphic xmlns:a="http://schemas.openxmlformats.org/drawingml/2006/main">
          <a:graphicData uri="http://schemas.openxmlformats.org/drawingml/2006/chart">
            <c:chart xmlns:c="http://schemas.openxmlformats.org/drawingml/2006/chart" r:id="rId4"/>
          </a:graphicData>
        </a:graphic>
      </p:graphicFrame>
      <p:sp>
        <p:nvSpPr>
          <p:cNvPr id="22" name="Text 16"/>
          <p:cNvSpPr txBox="1"/>
          <p:nvPr/>
        </p:nvSpPr>
        <p:spPr>
          <a:xfrm>
            <a:off x="8893912" y="4480560"/>
            <a:ext cx="2011680" cy="609600"/>
          </a:xfrm>
          <a:prstGeom prst="rect">
            <a:avLst/>
          </a:prstGeom>
          <a:noFill/>
          <a:ln/>
        </p:spPr>
        <p:txBody>
          <a:bodyPr wrap="square" lIns="0" tIns="0" rIns="0" bIns="0" rtlCol="0" anchor="ctr"/>
          <a:lstStyle/>
          <a:p>
            <a:pPr algn="ctr" indent="0" marL="0">
              <a:buNone/>
            </a:pPr>
            <a:r>
              <a:rPr lang="en-US" sz="3000" b="1" dirty="0">
                <a:solidFill>
                  <a:srgbClr val="3B2A5A"/>
                </a:solidFill>
                <a:latin typeface="Calibri" pitchFamily="34" charset="0"/>
                <a:ea typeface="Calibri" pitchFamily="34" charset="-122"/>
                <a:cs typeface="Calibri" pitchFamily="34" charset="-120"/>
              </a:rPr>
              <a:t>66.75</a:t>
            </a:r>
            <a:endParaRPr lang="en-US" sz="3000" dirty="0"/>
          </a:p>
          <a:p>
            <a:pPr algn="ctr" indent="0" marL="0">
              <a:buNone/>
            </a:pPr>
            <a:r>
              <a:rPr lang="en-US" sz="1000" dirty="0">
                <a:solidFill>
                  <a:srgbClr val="6E6784"/>
                </a:solidFill>
                <a:latin typeface="Calibri" pitchFamily="34" charset="0"/>
                <a:ea typeface="Calibri" pitchFamily="34" charset="-122"/>
                <a:cs typeface="Calibri" pitchFamily="34" charset="-120"/>
              </a:rPr>
              <a:t>out of 100</a:t>
            </a:r>
            <a:endParaRPr lang="en-US" sz="3000" dirty="0"/>
          </a:p>
        </p:txBody>
      </p:sp>
      <p:sp>
        <p:nvSpPr>
          <p:cNvPr id="23" name="Text 17"/>
          <p:cNvSpPr txBox="1"/>
          <p:nvPr/>
        </p:nvSpPr>
        <p:spPr>
          <a:xfrm>
            <a:off x="8162392" y="5852160"/>
            <a:ext cx="3474720" cy="274320"/>
          </a:xfrm>
          <a:prstGeom prst="rect">
            <a:avLst/>
          </a:prstGeom>
          <a:noFill/>
          <a:ln/>
        </p:spPr>
        <p:txBody>
          <a:bodyPr wrap="square" lIns="0" tIns="0" rIns="0" bIns="0" rtlCol="0" anchor="t"/>
          <a:lstStyle/>
          <a:p>
            <a:pPr algn="ctr" indent="0" marL="0">
              <a:buNone/>
            </a:pPr>
            <a:r>
              <a:rPr lang="en-US" sz="1200" dirty="0">
                <a:solidFill>
                  <a:srgbClr val="6E6784"/>
                </a:solidFill>
                <a:latin typeface="Calibri" pitchFamily="34" charset="0"/>
                <a:ea typeface="Calibri" pitchFamily="34" charset="-122"/>
                <a:cs typeface="Calibri" pitchFamily="34" charset="-120"/>
              </a:rPr>
              <a:t>Mystery Shopper Score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B"/>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594360"/>
          </a:xfrm>
          <a:prstGeom prst="rect">
            <a:avLst/>
          </a:prstGeom>
          <a:noFill/>
          <a:ln/>
        </p:spPr>
        <p:txBody>
          <a:bodyPr wrap="square" lIns="0" tIns="0" rIns="0" bIns="0" rtlCol="0" anchor="ctr"/>
          <a:lstStyle/>
          <a:p>
            <a:pPr indent="0" marL="0">
              <a:buNone/>
            </a:pPr>
            <a:r>
              <a:rPr lang="en-US" sz="3200" b="1" dirty="0">
                <a:solidFill>
                  <a:srgbClr val="3B2A5A"/>
                </a:solidFill>
                <a:latin typeface="Calibri" pitchFamily="34" charset="0"/>
                <a:ea typeface="Calibri" pitchFamily="34" charset="-122"/>
                <a:cs typeface="Calibri" pitchFamily="34" charset="-120"/>
              </a:rPr>
              <a:t>At a glance</a:t>
            </a:r>
            <a:endParaRPr lang="en-US" sz="3200" dirty="0"/>
          </a:p>
        </p:txBody>
      </p:sp>
      <p:sp>
        <p:nvSpPr>
          <p:cNvPr id="3" name="Text 1"/>
          <p:cNvSpPr txBox="1"/>
          <p:nvPr/>
        </p:nvSpPr>
        <p:spPr>
          <a:xfrm>
            <a:off x="548640" y="987552"/>
            <a:ext cx="10058400" cy="292608"/>
          </a:xfrm>
          <a:prstGeom prst="rect">
            <a:avLst/>
          </a:prstGeom>
          <a:noFill/>
          <a:ln/>
        </p:spPr>
        <p:txBody>
          <a:bodyPr wrap="square" lIns="0" tIns="0" rIns="0" bIns="0" rtlCol="0" anchor="t"/>
          <a:lstStyle/>
          <a:p>
            <a:pPr indent="0" marL="0">
              <a:buNone/>
            </a:pPr>
            <a:r>
              <a:rPr lang="en-US" sz="1300" dirty="0">
                <a:solidFill>
                  <a:srgbClr val="6E6784"/>
                </a:solidFill>
                <a:latin typeface="Calibri" pitchFamily="34" charset="0"/>
                <a:ea typeface="Calibri" pitchFamily="34" charset="-122"/>
                <a:cs typeface="Calibri" pitchFamily="34" charset="-120"/>
              </a:rPr>
              <a:t>Only the September 2026 submissions are included below.</a:t>
            </a:r>
            <a:endParaRPr lang="en-US" sz="1300" dirty="0"/>
          </a:p>
        </p:txBody>
      </p:sp>
      <p:sp>
        <p:nvSpPr>
          <p:cNvPr id="4" name="Shape 2"/>
          <p:cNvSpPr/>
          <p:nvPr/>
        </p:nvSpPr>
        <p:spPr>
          <a:xfrm>
            <a:off x="548640" y="1463040"/>
            <a:ext cx="3520440" cy="4937760"/>
          </a:xfrm>
          <a:prstGeom prst="roundRect">
            <a:avLst>
              <a:gd name="adj" fmla="val 4675"/>
            </a:avLst>
          </a:prstGeom>
          <a:solidFill>
            <a:srgbClr val="FFFFFF"/>
          </a:solidFill>
          <a:ln w="12700">
            <a:solidFill>
              <a:srgbClr val="FFFFFF"/>
            </a:solidFill>
            <a:prstDash val="solid"/>
          </a:ln>
          <a:effectLst>
            <a:outerShdw sx="100000" sy="100000" kx="0" ky="0" algn="bl" rotWithShape="0" blurRad="127000" dist="25400" dir="5400000">
              <a:srgbClr val="3B2A5A">
                <a:alpha val="10000"/>
              </a:srgbClr>
            </a:outerShdw>
          </a:effectLst>
        </p:spPr>
      </p:sp>
      <p:sp>
        <p:nvSpPr>
          <p:cNvPr id="5" name="Text 3"/>
          <p:cNvSpPr txBox="1"/>
          <p:nvPr/>
        </p:nvSpPr>
        <p:spPr>
          <a:xfrm>
            <a:off x="804672" y="1691640"/>
            <a:ext cx="2057400" cy="457200"/>
          </a:xfrm>
          <a:prstGeom prst="rect">
            <a:avLst/>
          </a:prstGeom>
          <a:noFill/>
          <a:ln/>
        </p:spPr>
        <p:txBody>
          <a:bodyPr wrap="square" lIns="0" tIns="0" rIns="0" bIns="0" rtlCol="0" anchor="ctr">
            <a:normAutofit/>
          </a:bodyPr>
          <a:lstStyle/>
          <a:p>
            <a:pPr indent="0" marL="0">
              <a:buNone/>
            </a:pPr>
            <a:r>
              <a:rPr lang="en-US" sz="1900" b="1" dirty="0">
                <a:solidFill>
                  <a:srgbClr val="2A9D6E"/>
                </a:solidFill>
                <a:latin typeface="Calibri" pitchFamily="34" charset="0"/>
                <a:ea typeface="Calibri" pitchFamily="34" charset="-122"/>
                <a:cs typeface="Calibri" pitchFamily="34" charset="-120"/>
              </a:rPr>
              <a:t>Greenlane</a:t>
            </a:r>
            <a:endParaRPr lang="en-US" sz="1900" dirty="0"/>
          </a:p>
        </p:txBody>
      </p:sp>
      <p:sp>
        <p:nvSpPr>
          <p:cNvPr id="6" name="Shape 4"/>
          <p:cNvSpPr/>
          <p:nvPr/>
        </p:nvSpPr>
        <p:spPr>
          <a:xfrm>
            <a:off x="2971800" y="1709928"/>
            <a:ext cx="868680" cy="420624"/>
          </a:xfrm>
          <a:prstGeom prst="roundRect">
            <a:avLst>
              <a:gd name="adj" fmla="val 50000"/>
            </a:avLst>
          </a:prstGeom>
          <a:solidFill>
            <a:srgbClr val="2A9D6E"/>
          </a:solidFill>
          <a:ln w="12700">
            <a:solidFill>
              <a:srgbClr val="2A9D6E"/>
            </a:solidFill>
            <a:prstDash val="solid"/>
          </a:ln>
        </p:spPr>
      </p:sp>
      <p:sp>
        <p:nvSpPr>
          <p:cNvPr id="7" name="Text 5"/>
          <p:cNvSpPr txBox="1"/>
          <p:nvPr/>
        </p:nvSpPr>
        <p:spPr>
          <a:xfrm>
            <a:off x="2971800" y="1709928"/>
            <a:ext cx="868680"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77.5</a:t>
            </a:r>
            <a:endParaRPr lang="en-US" sz="1600" dirty="0"/>
          </a:p>
        </p:txBody>
      </p:sp>
      <p:sp>
        <p:nvSpPr>
          <p:cNvPr id="8" name="Shape 6"/>
          <p:cNvSpPr/>
          <p:nvPr/>
        </p:nvSpPr>
        <p:spPr>
          <a:xfrm>
            <a:off x="804672" y="2267712"/>
            <a:ext cx="310896" cy="310896"/>
          </a:xfrm>
          <a:prstGeom prst="ellipse">
            <a:avLst/>
          </a:prstGeom>
          <a:solidFill>
            <a:srgbClr val="2A9D6E"/>
          </a:solidFill>
          <a:ln w="12700">
            <a:solidFill>
              <a:srgbClr val="2A9D6E"/>
            </a:solidFill>
            <a:prstDash val="solid"/>
          </a:ln>
        </p:spPr>
      </p:sp>
      <p:pic>
        <p:nvPicPr>
          <p:cNvPr id="9" name="Image 0" descr="preencoded.png">    </p:cNvPr>
          <p:cNvPicPr>
            <a:picLocks noChangeAspect="1"/>
          </p:cNvPicPr>
          <p:nvPr/>
        </p:nvPicPr>
        <p:blipFill>
          <a:blip r:embed="rId1"/>
          <a:stretch>
            <a:fillRect/>
          </a:stretch>
        </p:blipFill>
        <p:spPr>
          <a:xfrm>
            <a:off x="879287" y="2342327"/>
            <a:ext cx="161666" cy="161666"/>
          </a:xfrm>
          <a:prstGeom prst="rect">
            <a:avLst/>
          </a:prstGeom>
        </p:spPr>
      </p:pic>
      <p:sp>
        <p:nvSpPr>
          <p:cNvPr id="10" name="Text 7"/>
          <p:cNvSpPr txBox="1"/>
          <p:nvPr/>
        </p:nvSpPr>
        <p:spPr>
          <a:xfrm>
            <a:off x="1207008" y="2267712"/>
            <a:ext cx="2560320" cy="310896"/>
          </a:xfrm>
          <a:prstGeom prst="rect">
            <a:avLst/>
          </a:prstGeom>
          <a:noFill/>
          <a:ln/>
        </p:spPr>
        <p:txBody>
          <a:bodyPr wrap="square" lIns="0" tIns="0" rIns="0" bIns="0" rtlCol="0" anchor="ctr"/>
          <a:lstStyle/>
          <a:p>
            <a:pPr indent="0" marL="0">
              <a:buNone/>
            </a:pPr>
            <a:r>
              <a:rPr lang="en-US" sz="1100" b="1" spc="100" kern="0" dirty="0">
                <a:solidFill>
                  <a:srgbClr val="1E7552"/>
                </a:solidFill>
                <a:latin typeface="Calibri" pitchFamily="34" charset="0"/>
                <a:ea typeface="Calibri" pitchFamily="34" charset="-122"/>
                <a:cs typeface="Calibri" pitchFamily="34" charset="-120"/>
              </a:rPr>
              <a:t>WHAT THEY LOVED</a:t>
            </a:r>
            <a:endParaRPr lang="en-US" sz="1100" dirty="0"/>
          </a:p>
        </p:txBody>
      </p:sp>
      <p:sp>
        <p:nvSpPr>
          <p:cNvPr id="11" name="Text 8"/>
          <p:cNvSpPr txBox="1"/>
          <p:nvPr/>
        </p:nvSpPr>
        <p:spPr>
          <a:xfrm>
            <a:off x="804672" y="2679192"/>
            <a:ext cx="3063240" cy="169164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rgbClr val="2E2744"/>
                </a:solidFill>
                <a:latin typeface="Calibri" pitchFamily="34" charset="0"/>
                <a:ea typeface="Calibri" pitchFamily="34" charset="-122"/>
                <a:cs typeface="Calibri" pitchFamily="34" charset="-120"/>
              </a:rPr>
              <a:t>Advanced equipment impressed the shopper</a:t>
            </a:r>
            <a:endParaRPr lang="en-US" sz="1200" dirty="0"/>
          </a:p>
          <a:p>
            <a:pPr marL="152400" indent="-152400">
              <a:spcAft>
                <a:spcPts val="400"/>
              </a:spcAft>
              <a:buSzPct val="100000"/>
              <a:buChar char="•"/>
            </a:pPr>
            <a:r>
              <a:rPr lang="en-US" sz="1200" dirty="0">
                <a:solidFill>
                  <a:srgbClr val="2E2744"/>
                </a:solidFill>
                <a:latin typeface="Calibri" pitchFamily="34" charset="0"/>
                <a:ea typeface="Calibri" pitchFamily="34" charset="-122"/>
                <a:cs typeface="Calibri" pitchFamily="34" charset="-120"/>
              </a:rPr>
              <a:t>Travel set gift felt thoughtful</a:t>
            </a:r>
            <a:endParaRPr lang="en-US" sz="1200" dirty="0"/>
          </a:p>
          <a:p>
            <a:pPr marL="152400" indent="-152400">
              <a:spcAft>
                <a:spcPts val="400"/>
              </a:spcAft>
              <a:buSzPct val="100000"/>
              <a:buChar char="•"/>
            </a:pPr>
            <a:r>
              <a:rPr lang="en-US" sz="1200" dirty="0">
                <a:solidFill>
                  <a:srgbClr val="2E2744"/>
                </a:solidFill>
                <a:latin typeface="Calibri" pitchFamily="34" charset="0"/>
                <a:ea typeface="Calibri" pitchFamily="34" charset="-122"/>
                <a:cs typeface="Calibri" pitchFamily="34" charset="-120"/>
              </a:rPr>
              <a:t>Red date tea was warm and nice</a:t>
            </a:r>
            <a:endParaRPr lang="en-US" sz="1200" dirty="0"/>
          </a:p>
          <a:p>
            <a:pPr marL="152400" indent="-152400">
              <a:spcAft>
                <a:spcPts val="400"/>
              </a:spcAft>
              <a:buSzPct val="100000"/>
              <a:buChar char="•"/>
            </a:pPr>
            <a:r>
              <a:rPr lang="en-US" sz="1200" dirty="0">
                <a:solidFill>
                  <a:srgbClr val="2E2744"/>
                </a:solidFill>
                <a:latin typeface="Calibri" pitchFamily="34" charset="0"/>
                <a:ea typeface="Calibri" pitchFamily="34" charset="-122"/>
                <a:cs typeface="Calibri" pitchFamily="34" charset="-120"/>
              </a:rPr>
              <a:t>Clean, organised environment; staff guided her</a:t>
            </a:r>
            <a:endParaRPr lang="en-US" sz="1200" dirty="0"/>
          </a:p>
          <a:p>
            <a:pPr marL="152400" indent="-152400">
              <a:spcAft>
                <a:spcPts val="400"/>
              </a:spcAft>
              <a:buSzPct val="100000"/>
              <a:buChar char="•"/>
            </a:pPr>
            <a:r>
              <a:rPr lang="en-US" sz="1200" dirty="0">
                <a:solidFill>
                  <a:srgbClr val="2E2744"/>
                </a:solidFill>
                <a:latin typeface="Calibri" pitchFamily="34" charset="0"/>
                <a:ea typeface="Calibri" pitchFamily="34" charset="-122"/>
                <a:cs typeface="Calibri" pitchFamily="34" charset="-120"/>
              </a:rPr>
              <a:t>Sylvin was friendly</a:t>
            </a:r>
            <a:endParaRPr lang="en-US" sz="1200" dirty="0"/>
          </a:p>
        </p:txBody>
      </p:sp>
      <p:sp>
        <p:nvSpPr>
          <p:cNvPr id="12" name="Shape 9"/>
          <p:cNvSpPr/>
          <p:nvPr/>
        </p:nvSpPr>
        <p:spPr>
          <a:xfrm>
            <a:off x="685800" y="4480560"/>
            <a:ext cx="3246120" cy="1773936"/>
          </a:xfrm>
          <a:prstGeom prst="roundRect">
            <a:avLst>
              <a:gd name="adj" fmla="val 7216"/>
            </a:avLst>
          </a:prstGeom>
          <a:solidFill>
            <a:srgbClr val="E6F5EE"/>
          </a:solidFill>
          <a:ln w="12700">
            <a:solidFill>
              <a:srgbClr val="E6F5EE"/>
            </a:solidFill>
            <a:prstDash val="solid"/>
          </a:ln>
        </p:spPr>
      </p:sp>
      <p:sp>
        <p:nvSpPr>
          <p:cNvPr id="13" name="Shape 10"/>
          <p:cNvSpPr/>
          <p:nvPr/>
        </p:nvSpPr>
        <p:spPr>
          <a:xfrm>
            <a:off x="822960" y="4608576"/>
            <a:ext cx="310896" cy="310896"/>
          </a:xfrm>
          <a:prstGeom prst="ellipse">
            <a:avLst/>
          </a:prstGeom>
          <a:solidFill>
            <a:srgbClr val="2A9D6E"/>
          </a:solidFill>
          <a:ln w="12700">
            <a:solidFill>
              <a:srgbClr val="2A9D6E"/>
            </a:solidFill>
            <a:prstDash val="solid"/>
          </a:ln>
        </p:spPr>
      </p:sp>
      <p:pic>
        <p:nvPicPr>
          <p:cNvPr id="14" name="Image 1" descr="preencoded.png">    </p:cNvPr>
          <p:cNvPicPr>
            <a:picLocks noChangeAspect="1"/>
          </p:cNvPicPr>
          <p:nvPr/>
        </p:nvPicPr>
        <p:blipFill>
          <a:blip r:embed="rId2"/>
          <a:stretch>
            <a:fillRect/>
          </a:stretch>
        </p:blipFill>
        <p:spPr>
          <a:xfrm>
            <a:off x="897575" y="4683191"/>
            <a:ext cx="161666" cy="161666"/>
          </a:xfrm>
          <a:prstGeom prst="rect">
            <a:avLst/>
          </a:prstGeom>
        </p:spPr>
      </p:pic>
      <p:sp>
        <p:nvSpPr>
          <p:cNvPr id="15" name="Text 11"/>
          <p:cNvSpPr txBox="1"/>
          <p:nvPr/>
        </p:nvSpPr>
        <p:spPr>
          <a:xfrm>
            <a:off x="1225296" y="4608576"/>
            <a:ext cx="2377440" cy="310896"/>
          </a:xfrm>
          <a:prstGeom prst="rect">
            <a:avLst/>
          </a:prstGeom>
          <a:noFill/>
          <a:ln/>
        </p:spPr>
        <p:txBody>
          <a:bodyPr wrap="square" lIns="0" tIns="0" rIns="0" bIns="0" rtlCol="0" anchor="ctr"/>
          <a:lstStyle/>
          <a:p>
            <a:pPr indent="0" marL="0">
              <a:buNone/>
            </a:pPr>
            <a:r>
              <a:rPr lang="en-US" sz="1100" b="1" spc="100" kern="0" dirty="0">
                <a:solidFill>
                  <a:srgbClr val="1E7552"/>
                </a:solidFill>
                <a:latin typeface="Calibri" pitchFamily="34" charset="0"/>
                <a:ea typeface="Calibri" pitchFamily="34" charset="-122"/>
                <a:cs typeface="Calibri" pitchFamily="34" charset="-120"/>
              </a:rPr>
              <a:t>ROOM TO GROW</a:t>
            </a:r>
            <a:endParaRPr lang="en-US" sz="1100" dirty="0"/>
          </a:p>
        </p:txBody>
      </p:sp>
      <p:sp>
        <p:nvSpPr>
          <p:cNvPr id="16" name="Text 12"/>
          <p:cNvSpPr txBox="1"/>
          <p:nvPr/>
        </p:nvSpPr>
        <p:spPr>
          <a:xfrm>
            <a:off x="822960" y="5001768"/>
            <a:ext cx="3017520" cy="1179576"/>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2E2744"/>
                </a:solidFill>
                <a:latin typeface="Calibri" pitchFamily="34" charset="0"/>
                <a:ea typeface="Calibri" pitchFamily="34" charset="-122"/>
                <a:cs typeface="Calibri" pitchFamily="34" charset="-120"/>
              </a:rPr>
              <a:t>Price could be more accessible</a:t>
            </a:r>
            <a:endParaRPr lang="en-US" sz="1200" dirty="0"/>
          </a:p>
          <a:p>
            <a:pPr marL="152400" indent="-152400">
              <a:spcAft>
                <a:spcPts val="300"/>
              </a:spcAft>
              <a:buSzPct val="100000"/>
              <a:buChar char="•"/>
            </a:pPr>
            <a:r>
              <a:rPr lang="en-US" sz="1200" dirty="0">
                <a:solidFill>
                  <a:srgbClr val="2E2744"/>
                </a:solidFill>
                <a:latin typeface="Calibri" pitchFamily="34" charset="0"/>
                <a:ea typeface="Calibri" pitchFamily="34" charset="-122"/>
                <a:cs typeface="Calibri" pitchFamily="34" charset="-120"/>
              </a:rPr>
              <a:t>AI analysis could be improved</a:t>
            </a:r>
            <a:endParaRPr lang="en-US" sz="1200" dirty="0"/>
          </a:p>
          <a:p>
            <a:pPr marL="152400" indent="-152400">
              <a:spcAft>
                <a:spcPts val="300"/>
              </a:spcAft>
              <a:buSzPct val="100000"/>
              <a:buChar char="•"/>
            </a:pPr>
            <a:r>
              <a:rPr lang="en-US" sz="1200" dirty="0">
                <a:solidFill>
                  <a:srgbClr val="2E2744"/>
                </a:solidFill>
                <a:latin typeface="Calibri" pitchFamily="34" charset="0"/>
                <a:ea typeface="Calibri" pitchFamily="34" charset="-122"/>
                <a:cs typeface="Calibri" pitchFamily="34" charset="-120"/>
              </a:rPr>
              <a:t>Visit could be shorter; ideally within 2 hours</a:t>
            </a:r>
            <a:endParaRPr lang="en-US" sz="1200" dirty="0"/>
          </a:p>
        </p:txBody>
      </p:sp>
      <p:sp>
        <p:nvSpPr>
          <p:cNvPr id="17" name="Shape 13"/>
          <p:cNvSpPr/>
          <p:nvPr/>
        </p:nvSpPr>
        <p:spPr>
          <a:xfrm>
            <a:off x="4334256" y="1463040"/>
            <a:ext cx="3520440" cy="4937760"/>
          </a:xfrm>
          <a:prstGeom prst="roundRect">
            <a:avLst>
              <a:gd name="adj" fmla="val 4675"/>
            </a:avLst>
          </a:prstGeom>
          <a:solidFill>
            <a:srgbClr val="FFFFFF"/>
          </a:solidFill>
          <a:ln w="12700">
            <a:solidFill>
              <a:srgbClr val="FFFFFF"/>
            </a:solidFill>
            <a:prstDash val="solid"/>
          </a:ln>
          <a:effectLst>
            <a:outerShdw sx="100000" sy="100000" kx="0" ky="0" algn="bl" rotWithShape="0" blurRad="127000" dist="25400" dir="5400000">
              <a:srgbClr val="3B2A5A">
                <a:alpha val="10000"/>
              </a:srgbClr>
            </a:outerShdw>
          </a:effectLst>
        </p:spPr>
      </p:sp>
      <p:sp>
        <p:nvSpPr>
          <p:cNvPr id="18" name="Text 14"/>
          <p:cNvSpPr txBox="1"/>
          <p:nvPr/>
        </p:nvSpPr>
        <p:spPr>
          <a:xfrm>
            <a:off x="4590288" y="1691640"/>
            <a:ext cx="2057400" cy="457200"/>
          </a:xfrm>
          <a:prstGeom prst="rect">
            <a:avLst/>
          </a:prstGeom>
          <a:noFill/>
          <a:ln/>
        </p:spPr>
        <p:txBody>
          <a:bodyPr wrap="square" lIns="0" tIns="0" rIns="0" bIns="0" rtlCol="0" anchor="ctr">
            <a:normAutofit/>
          </a:bodyPr>
          <a:lstStyle/>
          <a:p>
            <a:pPr indent="0" marL="0">
              <a:buNone/>
            </a:pPr>
            <a:r>
              <a:rPr lang="en-US" sz="1900" b="1" dirty="0">
                <a:solidFill>
                  <a:srgbClr val="E08F1E"/>
                </a:solidFill>
                <a:latin typeface="Calibri" pitchFamily="34" charset="0"/>
                <a:ea typeface="Calibri" pitchFamily="34" charset="-122"/>
                <a:cs typeface="Calibri" pitchFamily="34" charset="-120"/>
              </a:rPr>
              <a:t>Puchong</a:t>
            </a:r>
            <a:endParaRPr lang="en-US" sz="1900" dirty="0"/>
          </a:p>
        </p:txBody>
      </p:sp>
      <p:sp>
        <p:nvSpPr>
          <p:cNvPr id="19" name="Shape 15"/>
          <p:cNvSpPr/>
          <p:nvPr/>
        </p:nvSpPr>
        <p:spPr>
          <a:xfrm>
            <a:off x="6757416" y="1709928"/>
            <a:ext cx="868680" cy="420624"/>
          </a:xfrm>
          <a:prstGeom prst="roundRect">
            <a:avLst>
              <a:gd name="adj" fmla="val 50000"/>
            </a:avLst>
          </a:prstGeom>
          <a:solidFill>
            <a:srgbClr val="E08F1E"/>
          </a:solidFill>
          <a:ln w="12700">
            <a:solidFill>
              <a:srgbClr val="E08F1E"/>
            </a:solidFill>
            <a:prstDash val="solid"/>
          </a:ln>
        </p:spPr>
      </p:sp>
      <p:sp>
        <p:nvSpPr>
          <p:cNvPr id="20" name="Text 16"/>
          <p:cNvSpPr txBox="1"/>
          <p:nvPr/>
        </p:nvSpPr>
        <p:spPr>
          <a:xfrm>
            <a:off x="6757416" y="1709928"/>
            <a:ext cx="868680"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93.25</a:t>
            </a:r>
            <a:endParaRPr lang="en-US" sz="1600" dirty="0"/>
          </a:p>
        </p:txBody>
      </p:sp>
      <p:sp>
        <p:nvSpPr>
          <p:cNvPr id="21" name="Shape 17"/>
          <p:cNvSpPr/>
          <p:nvPr/>
        </p:nvSpPr>
        <p:spPr>
          <a:xfrm>
            <a:off x="4590288" y="2267712"/>
            <a:ext cx="310896" cy="310896"/>
          </a:xfrm>
          <a:prstGeom prst="ellipse">
            <a:avLst/>
          </a:prstGeom>
          <a:solidFill>
            <a:srgbClr val="E08F1E"/>
          </a:solidFill>
          <a:ln w="12700">
            <a:solidFill>
              <a:srgbClr val="E08F1E"/>
            </a:solidFill>
            <a:prstDash val="solid"/>
          </a:ln>
        </p:spPr>
      </p:sp>
      <p:pic>
        <p:nvPicPr>
          <p:cNvPr id="22" name="Image 2" descr="preencoded.png">    </p:cNvPr>
          <p:cNvPicPr>
            <a:picLocks noChangeAspect="1"/>
          </p:cNvPicPr>
          <p:nvPr/>
        </p:nvPicPr>
        <p:blipFill>
          <a:blip r:embed="rId3"/>
          <a:stretch>
            <a:fillRect/>
          </a:stretch>
        </p:blipFill>
        <p:spPr>
          <a:xfrm>
            <a:off x="4664903" y="2342327"/>
            <a:ext cx="161666" cy="161666"/>
          </a:xfrm>
          <a:prstGeom prst="rect">
            <a:avLst/>
          </a:prstGeom>
        </p:spPr>
      </p:pic>
      <p:sp>
        <p:nvSpPr>
          <p:cNvPr id="23" name="Text 18"/>
          <p:cNvSpPr txBox="1"/>
          <p:nvPr/>
        </p:nvSpPr>
        <p:spPr>
          <a:xfrm>
            <a:off x="4992624" y="2267712"/>
            <a:ext cx="2560320" cy="310896"/>
          </a:xfrm>
          <a:prstGeom prst="rect">
            <a:avLst/>
          </a:prstGeom>
          <a:noFill/>
          <a:ln/>
        </p:spPr>
        <p:txBody>
          <a:bodyPr wrap="square" lIns="0" tIns="0" rIns="0" bIns="0" rtlCol="0" anchor="ctr"/>
          <a:lstStyle/>
          <a:p>
            <a:pPr indent="0" marL="0">
              <a:buNone/>
            </a:pPr>
            <a:r>
              <a:rPr lang="en-US" sz="1100" b="1" spc="100" kern="0" dirty="0">
                <a:solidFill>
                  <a:srgbClr val="A8660C"/>
                </a:solidFill>
                <a:latin typeface="Calibri" pitchFamily="34" charset="0"/>
                <a:ea typeface="Calibri" pitchFamily="34" charset="-122"/>
                <a:cs typeface="Calibri" pitchFamily="34" charset="-120"/>
              </a:rPr>
              <a:t>WHAT THEY LOVED</a:t>
            </a:r>
            <a:endParaRPr lang="en-US" sz="1100" dirty="0"/>
          </a:p>
        </p:txBody>
      </p:sp>
      <p:sp>
        <p:nvSpPr>
          <p:cNvPr id="24" name="Text 19"/>
          <p:cNvSpPr txBox="1"/>
          <p:nvPr/>
        </p:nvSpPr>
        <p:spPr>
          <a:xfrm>
            <a:off x="4590288" y="2679192"/>
            <a:ext cx="3063240" cy="169164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rgbClr val="2E2744"/>
                </a:solidFill>
                <a:latin typeface="Calibri" pitchFamily="34" charset="0"/>
                <a:ea typeface="Calibri" pitchFamily="34" charset="-122"/>
                <a:cs typeface="Calibri" pitchFamily="34" charset="-120"/>
              </a:rPr>
              <a:t>Overall experience was very good; team was patient</a:t>
            </a:r>
            <a:endParaRPr lang="en-US" sz="1200" dirty="0"/>
          </a:p>
          <a:p>
            <a:pPr marL="152400" indent="-152400">
              <a:spcAft>
                <a:spcPts val="400"/>
              </a:spcAft>
              <a:buSzPct val="100000"/>
              <a:buChar char="•"/>
            </a:pPr>
            <a:r>
              <a:rPr lang="en-US" sz="1200" dirty="0">
                <a:solidFill>
                  <a:srgbClr val="2E2744"/>
                </a:solidFill>
                <a:latin typeface="Calibri" pitchFamily="34" charset="0"/>
                <a:ea typeface="Calibri" pitchFamily="34" charset="-122"/>
                <a:cs typeface="Calibri" pitchFamily="34" charset="-120"/>
              </a:rPr>
              <a:t>Detailed explanation was better than a typical beauty clinic</a:t>
            </a:r>
            <a:endParaRPr lang="en-US" sz="1200" dirty="0"/>
          </a:p>
          <a:p>
            <a:pPr marL="152400" indent="-152400">
              <a:spcAft>
                <a:spcPts val="400"/>
              </a:spcAft>
              <a:buSzPct val="100000"/>
              <a:buChar char="•"/>
            </a:pPr>
            <a:r>
              <a:rPr lang="en-US" sz="1200" dirty="0">
                <a:solidFill>
                  <a:srgbClr val="2E2744"/>
                </a:solidFill>
                <a:latin typeface="Calibri" pitchFamily="34" charset="0"/>
                <a:ea typeface="Calibri" pitchFamily="34" charset="-122"/>
                <a:cs typeface="Calibri" pitchFamily="34" charset="-120"/>
              </a:rPr>
              <a:t>Doctor clearly explained concerns, causes, improvement methods and treatment plan</a:t>
            </a:r>
            <a:endParaRPr lang="en-US" sz="1200" dirty="0"/>
          </a:p>
          <a:p>
            <a:pPr marL="152400" indent="-152400">
              <a:spcAft>
                <a:spcPts val="400"/>
              </a:spcAft>
              <a:buSzPct val="100000"/>
              <a:buChar char="•"/>
            </a:pPr>
            <a:r>
              <a:rPr lang="en-US" sz="1200" dirty="0">
                <a:solidFill>
                  <a:srgbClr val="2E2744"/>
                </a:solidFill>
                <a:latin typeface="Calibri" pitchFamily="34" charset="0"/>
                <a:ea typeface="Calibri" pitchFamily="34" charset="-122"/>
                <a:cs typeface="Calibri" pitchFamily="34" charset="-120"/>
              </a:rPr>
              <a:t>Therapist was friendly, caring and explained every step</a:t>
            </a:r>
            <a:endParaRPr lang="en-US" sz="1200" dirty="0"/>
          </a:p>
        </p:txBody>
      </p:sp>
      <p:sp>
        <p:nvSpPr>
          <p:cNvPr id="25" name="Shape 20"/>
          <p:cNvSpPr/>
          <p:nvPr/>
        </p:nvSpPr>
        <p:spPr>
          <a:xfrm>
            <a:off x="4471416" y="4480560"/>
            <a:ext cx="3246120" cy="1773936"/>
          </a:xfrm>
          <a:prstGeom prst="roundRect">
            <a:avLst>
              <a:gd name="adj" fmla="val 7216"/>
            </a:avLst>
          </a:prstGeom>
          <a:solidFill>
            <a:srgbClr val="FDF1DF"/>
          </a:solidFill>
          <a:ln w="12700">
            <a:solidFill>
              <a:srgbClr val="FDF1DF"/>
            </a:solidFill>
            <a:prstDash val="solid"/>
          </a:ln>
        </p:spPr>
      </p:sp>
      <p:sp>
        <p:nvSpPr>
          <p:cNvPr id="26" name="Shape 21"/>
          <p:cNvSpPr/>
          <p:nvPr/>
        </p:nvSpPr>
        <p:spPr>
          <a:xfrm>
            <a:off x="4608576" y="4608576"/>
            <a:ext cx="310896" cy="310896"/>
          </a:xfrm>
          <a:prstGeom prst="ellipse">
            <a:avLst/>
          </a:prstGeom>
          <a:solidFill>
            <a:srgbClr val="E08F1E"/>
          </a:solidFill>
          <a:ln w="12700">
            <a:solidFill>
              <a:srgbClr val="E08F1E"/>
            </a:solidFill>
            <a:prstDash val="solid"/>
          </a:ln>
        </p:spPr>
      </p:sp>
      <p:pic>
        <p:nvPicPr>
          <p:cNvPr id="27" name="Image 3" descr="preencoded.png">    </p:cNvPr>
          <p:cNvPicPr>
            <a:picLocks noChangeAspect="1"/>
          </p:cNvPicPr>
          <p:nvPr/>
        </p:nvPicPr>
        <p:blipFill>
          <a:blip r:embed="rId4"/>
          <a:stretch>
            <a:fillRect/>
          </a:stretch>
        </p:blipFill>
        <p:spPr>
          <a:xfrm>
            <a:off x="4683191" y="4683191"/>
            <a:ext cx="161666" cy="161666"/>
          </a:xfrm>
          <a:prstGeom prst="rect">
            <a:avLst/>
          </a:prstGeom>
        </p:spPr>
      </p:pic>
      <p:sp>
        <p:nvSpPr>
          <p:cNvPr id="28" name="Text 22"/>
          <p:cNvSpPr txBox="1"/>
          <p:nvPr/>
        </p:nvSpPr>
        <p:spPr>
          <a:xfrm>
            <a:off x="5010912" y="4608576"/>
            <a:ext cx="2377440" cy="310896"/>
          </a:xfrm>
          <a:prstGeom prst="rect">
            <a:avLst/>
          </a:prstGeom>
          <a:noFill/>
          <a:ln/>
        </p:spPr>
        <p:txBody>
          <a:bodyPr wrap="square" lIns="0" tIns="0" rIns="0" bIns="0" rtlCol="0" anchor="ctr"/>
          <a:lstStyle/>
          <a:p>
            <a:pPr indent="0" marL="0">
              <a:buNone/>
            </a:pPr>
            <a:r>
              <a:rPr lang="en-US" sz="1100" b="1" spc="100" kern="0" dirty="0">
                <a:solidFill>
                  <a:srgbClr val="A8660C"/>
                </a:solidFill>
                <a:latin typeface="Calibri" pitchFamily="34" charset="0"/>
                <a:ea typeface="Calibri" pitchFamily="34" charset="-122"/>
                <a:cs typeface="Calibri" pitchFamily="34" charset="-120"/>
              </a:rPr>
              <a:t>ROOM TO GROW</a:t>
            </a:r>
            <a:endParaRPr lang="en-US" sz="1100" dirty="0"/>
          </a:p>
        </p:txBody>
      </p:sp>
      <p:sp>
        <p:nvSpPr>
          <p:cNvPr id="29" name="Text 23"/>
          <p:cNvSpPr txBox="1"/>
          <p:nvPr/>
        </p:nvSpPr>
        <p:spPr>
          <a:xfrm>
            <a:off x="4608576" y="5001768"/>
            <a:ext cx="3017520" cy="1179576"/>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2E2744"/>
                </a:solidFill>
                <a:latin typeface="Calibri" pitchFamily="34" charset="0"/>
                <a:ea typeface="Calibri" pitchFamily="34" charset="-122"/>
                <a:cs typeface="Calibri" pitchFamily="34" charset="-120"/>
              </a:rPr>
              <a:t>Remind customer about simple treatment movements</a:t>
            </a:r>
            <a:endParaRPr lang="en-US" sz="1200" dirty="0"/>
          </a:p>
          <a:p>
            <a:pPr marL="152400" indent="-152400">
              <a:spcAft>
                <a:spcPts val="300"/>
              </a:spcAft>
              <a:buSzPct val="100000"/>
              <a:buChar char="•"/>
            </a:pPr>
            <a:r>
              <a:rPr lang="en-US" sz="1200" dirty="0">
                <a:solidFill>
                  <a:srgbClr val="2E2744"/>
                </a:solidFill>
                <a:latin typeface="Calibri" pitchFamily="34" charset="0"/>
                <a:ea typeface="Calibri" pitchFamily="34" charset="-122"/>
                <a:cs typeface="Calibri" pitchFamily="34" charset="-120"/>
              </a:rPr>
              <a:t>Help eyes adjust gradually after bright light treatment</a:t>
            </a:r>
            <a:endParaRPr lang="en-US" sz="1200" dirty="0"/>
          </a:p>
          <a:p>
            <a:pPr marL="152400" indent="-152400">
              <a:spcAft>
                <a:spcPts val="300"/>
              </a:spcAft>
              <a:buSzPct val="100000"/>
              <a:buChar char="•"/>
            </a:pPr>
            <a:r>
              <a:rPr lang="en-US" sz="1200" dirty="0">
                <a:solidFill>
                  <a:srgbClr val="2E2744"/>
                </a:solidFill>
                <a:latin typeface="Calibri" pitchFamily="34" charset="0"/>
                <a:ea typeface="Calibri" pitchFamily="34" charset="-122"/>
                <a:cs typeface="Calibri" pitchFamily="34" charset="-120"/>
              </a:rPr>
              <a:t>Price may be high for the average customer</a:t>
            </a:r>
            <a:endParaRPr lang="en-US" sz="1200" dirty="0"/>
          </a:p>
        </p:txBody>
      </p:sp>
      <p:sp>
        <p:nvSpPr>
          <p:cNvPr id="30" name="Shape 24"/>
          <p:cNvSpPr/>
          <p:nvPr/>
        </p:nvSpPr>
        <p:spPr>
          <a:xfrm>
            <a:off x="8119872" y="1463040"/>
            <a:ext cx="3520440" cy="4937760"/>
          </a:xfrm>
          <a:prstGeom prst="roundRect">
            <a:avLst>
              <a:gd name="adj" fmla="val 4675"/>
            </a:avLst>
          </a:prstGeom>
          <a:solidFill>
            <a:srgbClr val="FFFFFF"/>
          </a:solidFill>
          <a:ln w="12700">
            <a:solidFill>
              <a:srgbClr val="FFFFFF"/>
            </a:solidFill>
            <a:prstDash val="solid"/>
          </a:ln>
          <a:effectLst>
            <a:outerShdw sx="100000" sy="100000" kx="0" ky="0" algn="bl" rotWithShape="0" blurRad="127000" dist="25400" dir="5400000">
              <a:srgbClr val="3B2A5A">
                <a:alpha val="10000"/>
              </a:srgbClr>
            </a:outerShdw>
          </a:effectLst>
        </p:spPr>
      </p:sp>
      <p:sp>
        <p:nvSpPr>
          <p:cNvPr id="31" name="Text 25"/>
          <p:cNvSpPr txBox="1"/>
          <p:nvPr/>
        </p:nvSpPr>
        <p:spPr>
          <a:xfrm>
            <a:off x="8375904" y="1691640"/>
            <a:ext cx="2057400" cy="457200"/>
          </a:xfrm>
          <a:prstGeom prst="rect">
            <a:avLst/>
          </a:prstGeom>
          <a:noFill/>
          <a:ln/>
        </p:spPr>
        <p:txBody>
          <a:bodyPr wrap="square" lIns="0" tIns="0" rIns="0" bIns="0" rtlCol="0" anchor="ctr">
            <a:normAutofit/>
          </a:bodyPr>
          <a:lstStyle/>
          <a:p>
            <a:pPr indent="0" marL="0">
              <a:buNone/>
            </a:pPr>
            <a:r>
              <a:rPr lang="en-US" sz="1900" b="1" dirty="0">
                <a:solidFill>
                  <a:srgbClr val="DD5C7B"/>
                </a:solidFill>
                <a:latin typeface="Calibri" pitchFamily="34" charset="0"/>
                <a:ea typeface="Calibri" pitchFamily="34" charset="-122"/>
                <a:cs typeface="Calibri" pitchFamily="34" charset="-120"/>
              </a:rPr>
              <a:t>Cheras Leisure Mall</a:t>
            </a:r>
            <a:endParaRPr lang="en-US" sz="1900" dirty="0"/>
          </a:p>
        </p:txBody>
      </p:sp>
      <p:sp>
        <p:nvSpPr>
          <p:cNvPr id="32" name="Shape 26"/>
          <p:cNvSpPr/>
          <p:nvPr/>
        </p:nvSpPr>
        <p:spPr>
          <a:xfrm>
            <a:off x="10543032" y="1709928"/>
            <a:ext cx="868680" cy="420624"/>
          </a:xfrm>
          <a:prstGeom prst="roundRect">
            <a:avLst>
              <a:gd name="adj" fmla="val 50000"/>
            </a:avLst>
          </a:prstGeom>
          <a:solidFill>
            <a:srgbClr val="DD5C7B"/>
          </a:solidFill>
          <a:ln w="12700">
            <a:solidFill>
              <a:srgbClr val="DD5C7B"/>
            </a:solidFill>
            <a:prstDash val="solid"/>
          </a:ln>
        </p:spPr>
      </p:sp>
      <p:sp>
        <p:nvSpPr>
          <p:cNvPr id="33" name="Text 27"/>
          <p:cNvSpPr txBox="1"/>
          <p:nvPr/>
        </p:nvSpPr>
        <p:spPr>
          <a:xfrm>
            <a:off x="10543032" y="1709928"/>
            <a:ext cx="868680"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66.75</a:t>
            </a:r>
            <a:endParaRPr lang="en-US" sz="1600" dirty="0"/>
          </a:p>
        </p:txBody>
      </p:sp>
      <p:sp>
        <p:nvSpPr>
          <p:cNvPr id="34" name="Shape 28"/>
          <p:cNvSpPr/>
          <p:nvPr/>
        </p:nvSpPr>
        <p:spPr>
          <a:xfrm>
            <a:off x="8375904" y="2267712"/>
            <a:ext cx="310896" cy="310896"/>
          </a:xfrm>
          <a:prstGeom prst="ellipse">
            <a:avLst/>
          </a:prstGeom>
          <a:solidFill>
            <a:srgbClr val="DD5C7B"/>
          </a:solidFill>
          <a:ln w="12700">
            <a:solidFill>
              <a:srgbClr val="DD5C7B"/>
            </a:solidFill>
            <a:prstDash val="solid"/>
          </a:ln>
        </p:spPr>
      </p:sp>
      <p:pic>
        <p:nvPicPr>
          <p:cNvPr id="35" name="Image 4" descr="preencoded.png">    </p:cNvPr>
          <p:cNvPicPr>
            <a:picLocks noChangeAspect="1"/>
          </p:cNvPicPr>
          <p:nvPr/>
        </p:nvPicPr>
        <p:blipFill>
          <a:blip r:embed="rId5"/>
          <a:stretch>
            <a:fillRect/>
          </a:stretch>
        </p:blipFill>
        <p:spPr>
          <a:xfrm>
            <a:off x="8450519" y="2342327"/>
            <a:ext cx="161666" cy="161666"/>
          </a:xfrm>
          <a:prstGeom prst="rect">
            <a:avLst/>
          </a:prstGeom>
        </p:spPr>
      </p:pic>
      <p:sp>
        <p:nvSpPr>
          <p:cNvPr id="36" name="Text 29"/>
          <p:cNvSpPr txBox="1"/>
          <p:nvPr/>
        </p:nvSpPr>
        <p:spPr>
          <a:xfrm>
            <a:off x="8778240" y="2267712"/>
            <a:ext cx="2560320" cy="310896"/>
          </a:xfrm>
          <a:prstGeom prst="rect">
            <a:avLst/>
          </a:prstGeom>
          <a:noFill/>
          <a:ln/>
        </p:spPr>
        <p:txBody>
          <a:bodyPr wrap="square" lIns="0" tIns="0" rIns="0" bIns="0" rtlCol="0" anchor="ctr"/>
          <a:lstStyle/>
          <a:p>
            <a:pPr indent="0" marL="0">
              <a:buNone/>
            </a:pPr>
            <a:r>
              <a:rPr lang="en-US" sz="1100" b="1" spc="100" kern="0" dirty="0">
                <a:solidFill>
                  <a:srgbClr val="B03D5B"/>
                </a:solidFill>
                <a:latin typeface="Calibri" pitchFamily="34" charset="0"/>
                <a:ea typeface="Calibri" pitchFamily="34" charset="-122"/>
                <a:cs typeface="Calibri" pitchFamily="34" charset="-120"/>
              </a:rPr>
              <a:t>WHAT THEY LOVED</a:t>
            </a:r>
            <a:endParaRPr lang="en-US" sz="1100" dirty="0"/>
          </a:p>
        </p:txBody>
      </p:sp>
      <p:sp>
        <p:nvSpPr>
          <p:cNvPr id="37" name="Text 30"/>
          <p:cNvSpPr txBox="1"/>
          <p:nvPr/>
        </p:nvSpPr>
        <p:spPr>
          <a:xfrm>
            <a:off x="8375904" y="2679192"/>
            <a:ext cx="3063240" cy="169164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rgbClr val="2E2744"/>
                </a:solidFill>
                <a:latin typeface="Calibri" pitchFamily="34" charset="0"/>
                <a:ea typeface="Calibri" pitchFamily="34" charset="-122"/>
                <a:cs typeface="Calibri" pitchFamily="34" charset="-120"/>
              </a:rPr>
              <a:t>Customer was satisfied with the result; skin looked brighter</a:t>
            </a:r>
            <a:endParaRPr lang="en-US" sz="1200" dirty="0"/>
          </a:p>
          <a:p>
            <a:pPr marL="152400" indent="-152400">
              <a:spcAft>
                <a:spcPts val="400"/>
              </a:spcAft>
              <a:buSzPct val="100000"/>
              <a:buChar char="•"/>
            </a:pPr>
            <a:r>
              <a:rPr lang="en-US" sz="1200" dirty="0">
                <a:solidFill>
                  <a:srgbClr val="2E2744"/>
                </a:solidFill>
                <a:latin typeface="Calibri" pitchFamily="34" charset="0"/>
                <a:ea typeface="Calibri" pitchFamily="34" charset="-122"/>
                <a:cs typeface="Calibri" pitchFamily="34" charset="-120"/>
              </a:rPr>
              <a:t>Staff introduced the service / package</a:t>
            </a:r>
            <a:endParaRPr lang="en-US" sz="1200" dirty="0"/>
          </a:p>
          <a:p>
            <a:pPr marL="152400" indent="-152400">
              <a:spcAft>
                <a:spcPts val="400"/>
              </a:spcAft>
              <a:buSzPct val="100000"/>
              <a:buChar char="•"/>
            </a:pPr>
            <a:r>
              <a:rPr lang="en-US" sz="1200" dirty="0">
                <a:solidFill>
                  <a:srgbClr val="2E2744"/>
                </a:solidFill>
                <a:latin typeface="Calibri" pitchFamily="34" charset="0"/>
                <a:ea typeface="Calibri" pitchFamily="34" charset="-122"/>
                <a:cs typeface="Calibri" pitchFamily="34" charset="-120"/>
              </a:rPr>
              <a:t>Customer still saw value in the outcome</a:t>
            </a:r>
            <a:endParaRPr lang="en-US" sz="1200" dirty="0"/>
          </a:p>
        </p:txBody>
      </p:sp>
      <p:sp>
        <p:nvSpPr>
          <p:cNvPr id="38" name="Shape 31"/>
          <p:cNvSpPr/>
          <p:nvPr/>
        </p:nvSpPr>
        <p:spPr>
          <a:xfrm>
            <a:off x="8257032" y="4480560"/>
            <a:ext cx="3246120" cy="1773936"/>
          </a:xfrm>
          <a:prstGeom prst="roundRect">
            <a:avLst>
              <a:gd name="adj" fmla="val 7216"/>
            </a:avLst>
          </a:prstGeom>
          <a:solidFill>
            <a:srgbClr val="FCEAEF"/>
          </a:solidFill>
          <a:ln w="12700">
            <a:solidFill>
              <a:srgbClr val="FCEAEF"/>
            </a:solidFill>
            <a:prstDash val="solid"/>
          </a:ln>
        </p:spPr>
      </p:sp>
      <p:sp>
        <p:nvSpPr>
          <p:cNvPr id="39" name="Shape 32"/>
          <p:cNvSpPr/>
          <p:nvPr/>
        </p:nvSpPr>
        <p:spPr>
          <a:xfrm>
            <a:off x="8394192" y="4608576"/>
            <a:ext cx="310896" cy="310896"/>
          </a:xfrm>
          <a:prstGeom prst="ellipse">
            <a:avLst/>
          </a:prstGeom>
          <a:solidFill>
            <a:srgbClr val="DD5C7B"/>
          </a:solidFill>
          <a:ln w="12700">
            <a:solidFill>
              <a:srgbClr val="DD5C7B"/>
            </a:solidFill>
            <a:prstDash val="solid"/>
          </a:ln>
        </p:spPr>
      </p:sp>
      <p:pic>
        <p:nvPicPr>
          <p:cNvPr id="40" name="Image 5" descr="preencoded.png">    </p:cNvPr>
          <p:cNvPicPr>
            <a:picLocks noChangeAspect="1"/>
          </p:cNvPicPr>
          <p:nvPr/>
        </p:nvPicPr>
        <p:blipFill>
          <a:blip r:embed="rId6"/>
          <a:stretch>
            <a:fillRect/>
          </a:stretch>
        </p:blipFill>
        <p:spPr>
          <a:xfrm>
            <a:off x="8468807" y="4683191"/>
            <a:ext cx="161666" cy="161666"/>
          </a:xfrm>
          <a:prstGeom prst="rect">
            <a:avLst/>
          </a:prstGeom>
        </p:spPr>
      </p:pic>
      <p:sp>
        <p:nvSpPr>
          <p:cNvPr id="41" name="Text 33"/>
          <p:cNvSpPr txBox="1"/>
          <p:nvPr/>
        </p:nvSpPr>
        <p:spPr>
          <a:xfrm>
            <a:off x="8796528" y="4608576"/>
            <a:ext cx="2377440" cy="310896"/>
          </a:xfrm>
          <a:prstGeom prst="rect">
            <a:avLst/>
          </a:prstGeom>
          <a:noFill/>
          <a:ln/>
        </p:spPr>
        <p:txBody>
          <a:bodyPr wrap="square" lIns="0" tIns="0" rIns="0" bIns="0" rtlCol="0" anchor="ctr"/>
          <a:lstStyle/>
          <a:p>
            <a:pPr indent="0" marL="0">
              <a:buNone/>
            </a:pPr>
            <a:r>
              <a:rPr lang="en-US" sz="1100" b="1" spc="100" kern="0" dirty="0">
                <a:solidFill>
                  <a:srgbClr val="B03D5B"/>
                </a:solidFill>
                <a:latin typeface="Calibri" pitchFamily="34" charset="0"/>
                <a:ea typeface="Calibri" pitchFamily="34" charset="-122"/>
                <a:cs typeface="Calibri" pitchFamily="34" charset="-120"/>
              </a:rPr>
              <a:t>ROOM TO GROW</a:t>
            </a:r>
            <a:endParaRPr lang="en-US" sz="1100" dirty="0"/>
          </a:p>
        </p:txBody>
      </p:sp>
      <p:sp>
        <p:nvSpPr>
          <p:cNvPr id="42" name="Text 34"/>
          <p:cNvSpPr txBox="1"/>
          <p:nvPr/>
        </p:nvSpPr>
        <p:spPr>
          <a:xfrm>
            <a:off x="8394192" y="5001768"/>
            <a:ext cx="3017520" cy="1179576"/>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2E2744"/>
                </a:solidFill>
                <a:latin typeface="Calibri" pitchFamily="34" charset="0"/>
                <a:ea typeface="Calibri" pitchFamily="34" charset="-122"/>
                <a:cs typeface="Calibri" pitchFamily="34" charset="-120"/>
              </a:rPr>
              <a:t>Felt product/package selling pressure</a:t>
            </a:r>
            <a:endParaRPr lang="en-US" sz="1200" dirty="0"/>
          </a:p>
          <a:p>
            <a:pPr marL="152400" indent="-152400">
              <a:spcAft>
                <a:spcPts val="300"/>
              </a:spcAft>
              <a:buSzPct val="100000"/>
              <a:buChar char="•"/>
            </a:pPr>
            <a:r>
              <a:rPr lang="en-US" sz="1200" dirty="0">
                <a:solidFill>
                  <a:srgbClr val="2E2744"/>
                </a:solidFill>
                <a:latin typeface="Calibri" pitchFamily="34" charset="0"/>
                <a:ea typeface="Calibri" pitchFamily="34" charset="-122"/>
                <a:cs typeface="Calibri" pitchFamily="34" charset="-120"/>
              </a:rPr>
              <a:t>Price was not affordable; felt shocked</a:t>
            </a:r>
            <a:endParaRPr lang="en-US" sz="1200" dirty="0"/>
          </a:p>
          <a:p>
            <a:pPr marL="152400" indent="-152400">
              <a:spcAft>
                <a:spcPts val="300"/>
              </a:spcAft>
              <a:buSzPct val="100000"/>
              <a:buChar char="•"/>
            </a:pPr>
            <a:r>
              <a:rPr lang="en-US" sz="1200" dirty="0">
                <a:solidFill>
                  <a:srgbClr val="2E2744"/>
                </a:solidFill>
                <a:latin typeface="Calibri" pitchFamily="34" charset="0"/>
                <a:ea typeface="Calibri" pitchFamily="34" charset="-122"/>
                <a:cs typeface="Calibri" pitchFamily="34" charset="-120"/>
              </a:rPr>
              <a:t>Process could be faster; less waiting</a:t>
            </a:r>
            <a:endParaRPr lang="en-US" sz="1200" dirty="0"/>
          </a:p>
          <a:p>
            <a:pPr marL="152400" indent="-152400">
              <a:spcAft>
                <a:spcPts val="300"/>
              </a:spcAft>
              <a:buSzPct val="100000"/>
              <a:buChar char="•"/>
            </a:pPr>
            <a:r>
              <a:rPr lang="en-US" sz="1200" dirty="0">
                <a:solidFill>
                  <a:srgbClr val="2E2744"/>
                </a:solidFill>
                <a:latin typeface="Calibri" pitchFamily="34" charset="0"/>
                <a:ea typeface="Calibri" pitchFamily="34" charset="-122"/>
                <a:cs typeface="Calibri" pitchFamily="34" charset="-120"/>
              </a:rPr>
              <a:t>Corridor conversation was quite loud</a:t>
            </a:r>
            <a:endParaRPr lang="en-US" sz="1200" dirty="0"/>
          </a:p>
          <a:p>
            <a:pPr marL="152400" indent="-152400">
              <a:spcAft>
                <a:spcPts val="300"/>
              </a:spcAft>
              <a:buSzPct val="100000"/>
              <a:buChar char="•"/>
            </a:pPr>
            <a:r>
              <a:rPr lang="en-US" sz="1200" dirty="0">
                <a:solidFill>
                  <a:srgbClr val="2E2744"/>
                </a:solidFill>
                <a:latin typeface="Calibri" pitchFamily="34" charset="0"/>
                <a:ea typeface="Calibri" pitchFamily="34" charset="-122"/>
                <a:cs typeface="Calibri" pitchFamily="34" charset="-120"/>
              </a:rPr>
              <a:t>Prefers WhatsApp instead of direct calls</a:t>
            </a:r>
            <a:endParaRPr lang="en-US" sz="1200" dirty="0"/>
          </a:p>
        </p:txBody>
      </p:sp>
      <p:sp>
        <p:nvSpPr>
          <p:cNvPr id="25" name="Slide Number Placeholder 0"/>
          <p:cNvSpPr>
            <a:spLocks noGrp="1"/>
          </p:cNvSpPr>
          <p:nvPr>
            <p:ph type="sldNum" sz="quarter" idx="4294967295"/>
          </p:nvPr>
        </p:nvSpPr>
        <p:spPr>
          <a:xfrm>
            <a:off x="1129284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9DB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B"/>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594360"/>
          </a:xfrm>
          <a:prstGeom prst="rect">
            <a:avLst/>
          </a:prstGeom>
          <a:noFill/>
          <a:ln/>
        </p:spPr>
        <p:txBody>
          <a:bodyPr wrap="square" lIns="0" tIns="0" rIns="0" bIns="0" rtlCol="0" anchor="ctr"/>
          <a:lstStyle/>
          <a:p>
            <a:pPr indent="0" marL="0">
              <a:buNone/>
            </a:pPr>
            <a:r>
              <a:rPr lang="en-US" sz="3200" b="1" dirty="0">
                <a:solidFill>
                  <a:srgbClr val="2A9D6E"/>
                </a:solidFill>
                <a:latin typeface="Calibri" pitchFamily="34" charset="0"/>
                <a:ea typeface="Calibri" pitchFamily="34" charset="-122"/>
                <a:cs typeface="Calibri" pitchFamily="34" charset="-120"/>
              </a:rPr>
              <a:t>Greenlane</a:t>
            </a:r>
            <a:pPr indent="0" marL="0">
              <a:buNone/>
            </a:pPr>
            <a:r>
              <a:rPr lang="en-US" sz="3200" b="1" dirty="0">
                <a:solidFill>
                  <a:srgbClr val="3B2A5A"/>
                </a:solidFill>
                <a:latin typeface="Calibri" pitchFamily="34" charset="0"/>
                <a:ea typeface="Calibri" pitchFamily="34" charset="-122"/>
                <a:cs typeface="Calibri" pitchFamily="34" charset="-120"/>
              </a:rPr>
              <a:t>  ·  full customer feedback</a:t>
            </a:r>
            <a:endParaRPr lang="en-US" sz="3200" dirty="0"/>
          </a:p>
        </p:txBody>
      </p:sp>
      <p:sp>
        <p:nvSpPr>
          <p:cNvPr id="3" name="Text 1"/>
          <p:cNvSpPr txBox="1"/>
          <p:nvPr/>
        </p:nvSpPr>
        <p:spPr>
          <a:xfrm>
            <a:off x="548640" y="987552"/>
            <a:ext cx="10058400" cy="292608"/>
          </a:xfrm>
          <a:prstGeom prst="rect">
            <a:avLst/>
          </a:prstGeom>
          <a:noFill/>
          <a:ln/>
        </p:spPr>
        <p:txBody>
          <a:bodyPr wrap="square" lIns="0" tIns="0" rIns="0" bIns="0" rtlCol="0" anchor="t"/>
          <a:lstStyle/>
          <a:p>
            <a:pPr indent="0" marL="0">
              <a:buNone/>
            </a:pPr>
            <a:r>
              <a:rPr lang="en-US" sz="1300" dirty="0">
                <a:solidFill>
                  <a:srgbClr val="6E6784"/>
                </a:solidFill>
                <a:latin typeface="Calibri" pitchFamily="34" charset="0"/>
                <a:ea typeface="Calibri" pitchFamily="34" charset="-122"/>
                <a:cs typeface="Calibri" pitchFamily="34" charset="-120"/>
              </a:rPr>
              <a:t>September 2026  ·  Mystery Shopper visit</a:t>
            </a:r>
            <a:endParaRPr lang="en-US" sz="1300" dirty="0"/>
          </a:p>
        </p:txBody>
      </p:sp>
      <p:sp>
        <p:nvSpPr>
          <p:cNvPr id="4" name="Shape 2"/>
          <p:cNvSpPr/>
          <p:nvPr/>
        </p:nvSpPr>
        <p:spPr>
          <a:xfrm>
            <a:off x="548640" y="1463040"/>
            <a:ext cx="2743200" cy="4937760"/>
          </a:xfrm>
          <a:prstGeom prst="roundRect">
            <a:avLst>
              <a:gd name="adj" fmla="val 6000"/>
            </a:avLst>
          </a:prstGeom>
          <a:solidFill>
            <a:srgbClr val="E6F5EE"/>
          </a:solidFill>
          <a:ln w="12700">
            <a:solidFill>
              <a:srgbClr val="E6F5EE"/>
            </a:solidFill>
            <a:prstDash val="solid"/>
          </a:ln>
        </p:spPr>
      </p:sp>
      <p:sp>
        <p:nvSpPr>
          <p:cNvPr id="5" name="Text 3"/>
          <p:cNvSpPr txBox="1"/>
          <p:nvPr/>
        </p:nvSpPr>
        <p:spPr>
          <a:xfrm>
            <a:off x="548640" y="1737360"/>
            <a:ext cx="2743200" cy="274320"/>
          </a:xfrm>
          <a:prstGeom prst="rect">
            <a:avLst/>
          </a:prstGeom>
          <a:noFill/>
          <a:ln/>
        </p:spPr>
        <p:txBody>
          <a:bodyPr wrap="square" lIns="0" tIns="0" rIns="0" bIns="0" rtlCol="0" anchor="t"/>
          <a:lstStyle/>
          <a:p>
            <a:pPr algn="ctr" indent="0" marL="0">
              <a:buNone/>
            </a:pPr>
            <a:r>
              <a:rPr lang="en-US" sz="1100" b="1" spc="100" kern="0" dirty="0">
                <a:solidFill>
                  <a:srgbClr val="1E7552"/>
                </a:solidFill>
                <a:latin typeface="Calibri" pitchFamily="34" charset="0"/>
                <a:ea typeface="Calibri" pitchFamily="34" charset="-122"/>
                <a:cs typeface="Calibri" pitchFamily="34" charset="-120"/>
              </a:rPr>
              <a:t>MYSTERY SHOPPER SCORE</a:t>
            </a:r>
            <a:endParaRPr lang="en-US" sz="1100" dirty="0"/>
          </a:p>
        </p:txBody>
      </p:sp>
      <p:graphicFrame>
        <p:nvGraphicFramePr>
          <p:cNvPr id="6" name="Chart 0" descr=""/>
          <p:cNvGraphicFramePr/>
          <p:nvPr/>
        </p:nvGraphicFramePr>
        <p:xfrm>
          <a:off x="868680" y="2148840"/>
          <a:ext cx="2103120" cy="21031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868680" y="2907792"/>
            <a:ext cx="2103120" cy="650240"/>
          </a:xfrm>
          <a:prstGeom prst="rect">
            <a:avLst/>
          </a:prstGeom>
          <a:noFill/>
          <a:ln/>
        </p:spPr>
        <p:txBody>
          <a:bodyPr wrap="square" lIns="0" tIns="0" rIns="0" bIns="0" rtlCol="0" anchor="ctr"/>
          <a:lstStyle/>
          <a:p>
            <a:pPr algn="ctr" indent="0" marL="0">
              <a:buNone/>
            </a:pPr>
            <a:r>
              <a:rPr lang="en-US" sz="3200" b="1" dirty="0">
                <a:solidFill>
                  <a:srgbClr val="3B2A5A"/>
                </a:solidFill>
                <a:latin typeface="Calibri" pitchFamily="34" charset="0"/>
                <a:ea typeface="Calibri" pitchFamily="34" charset="-122"/>
                <a:cs typeface="Calibri" pitchFamily="34" charset="-120"/>
              </a:rPr>
              <a:t>77.5</a:t>
            </a:r>
            <a:endParaRPr lang="en-US" sz="3200" dirty="0"/>
          </a:p>
          <a:p>
            <a:pPr algn="ctr" indent="0" marL="0">
              <a:buNone/>
            </a:pPr>
            <a:r>
              <a:rPr lang="en-US" sz="1100" dirty="0">
                <a:solidFill>
                  <a:srgbClr val="6E6784"/>
                </a:solidFill>
                <a:latin typeface="Calibri" pitchFamily="34" charset="0"/>
                <a:ea typeface="Calibri" pitchFamily="34" charset="-122"/>
                <a:cs typeface="Calibri" pitchFamily="34" charset="-120"/>
              </a:rPr>
              <a:t>out of 100</a:t>
            </a:r>
            <a:endParaRPr lang="en-US" sz="3200" dirty="0"/>
          </a:p>
        </p:txBody>
      </p:sp>
      <p:sp>
        <p:nvSpPr>
          <p:cNvPr id="8" name="Shape 5"/>
          <p:cNvSpPr/>
          <p:nvPr/>
        </p:nvSpPr>
        <p:spPr>
          <a:xfrm>
            <a:off x="1719072" y="4526280"/>
            <a:ext cx="402336" cy="402336"/>
          </a:xfrm>
          <a:prstGeom prst="ellipse">
            <a:avLst/>
          </a:prstGeom>
          <a:solidFill>
            <a:srgbClr val="2A9D6E"/>
          </a:solidFill>
          <a:ln w="12700">
            <a:solidFill>
              <a:srgbClr val="2A9D6E"/>
            </a:solidFill>
            <a:prstDash val="solid"/>
          </a:ln>
        </p:spPr>
      </p:sp>
      <p:pic>
        <p:nvPicPr>
          <p:cNvPr id="9" name="Image 0" descr="preencoded.png">    </p:cNvPr>
          <p:cNvPicPr>
            <a:picLocks noChangeAspect="1"/>
          </p:cNvPicPr>
          <p:nvPr/>
        </p:nvPicPr>
        <p:blipFill>
          <a:blip r:embed="rId2"/>
          <a:stretch>
            <a:fillRect/>
          </a:stretch>
        </p:blipFill>
        <p:spPr>
          <a:xfrm>
            <a:off x="1815633" y="4622841"/>
            <a:ext cx="209215" cy="209215"/>
          </a:xfrm>
          <a:prstGeom prst="rect">
            <a:avLst/>
          </a:prstGeom>
        </p:spPr>
      </p:pic>
      <p:sp>
        <p:nvSpPr>
          <p:cNvPr id="10" name="Text 6"/>
          <p:cNvSpPr txBox="1"/>
          <p:nvPr/>
        </p:nvSpPr>
        <p:spPr>
          <a:xfrm>
            <a:off x="548640" y="5029200"/>
            <a:ext cx="2743200" cy="256032"/>
          </a:xfrm>
          <a:prstGeom prst="rect">
            <a:avLst/>
          </a:prstGeom>
          <a:noFill/>
          <a:ln/>
        </p:spPr>
        <p:txBody>
          <a:bodyPr wrap="square" lIns="0" tIns="0" rIns="0" bIns="0" rtlCol="0" anchor="t"/>
          <a:lstStyle/>
          <a:p>
            <a:pPr algn="ctr" indent="0" marL="0">
              <a:buNone/>
            </a:pPr>
            <a:r>
              <a:rPr lang="en-US" sz="1000" b="1" spc="100" kern="0" dirty="0">
                <a:solidFill>
                  <a:srgbClr val="1E7552"/>
                </a:solidFill>
                <a:latin typeface="Calibri" pitchFamily="34" charset="0"/>
                <a:ea typeface="Calibri" pitchFamily="34" charset="-122"/>
                <a:cs typeface="Calibri" pitchFamily="34" charset="-120"/>
              </a:rPr>
              <a:t>GUEST HIGHLIGHT</a:t>
            </a:r>
            <a:endParaRPr lang="en-US" sz="1000" dirty="0"/>
          </a:p>
        </p:txBody>
      </p:sp>
      <p:sp>
        <p:nvSpPr>
          <p:cNvPr id="11" name="Text 7"/>
          <p:cNvSpPr txBox="1"/>
          <p:nvPr/>
        </p:nvSpPr>
        <p:spPr>
          <a:xfrm>
            <a:off x="777240" y="5303520"/>
            <a:ext cx="2286000" cy="822960"/>
          </a:xfrm>
          <a:prstGeom prst="rect">
            <a:avLst/>
          </a:prstGeom>
          <a:noFill/>
          <a:ln/>
        </p:spPr>
        <p:txBody>
          <a:bodyPr wrap="square" lIns="0" tIns="0" rIns="0" bIns="0" rtlCol="0" anchor="t"/>
          <a:lstStyle/>
          <a:p>
            <a:pPr algn="ctr" indent="0" marL="0">
              <a:buNone/>
            </a:pPr>
            <a:r>
              <a:rPr lang="en-US" sz="1600" b="1" dirty="0">
                <a:solidFill>
                  <a:srgbClr val="3B2A5A"/>
                </a:solidFill>
                <a:latin typeface="Calibri" pitchFamily="34" charset="0"/>
                <a:ea typeface="Calibri" pitchFamily="34" charset="-122"/>
                <a:cs typeface="Calibri" pitchFamily="34" charset="-120"/>
              </a:rPr>
              <a:t>Impressive technology + thoughtful details</a:t>
            </a:r>
            <a:endParaRPr lang="en-US" sz="1600" dirty="0"/>
          </a:p>
        </p:txBody>
      </p:sp>
      <p:sp>
        <p:nvSpPr>
          <p:cNvPr id="12" name="Shape 8"/>
          <p:cNvSpPr/>
          <p:nvPr/>
        </p:nvSpPr>
        <p:spPr>
          <a:xfrm>
            <a:off x="3566160" y="1463040"/>
            <a:ext cx="4206240" cy="4937760"/>
          </a:xfrm>
          <a:prstGeom prst="roundRect">
            <a:avLst>
              <a:gd name="adj" fmla="val 3913"/>
            </a:avLst>
          </a:prstGeom>
          <a:solidFill>
            <a:srgbClr val="FFFFFF"/>
          </a:solidFill>
          <a:ln w="12700">
            <a:solidFill>
              <a:srgbClr val="FFFFFF"/>
            </a:solidFill>
            <a:prstDash val="solid"/>
          </a:ln>
          <a:effectLst>
            <a:outerShdw sx="100000" sy="100000" kx="0" ky="0" algn="bl" rotWithShape="0" blurRad="127000" dist="25400" dir="5400000">
              <a:srgbClr val="3B2A5A">
                <a:alpha val="10000"/>
              </a:srgbClr>
            </a:outerShdw>
          </a:effectLst>
        </p:spPr>
      </p:sp>
      <p:sp>
        <p:nvSpPr>
          <p:cNvPr id="13" name="Shape 9"/>
          <p:cNvSpPr/>
          <p:nvPr/>
        </p:nvSpPr>
        <p:spPr>
          <a:xfrm>
            <a:off x="3840480" y="1719072"/>
            <a:ext cx="365760" cy="365760"/>
          </a:xfrm>
          <a:prstGeom prst="ellipse">
            <a:avLst/>
          </a:prstGeom>
          <a:solidFill>
            <a:srgbClr val="2A9D6E"/>
          </a:solidFill>
          <a:ln w="12700">
            <a:solidFill>
              <a:srgbClr val="2A9D6E"/>
            </a:solidFill>
            <a:prstDash val="solid"/>
          </a:ln>
        </p:spPr>
      </p:sp>
      <p:pic>
        <p:nvPicPr>
          <p:cNvPr id="14" name="Image 1" descr="preencoded.png">    </p:cNvPr>
          <p:cNvPicPr>
            <a:picLocks noChangeAspect="1"/>
          </p:cNvPicPr>
          <p:nvPr/>
        </p:nvPicPr>
        <p:blipFill>
          <a:blip r:embed="rId3"/>
          <a:stretch>
            <a:fillRect/>
          </a:stretch>
        </p:blipFill>
        <p:spPr>
          <a:xfrm>
            <a:off x="3928262" y="1806854"/>
            <a:ext cx="190195" cy="190195"/>
          </a:xfrm>
          <a:prstGeom prst="rect">
            <a:avLst/>
          </a:prstGeom>
        </p:spPr>
      </p:pic>
      <p:sp>
        <p:nvSpPr>
          <p:cNvPr id="15" name="Text 10"/>
          <p:cNvSpPr txBox="1"/>
          <p:nvPr/>
        </p:nvSpPr>
        <p:spPr>
          <a:xfrm>
            <a:off x="4315968" y="1719072"/>
            <a:ext cx="3657600" cy="365760"/>
          </a:xfrm>
          <a:prstGeom prst="rect">
            <a:avLst/>
          </a:prstGeom>
          <a:noFill/>
          <a:ln/>
        </p:spPr>
        <p:txBody>
          <a:bodyPr wrap="square" lIns="0" tIns="0" rIns="0" bIns="0" rtlCol="0" anchor="ctr"/>
          <a:lstStyle/>
          <a:p>
            <a:pPr indent="0" marL="0">
              <a:buNone/>
            </a:pPr>
            <a:r>
              <a:rPr lang="en-US" sz="1700" b="1" dirty="0">
                <a:solidFill>
                  <a:srgbClr val="3B2A5A"/>
                </a:solidFill>
                <a:latin typeface="Calibri" pitchFamily="34" charset="0"/>
                <a:ea typeface="Calibri" pitchFamily="34" charset="-122"/>
                <a:cs typeface="Calibri" pitchFamily="34" charset="-120"/>
              </a:rPr>
              <a:t>What the shopper loved</a:t>
            </a:r>
            <a:endParaRPr lang="en-US" sz="1700" dirty="0"/>
          </a:p>
        </p:txBody>
      </p:sp>
      <p:sp>
        <p:nvSpPr>
          <p:cNvPr id="16" name="Shape 11"/>
          <p:cNvSpPr/>
          <p:nvPr/>
        </p:nvSpPr>
        <p:spPr>
          <a:xfrm>
            <a:off x="3840480" y="2331720"/>
            <a:ext cx="402336" cy="402336"/>
          </a:xfrm>
          <a:prstGeom prst="ellipse">
            <a:avLst/>
          </a:prstGeom>
          <a:solidFill>
            <a:srgbClr val="E6F5EE"/>
          </a:solidFill>
          <a:ln w="12700">
            <a:solidFill>
              <a:srgbClr val="E6F5EE"/>
            </a:solidFill>
            <a:prstDash val="solid"/>
          </a:ln>
        </p:spPr>
      </p:sp>
      <p:pic>
        <p:nvPicPr>
          <p:cNvPr id="17" name="Image 2" descr="preencoded.png">    </p:cNvPr>
          <p:cNvPicPr>
            <a:picLocks noChangeAspect="1"/>
          </p:cNvPicPr>
          <p:nvPr/>
        </p:nvPicPr>
        <p:blipFill>
          <a:blip r:embed="rId4"/>
          <a:stretch>
            <a:fillRect/>
          </a:stretch>
        </p:blipFill>
        <p:spPr>
          <a:xfrm>
            <a:off x="3937041" y="2428281"/>
            <a:ext cx="209215" cy="209215"/>
          </a:xfrm>
          <a:prstGeom prst="rect">
            <a:avLst/>
          </a:prstGeom>
        </p:spPr>
      </p:pic>
      <p:sp>
        <p:nvSpPr>
          <p:cNvPr id="18" name="Text 12"/>
          <p:cNvSpPr txBox="1"/>
          <p:nvPr/>
        </p:nvSpPr>
        <p:spPr>
          <a:xfrm>
            <a:off x="4407408" y="2350008"/>
            <a:ext cx="3136392" cy="640080"/>
          </a:xfrm>
          <a:prstGeom prst="rect">
            <a:avLst/>
          </a:prstGeom>
          <a:noFill/>
          <a:ln/>
        </p:spPr>
        <p:txBody>
          <a:bodyPr wrap="square" lIns="0" tIns="0" rIns="0" bIns="0" rtlCol="0" anchor="t"/>
          <a:lstStyle/>
          <a:p>
            <a:pPr indent="0" marL="0">
              <a:buNone/>
            </a:pPr>
            <a:r>
              <a:rPr lang="en-US" sz="1300" dirty="0">
                <a:solidFill>
                  <a:srgbClr val="2E2744"/>
                </a:solidFill>
                <a:latin typeface="Calibri" pitchFamily="34" charset="0"/>
                <a:ea typeface="Calibri" pitchFamily="34" charset="-122"/>
                <a:cs typeface="Calibri" pitchFamily="34" charset="-120"/>
              </a:rPr>
              <a:t>Service / equipment experience was surprising and impressive.</a:t>
            </a:r>
            <a:endParaRPr lang="en-US" sz="1300" dirty="0"/>
          </a:p>
        </p:txBody>
      </p:sp>
      <p:sp>
        <p:nvSpPr>
          <p:cNvPr id="19" name="Shape 13"/>
          <p:cNvSpPr/>
          <p:nvPr/>
        </p:nvSpPr>
        <p:spPr>
          <a:xfrm>
            <a:off x="3840480" y="3044952"/>
            <a:ext cx="402336" cy="402336"/>
          </a:xfrm>
          <a:prstGeom prst="ellipse">
            <a:avLst/>
          </a:prstGeom>
          <a:solidFill>
            <a:srgbClr val="E6F5EE"/>
          </a:solidFill>
          <a:ln w="12700">
            <a:solidFill>
              <a:srgbClr val="E6F5EE"/>
            </a:solidFill>
            <a:prstDash val="solid"/>
          </a:ln>
        </p:spPr>
      </p:sp>
      <p:pic>
        <p:nvPicPr>
          <p:cNvPr id="20" name="Image 3" descr="preencoded.png">    </p:cNvPr>
          <p:cNvPicPr>
            <a:picLocks noChangeAspect="1"/>
          </p:cNvPicPr>
          <p:nvPr/>
        </p:nvPicPr>
        <p:blipFill>
          <a:blip r:embed="rId5"/>
          <a:stretch>
            <a:fillRect/>
          </a:stretch>
        </p:blipFill>
        <p:spPr>
          <a:xfrm>
            <a:off x="3937041" y="3141513"/>
            <a:ext cx="209215" cy="209215"/>
          </a:xfrm>
          <a:prstGeom prst="rect">
            <a:avLst/>
          </a:prstGeom>
        </p:spPr>
      </p:pic>
      <p:sp>
        <p:nvSpPr>
          <p:cNvPr id="21" name="Text 14"/>
          <p:cNvSpPr txBox="1"/>
          <p:nvPr/>
        </p:nvSpPr>
        <p:spPr>
          <a:xfrm>
            <a:off x="4407408" y="3063240"/>
            <a:ext cx="3136392" cy="585216"/>
          </a:xfrm>
          <a:prstGeom prst="rect">
            <a:avLst/>
          </a:prstGeom>
          <a:noFill/>
          <a:ln/>
        </p:spPr>
        <p:txBody>
          <a:bodyPr wrap="square" lIns="0" tIns="0" rIns="0" bIns="0" rtlCol="0" anchor="t"/>
          <a:lstStyle/>
          <a:p>
            <a:pPr indent="0" marL="0">
              <a:buNone/>
            </a:pPr>
            <a:r>
              <a:rPr lang="en-US" sz="1300" dirty="0">
                <a:solidFill>
                  <a:srgbClr val="2E2744"/>
                </a:solidFill>
                <a:latin typeface="Calibri" pitchFamily="34" charset="0"/>
                <a:ea typeface="Calibri" pitchFamily="34" charset="-122"/>
                <a:cs typeface="Calibri" pitchFamily="34" charset="-120"/>
              </a:rPr>
              <a:t>Travel set gift looked refined; details felt thoughtful.</a:t>
            </a:r>
            <a:endParaRPr lang="en-US" sz="1300" dirty="0"/>
          </a:p>
        </p:txBody>
      </p:sp>
      <p:sp>
        <p:nvSpPr>
          <p:cNvPr id="22" name="Shape 15"/>
          <p:cNvSpPr/>
          <p:nvPr/>
        </p:nvSpPr>
        <p:spPr>
          <a:xfrm>
            <a:off x="3840480" y="3703320"/>
            <a:ext cx="402336" cy="402336"/>
          </a:xfrm>
          <a:prstGeom prst="ellipse">
            <a:avLst/>
          </a:prstGeom>
          <a:solidFill>
            <a:srgbClr val="E6F5EE"/>
          </a:solidFill>
          <a:ln w="12700">
            <a:solidFill>
              <a:srgbClr val="E6F5EE"/>
            </a:solidFill>
            <a:prstDash val="solid"/>
          </a:ln>
        </p:spPr>
      </p:sp>
      <p:pic>
        <p:nvPicPr>
          <p:cNvPr id="23" name="Image 4" descr="preencoded.png">    </p:cNvPr>
          <p:cNvPicPr>
            <a:picLocks noChangeAspect="1"/>
          </p:cNvPicPr>
          <p:nvPr/>
        </p:nvPicPr>
        <p:blipFill>
          <a:blip r:embed="rId6"/>
          <a:stretch>
            <a:fillRect/>
          </a:stretch>
        </p:blipFill>
        <p:spPr>
          <a:xfrm>
            <a:off x="3937041" y="3799881"/>
            <a:ext cx="209215" cy="209215"/>
          </a:xfrm>
          <a:prstGeom prst="rect">
            <a:avLst/>
          </a:prstGeom>
        </p:spPr>
      </p:pic>
      <p:sp>
        <p:nvSpPr>
          <p:cNvPr id="24" name="Text 16"/>
          <p:cNvSpPr txBox="1"/>
          <p:nvPr/>
        </p:nvSpPr>
        <p:spPr>
          <a:xfrm>
            <a:off x="4407408" y="3721608"/>
            <a:ext cx="3136392" cy="475488"/>
          </a:xfrm>
          <a:prstGeom prst="rect">
            <a:avLst/>
          </a:prstGeom>
          <a:noFill/>
          <a:ln/>
        </p:spPr>
        <p:txBody>
          <a:bodyPr wrap="square" lIns="0" tIns="0" rIns="0" bIns="0" rtlCol="0" anchor="t"/>
          <a:lstStyle/>
          <a:p>
            <a:pPr indent="0" marL="0">
              <a:buNone/>
            </a:pPr>
            <a:r>
              <a:rPr lang="en-US" sz="1300" dirty="0">
                <a:solidFill>
                  <a:srgbClr val="2E2744"/>
                </a:solidFill>
                <a:latin typeface="Calibri" pitchFamily="34" charset="0"/>
                <a:ea typeface="Calibri" pitchFamily="34" charset="-122"/>
                <a:cs typeface="Calibri" pitchFamily="34" charset="-120"/>
              </a:rPr>
              <a:t>Red date tea felt warm and comforting.</a:t>
            </a:r>
            <a:endParaRPr lang="en-US" sz="1300" dirty="0"/>
          </a:p>
        </p:txBody>
      </p:sp>
      <p:sp>
        <p:nvSpPr>
          <p:cNvPr id="25" name="Shape 17"/>
          <p:cNvSpPr/>
          <p:nvPr/>
        </p:nvSpPr>
        <p:spPr>
          <a:xfrm>
            <a:off x="3840480" y="4251960"/>
            <a:ext cx="402336" cy="402336"/>
          </a:xfrm>
          <a:prstGeom prst="ellipse">
            <a:avLst/>
          </a:prstGeom>
          <a:solidFill>
            <a:srgbClr val="E6F5EE"/>
          </a:solidFill>
          <a:ln w="12700">
            <a:solidFill>
              <a:srgbClr val="E6F5EE"/>
            </a:solidFill>
            <a:prstDash val="solid"/>
          </a:ln>
        </p:spPr>
      </p:sp>
      <p:pic>
        <p:nvPicPr>
          <p:cNvPr id="26" name="Image 5" descr="preencoded.png">    </p:cNvPr>
          <p:cNvPicPr>
            <a:picLocks noChangeAspect="1"/>
          </p:cNvPicPr>
          <p:nvPr/>
        </p:nvPicPr>
        <p:blipFill>
          <a:blip r:embed="rId7"/>
          <a:stretch>
            <a:fillRect/>
          </a:stretch>
        </p:blipFill>
        <p:spPr>
          <a:xfrm>
            <a:off x="3937041" y="4348521"/>
            <a:ext cx="209215" cy="209215"/>
          </a:xfrm>
          <a:prstGeom prst="rect">
            <a:avLst/>
          </a:prstGeom>
        </p:spPr>
      </p:pic>
      <p:sp>
        <p:nvSpPr>
          <p:cNvPr id="27" name="Text 18"/>
          <p:cNvSpPr txBox="1"/>
          <p:nvPr/>
        </p:nvSpPr>
        <p:spPr>
          <a:xfrm>
            <a:off x="4407408" y="4270248"/>
            <a:ext cx="3136392" cy="585216"/>
          </a:xfrm>
          <a:prstGeom prst="rect">
            <a:avLst/>
          </a:prstGeom>
          <a:noFill/>
          <a:ln/>
        </p:spPr>
        <p:txBody>
          <a:bodyPr wrap="square" lIns="0" tIns="0" rIns="0" bIns="0" rtlCol="0" anchor="t"/>
          <a:lstStyle/>
          <a:p>
            <a:pPr indent="0" marL="0">
              <a:buNone/>
            </a:pPr>
            <a:r>
              <a:rPr lang="en-US" sz="1300" dirty="0">
                <a:solidFill>
                  <a:srgbClr val="2E2744"/>
                </a:solidFill>
                <a:latin typeface="Calibri" pitchFamily="34" charset="0"/>
                <a:ea typeface="Calibri" pitchFamily="34" charset="-122"/>
                <a:cs typeface="Calibri" pitchFamily="34" charset="-120"/>
              </a:rPr>
              <a:t>Interior was clean, neat and well organised.</a:t>
            </a:r>
            <a:endParaRPr lang="en-US" sz="1300" dirty="0"/>
          </a:p>
        </p:txBody>
      </p:sp>
      <p:sp>
        <p:nvSpPr>
          <p:cNvPr id="28" name="Shape 19"/>
          <p:cNvSpPr/>
          <p:nvPr/>
        </p:nvSpPr>
        <p:spPr>
          <a:xfrm>
            <a:off x="3840480" y="4910328"/>
            <a:ext cx="402336" cy="402336"/>
          </a:xfrm>
          <a:prstGeom prst="ellipse">
            <a:avLst/>
          </a:prstGeom>
          <a:solidFill>
            <a:srgbClr val="E6F5EE"/>
          </a:solidFill>
          <a:ln w="12700">
            <a:solidFill>
              <a:srgbClr val="E6F5EE"/>
            </a:solidFill>
            <a:prstDash val="solid"/>
          </a:ln>
        </p:spPr>
      </p:sp>
      <p:pic>
        <p:nvPicPr>
          <p:cNvPr id="29" name="Image 6" descr="preencoded.png">    </p:cNvPr>
          <p:cNvPicPr>
            <a:picLocks noChangeAspect="1"/>
          </p:cNvPicPr>
          <p:nvPr/>
        </p:nvPicPr>
        <p:blipFill>
          <a:blip r:embed="rId8"/>
          <a:stretch>
            <a:fillRect/>
          </a:stretch>
        </p:blipFill>
        <p:spPr>
          <a:xfrm>
            <a:off x="3937041" y="5006889"/>
            <a:ext cx="209215" cy="209215"/>
          </a:xfrm>
          <a:prstGeom prst="rect">
            <a:avLst/>
          </a:prstGeom>
        </p:spPr>
      </p:pic>
      <p:sp>
        <p:nvSpPr>
          <p:cNvPr id="30" name="Text 20"/>
          <p:cNvSpPr txBox="1"/>
          <p:nvPr/>
        </p:nvSpPr>
        <p:spPr>
          <a:xfrm>
            <a:off x="4407408" y="4928616"/>
            <a:ext cx="3136392" cy="640080"/>
          </a:xfrm>
          <a:prstGeom prst="rect">
            <a:avLst/>
          </a:prstGeom>
          <a:noFill/>
          <a:ln/>
        </p:spPr>
        <p:txBody>
          <a:bodyPr wrap="square" lIns="0" tIns="0" rIns="0" bIns="0" rtlCol="0" anchor="t"/>
          <a:lstStyle/>
          <a:p>
            <a:pPr indent="0" marL="0">
              <a:buNone/>
            </a:pPr>
            <a:r>
              <a:rPr lang="en-US" sz="1300" dirty="0">
                <a:solidFill>
                  <a:srgbClr val="2E2744"/>
                </a:solidFill>
                <a:latin typeface="Calibri" pitchFamily="34" charset="0"/>
                <a:ea typeface="Calibri" pitchFamily="34" charset="-122"/>
                <a:cs typeface="Calibri" pitchFamily="34" charset="-120"/>
              </a:rPr>
              <a:t>Customer service guided the shopper throughout the visit.</a:t>
            </a:r>
            <a:endParaRPr lang="en-US" sz="1300" dirty="0"/>
          </a:p>
        </p:txBody>
      </p:sp>
      <p:sp>
        <p:nvSpPr>
          <p:cNvPr id="31" name="Shape 21"/>
          <p:cNvSpPr/>
          <p:nvPr/>
        </p:nvSpPr>
        <p:spPr>
          <a:xfrm>
            <a:off x="3840480" y="5623560"/>
            <a:ext cx="402336" cy="402336"/>
          </a:xfrm>
          <a:prstGeom prst="ellipse">
            <a:avLst/>
          </a:prstGeom>
          <a:solidFill>
            <a:srgbClr val="E6F5EE"/>
          </a:solidFill>
          <a:ln w="12700">
            <a:solidFill>
              <a:srgbClr val="E6F5EE"/>
            </a:solidFill>
            <a:prstDash val="solid"/>
          </a:ln>
        </p:spPr>
      </p:sp>
      <p:pic>
        <p:nvPicPr>
          <p:cNvPr id="32" name="Image 7" descr="preencoded.png">    </p:cNvPr>
          <p:cNvPicPr>
            <a:picLocks noChangeAspect="1"/>
          </p:cNvPicPr>
          <p:nvPr/>
        </p:nvPicPr>
        <p:blipFill>
          <a:blip r:embed="rId9"/>
          <a:stretch>
            <a:fillRect/>
          </a:stretch>
        </p:blipFill>
        <p:spPr>
          <a:xfrm>
            <a:off x="3937041" y="5720121"/>
            <a:ext cx="209215" cy="209215"/>
          </a:xfrm>
          <a:prstGeom prst="rect">
            <a:avLst/>
          </a:prstGeom>
        </p:spPr>
      </p:pic>
      <p:sp>
        <p:nvSpPr>
          <p:cNvPr id="33" name="Text 22"/>
          <p:cNvSpPr txBox="1"/>
          <p:nvPr/>
        </p:nvSpPr>
        <p:spPr>
          <a:xfrm>
            <a:off x="4407408" y="5641848"/>
            <a:ext cx="3136392" cy="475488"/>
          </a:xfrm>
          <a:prstGeom prst="rect">
            <a:avLst/>
          </a:prstGeom>
          <a:noFill/>
          <a:ln/>
        </p:spPr>
        <p:txBody>
          <a:bodyPr wrap="square" lIns="0" tIns="0" rIns="0" bIns="0" rtlCol="0" anchor="t"/>
          <a:lstStyle/>
          <a:p>
            <a:pPr indent="0" marL="0">
              <a:buNone/>
            </a:pPr>
            <a:r>
              <a:rPr lang="en-US" sz="1300" dirty="0">
                <a:solidFill>
                  <a:srgbClr val="2E2744"/>
                </a:solidFill>
                <a:latin typeface="Calibri" pitchFamily="34" charset="0"/>
                <a:ea typeface="Calibri" pitchFamily="34" charset="-122"/>
                <a:cs typeface="Calibri" pitchFamily="34" charset="-120"/>
              </a:rPr>
              <a:t>Sylvin was described as very friendly.</a:t>
            </a:r>
            <a:endParaRPr lang="en-US" sz="1300" dirty="0"/>
          </a:p>
        </p:txBody>
      </p:sp>
      <p:sp>
        <p:nvSpPr>
          <p:cNvPr id="34" name="Shape 23"/>
          <p:cNvSpPr/>
          <p:nvPr/>
        </p:nvSpPr>
        <p:spPr>
          <a:xfrm>
            <a:off x="8046720" y="1463040"/>
            <a:ext cx="3593592" cy="2331720"/>
          </a:xfrm>
          <a:prstGeom prst="roundRect">
            <a:avLst>
              <a:gd name="adj" fmla="val 7059"/>
            </a:avLst>
          </a:prstGeom>
          <a:solidFill>
            <a:srgbClr val="FFFFFF"/>
          </a:solidFill>
          <a:ln w="12700">
            <a:solidFill>
              <a:srgbClr val="FFFFFF"/>
            </a:solidFill>
            <a:prstDash val="solid"/>
          </a:ln>
          <a:effectLst>
            <a:outerShdw sx="100000" sy="100000" kx="0" ky="0" algn="bl" rotWithShape="0" blurRad="127000" dist="25400" dir="5400000">
              <a:srgbClr val="3B2A5A">
                <a:alpha val="10000"/>
              </a:srgbClr>
            </a:outerShdw>
          </a:effectLst>
        </p:spPr>
      </p:sp>
      <p:sp>
        <p:nvSpPr>
          <p:cNvPr id="35" name="Shape 24"/>
          <p:cNvSpPr/>
          <p:nvPr/>
        </p:nvSpPr>
        <p:spPr>
          <a:xfrm>
            <a:off x="8321040" y="1719072"/>
            <a:ext cx="365760" cy="365760"/>
          </a:xfrm>
          <a:prstGeom prst="ellipse">
            <a:avLst/>
          </a:prstGeom>
          <a:solidFill>
            <a:srgbClr val="2A9D6E"/>
          </a:solidFill>
          <a:ln w="12700">
            <a:solidFill>
              <a:srgbClr val="2A9D6E"/>
            </a:solidFill>
            <a:prstDash val="solid"/>
          </a:ln>
        </p:spPr>
      </p:sp>
      <p:pic>
        <p:nvPicPr>
          <p:cNvPr id="36" name="Image 8" descr="preencoded.png">    </p:cNvPr>
          <p:cNvPicPr>
            <a:picLocks noChangeAspect="1"/>
          </p:cNvPicPr>
          <p:nvPr/>
        </p:nvPicPr>
        <p:blipFill>
          <a:blip r:embed="rId10"/>
          <a:stretch>
            <a:fillRect/>
          </a:stretch>
        </p:blipFill>
        <p:spPr>
          <a:xfrm>
            <a:off x="8408822" y="1806854"/>
            <a:ext cx="190195" cy="190195"/>
          </a:xfrm>
          <a:prstGeom prst="rect">
            <a:avLst/>
          </a:prstGeom>
        </p:spPr>
      </p:pic>
      <p:sp>
        <p:nvSpPr>
          <p:cNvPr id="37" name="Text 25"/>
          <p:cNvSpPr txBox="1"/>
          <p:nvPr/>
        </p:nvSpPr>
        <p:spPr>
          <a:xfrm>
            <a:off x="8796528" y="1719072"/>
            <a:ext cx="3657600" cy="365760"/>
          </a:xfrm>
          <a:prstGeom prst="rect">
            <a:avLst/>
          </a:prstGeom>
          <a:noFill/>
          <a:ln/>
        </p:spPr>
        <p:txBody>
          <a:bodyPr wrap="square" lIns="0" tIns="0" rIns="0" bIns="0" rtlCol="0" anchor="ctr"/>
          <a:lstStyle/>
          <a:p>
            <a:pPr indent="0" marL="0">
              <a:buNone/>
            </a:pPr>
            <a:r>
              <a:rPr lang="en-US" sz="1700" b="1" dirty="0">
                <a:solidFill>
                  <a:srgbClr val="3B2A5A"/>
                </a:solidFill>
                <a:latin typeface="Calibri" pitchFamily="34" charset="0"/>
                <a:ea typeface="Calibri" pitchFamily="34" charset="-122"/>
                <a:cs typeface="Calibri" pitchFamily="34" charset="-120"/>
              </a:rPr>
              <a:t>Room to grow</a:t>
            </a:r>
            <a:endParaRPr lang="en-US" sz="1700" dirty="0"/>
          </a:p>
        </p:txBody>
      </p:sp>
      <p:sp>
        <p:nvSpPr>
          <p:cNvPr id="38" name="Shape 26"/>
          <p:cNvSpPr/>
          <p:nvPr/>
        </p:nvSpPr>
        <p:spPr>
          <a:xfrm>
            <a:off x="8321040" y="2286000"/>
            <a:ext cx="402336" cy="402336"/>
          </a:xfrm>
          <a:prstGeom prst="ellipse">
            <a:avLst/>
          </a:prstGeom>
          <a:solidFill>
            <a:srgbClr val="E6F5EE"/>
          </a:solidFill>
          <a:ln w="12700">
            <a:solidFill>
              <a:srgbClr val="E6F5EE"/>
            </a:solidFill>
            <a:prstDash val="solid"/>
          </a:ln>
        </p:spPr>
      </p:sp>
      <p:pic>
        <p:nvPicPr>
          <p:cNvPr id="39" name="Image 9" descr="preencoded.png">    </p:cNvPr>
          <p:cNvPicPr>
            <a:picLocks noChangeAspect="1"/>
          </p:cNvPicPr>
          <p:nvPr/>
        </p:nvPicPr>
        <p:blipFill>
          <a:blip r:embed="rId11"/>
          <a:stretch>
            <a:fillRect/>
          </a:stretch>
        </p:blipFill>
        <p:spPr>
          <a:xfrm>
            <a:off x="8417601" y="2382561"/>
            <a:ext cx="209215" cy="209215"/>
          </a:xfrm>
          <a:prstGeom prst="rect">
            <a:avLst/>
          </a:prstGeom>
        </p:spPr>
      </p:pic>
      <p:sp>
        <p:nvSpPr>
          <p:cNvPr id="40" name="Text 27"/>
          <p:cNvSpPr txBox="1"/>
          <p:nvPr/>
        </p:nvSpPr>
        <p:spPr>
          <a:xfrm>
            <a:off x="8887968" y="2304288"/>
            <a:ext cx="2569464" cy="429768"/>
          </a:xfrm>
          <a:prstGeom prst="rect">
            <a:avLst/>
          </a:prstGeom>
          <a:noFill/>
          <a:ln/>
        </p:spPr>
        <p:txBody>
          <a:bodyPr wrap="square" lIns="0" tIns="0" rIns="0" bIns="0" rtlCol="0" anchor="t"/>
          <a:lstStyle/>
          <a:p>
            <a:pPr indent="0" marL="0">
              <a:buNone/>
            </a:pPr>
            <a:r>
              <a:rPr lang="en-US" sz="1250" dirty="0">
                <a:solidFill>
                  <a:srgbClr val="2E2744"/>
                </a:solidFill>
                <a:latin typeface="Calibri" pitchFamily="34" charset="0"/>
                <a:ea typeface="Calibri" pitchFamily="34" charset="-122"/>
                <a:cs typeface="Calibri" pitchFamily="34" charset="-120"/>
              </a:rPr>
              <a:t>Price could be more accessible for a wider group.</a:t>
            </a:r>
            <a:endParaRPr lang="en-US" sz="1250" dirty="0"/>
          </a:p>
        </p:txBody>
      </p:sp>
      <p:sp>
        <p:nvSpPr>
          <p:cNvPr id="41" name="Shape 28"/>
          <p:cNvSpPr/>
          <p:nvPr/>
        </p:nvSpPr>
        <p:spPr>
          <a:xfrm>
            <a:off x="8321040" y="2788920"/>
            <a:ext cx="402336" cy="402336"/>
          </a:xfrm>
          <a:prstGeom prst="ellipse">
            <a:avLst/>
          </a:prstGeom>
          <a:solidFill>
            <a:srgbClr val="E6F5EE"/>
          </a:solidFill>
          <a:ln w="12700">
            <a:solidFill>
              <a:srgbClr val="E6F5EE"/>
            </a:solidFill>
            <a:prstDash val="solid"/>
          </a:ln>
        </p:spPr>
      </p:sp>
      <p:pic>
        <p:nvPicPr>
          <p:cNvPr id="42" name="Image 10" descr="preencoded.png">    </p:cNvPr>
          <p:cNvPicPr>
            <a:picLocks noChangeAspect="1"/>
          </p:cNvPicPr>
          <p:nvPr/>
        </p:nvPicPr>
        <p:blipFill>
          <a:blip r:embed="rId12"/>
          <a:stretch>
            <a:fillRect/>
          </a:stretch>
        </p:blipFill>
        <p:spPr>
          <a:xfrm>
            <a:off x="8417601" y="2885481"/>
            <a:ext cx="209215" cy="209215"/>
          </a:xfrm>
          <a:prstGeom prst="rect">
            <a:avLst/>
          </a:prstGeom>
        </p:spPr>
      </p:pic>
      <p:sp>
        <p:nvSpPr>
          <p:cNvPr id="43" name="Text 29"/>
          <p:cNvSpPr txBox="1"/>
          <p:nvPr/>
        </p:nvSpPr>
        <p:spPr>
          <a:xfrm>
            <a:off x="8887968" y="2807208"/>
            <a:ext cx="2569464" cy="384048"/>
          </a:xfrm>
          <a:prstGeom prst="rect">
            <a:avLst/>
          </a:prstGeom>
          <a:noFill/>
          <a:ln/>
        </p:spPr>
        <p:txBody>
          <a:bodyPr wrap="square" lIns="0" tIns="0" rIns="0" bIns="0" rtlCol="0" anchor="t"/>
          <a:lstStyle/>
          <a:p>
            <a:pPr indent="0" marL="0">
              <a:buNone/>
            </a:pPr>
            <a:r>
              <a:rPr lang="en-US" sz="1250" dirty="0">
                <a:solidFill>
                  <a:srgbClr val="2E2744"/>
                </a:solidFill>
                <a:latin typeface="Calibri" pitchFamily="34" charset="0"/>
                <a:ea typeface="Calibri" pitchFamily="34" charset="-122"/>
                <a:cs typeface="Calibri" pitchFamily="34" charset="-120"/>
              </a:rPr>
              <a:t>AI analysis still has room to improve.</a:t>
            </a:r>
            <a:endParaRPr lang="en-US" sz="1250" dirty="0"/>
          </a:p>
        </p:txBody>
      </p:sp>
      <p:sp>
        <p:nvSpPr>
          <p:cNvPr id="44" name="Shape 30"/>
          <p:cNvSpPr/>
          <p:nvPr/>
        </p:nvSpPr>
        <p:spPr>
          <a:xfrm>
            <a:off x="8321040" y="3246120"/>
            <a:ext cx="402336" cy="402336"/>
          </a:xfrm>
          <a:prstGeom prst="ellipse">
            <a:avLst/>
          </a:prstGeom>
          <a:solidFill>
            <a:srgbClr val="E6F5EE"/>
          </a:solidFill>
          <a:ln w="12700">
            <a:solidFill>
              <a:srgbClr val="E6F5EE"/>
            </a:solidFill>
            <a:prstDash val="solid"/>
          </a:ln>
        </p:spPr>
      </p:sp>
      <p:pic>
        <p:nvPicPr>
          <p:cNvPr id="45" name="Image 11" descr="preencoded.png">    </p:cNvPr>
          <p:cNvPicPr>
            <a:picLocks noChangeAspect="1"/>
          </p:cNvPicPr>
          <p:nvPr/>
        </p:nvPicPr>
        <p:blipFill>
          <a:blip r:embed="rId13"/>
          <a:stretch>
            <a:fillRect/>
          </a:stretch>
        </p:blipFill>
        <p:spPr>
          <a:xfrm>
            <a:off x="8417601" y="3342681"/>
            <a:ext cx="209215" cy="209215"/>
          </a:xfrm>
          <a:prstGeom prst="rect">
            <a:avLst/>
          </a:prstGeom>
        </p:spPr>
      </p:pic>
      <p:sp>
        <p:nvSpPr>
          <p:cNvPr id="46" name="Text 31"/>
          <p:cNvSpPr txBox="1"/>
          <p:nvPr/>
        </p:nvSpPr>
        <p:spPr>
          <a:xfrm>
            <a:off x="8887968" y="3264408"/>
            <a:ext cx="2569464" cy="429768"/>
          </a:xfrm>
          <a:prstGeom prst="rect">
            <a:avLst/>
          </a:prstGeom>
          <a:noFill/>
          <a:ln/>
        </p:spPr>
        <p:txBody>
          <a:bodyPr wrap="square" lIns="0" tIns="0" rIns="0" bIns="0" rtlCol="0" anchor="t"/>
          <a:lstStyle/>
          <a:p>
            <a:pPr indent="0" marL="0">
              <a:buNone/>
            </a:pPr>
            <a:r>
              <a:rPr lang="en-US" sz="1250" dirty="0">
                <a:solidFill>
                  <a:srgbClr val="2E2744"/>
                </a:solidFill>
                <a:latin typeface="Calibri" pitchFamily="34" charset="0"/>
                <a:ea typeface="Calibri" pitchFamily="34" charset="-122"/>
                <a:cs typeface="Calibri" pitchFamily="34" charset="-120"/>
              </a:rPr>
              <a:t>Visit duration could be shorter, ideally within 2 hours.</a:t>
            </a:r>
            <a:endParaRPr lang="en-US" sz="1250" dirty="0"/>
          </a:p>
        </p:txBody>
      </p:sp>
      <p:sp>
        <p:nvSpPr>
          <p:cNvPr id="47" name="Shape 32"/>
          <p:cNvSpPr/>
          <p:nvPr/>
        </p:nvSpPr>
        <p:spPr>
          <a:xfrm>
            <a:off x="8046720" y="4023360"/>
            <a:ext cx="3593592" cy="2377440"/>
          </a:xfrm>
          <a:prstGeom prst="roundRect">
            <a:avLst>
              <a:gd name="adj" fmla="val 6923"/>
            </a:avLst>
          </a:prstGeom>
          <a:solidFill>
            <a:srgbClr val="E6F5EE"/>
          </a:solidFill>
          <a:ln w="12700">
            <a:solidFill>
              <a:srgbClr val="E6F5EE"/>
            </a:solidFill>
            <a:prstDash val="solid"/>
          </a:ln>
        </p:spPr>
      </p:sp>
      <p:pic>
        <p:nvPicPr>
          <p:cNvPr id="48" name="Image 12" descr="preencoded.png">    </p:cNvPr>
          <p:cNvPicPr>
            <a:picLocks noChangeAspect="1"/>
          </p:cNvPicPr>
          <p:nvPr/>
        </p:nvPicPr>
        <p:blipFill>
          <a:blip r:embed="rId14"/>
          <a:stretch>
            <a:fillRect/>
          </a:stretch>
        </p:blipFill>
        <p:spPr>
          <a:xfrm>
            <a:off x="8321040" y="4279392"/>
            <a:ext cx="310896" cy="310896"/>
          </a:xfrm>
          <a:prstGeom prst="rect">
            <a:avLst/>
          </a:prstGeom>
        </p:spPr>
      </p:pic>
      <p:sp>
        <p:nvSpPr>
          <p:cNvPr id="49" name="Text 33"/>
          <p:cNvSpPr txBox="1"/>
          <p:nvPr/>
        </p:nvSpPr>
        <p:spPr>
          <a:xfrm>
            <a:off x="8759952" y="4279392"/>
            <a:ext cx="2560320" cy="310896"/>
          </a:xfrm>
          <a:prstGeom prst="rect">
            <a:avLst/>
          </a:prstGeom>
          <a:noFill/>
          <a:ln/>
        </p:spPr>
        <p:txBody>
          <a:bodyPr wrap="square" lIns="0" tIns="0" rIns="0" bIns="0" rtlCol="0" anchor="ctr"/>
          <a:lstStyle/>
          <a:p>
            <a:pPr indent="0" marL="0">
              <a:buNone/>
            </a:pPr>
            <a:r>
              <a:rPr lang="en-US" sz="1100" b="1" spc="100" kern="0" dirty="0">
                <a:solidFill>
                  <a:srgbClr val="1E7552"/>
                </a:solidFill>
                <a:latin typeface="Calibri" pitchFamily="34" charset="0"/>
                <a:ea typeface="Calibri" pitchFamily="34" charset="-122"/>
                <a:cs typeface="Calibri" pitchFamily="34" charset="-120"/>
              </a:rPr>
              <a:t>ON THE AI ANALYSIS</a:t>
            </a:r>
            <a:endParaRPr lang="en-US" sz="1100" dirty="0"/>
          </a:p>
        </p:txBody>
      </p:sp>
      <p:sp>
        <p:nvSpPr>
          <p:cNvPr id="50" name="Text 34"/>
          <p:cNvSpPr txBox="1"/>
          <p:nvPr/>
        </p:nvSpPr>
        <p:spPr>
          <a:xfrm>
            <a:off x="8321040" y="4709160"/>
            <a:ext cx="3090672" cy="1143000"/>
          </a:xfrm>
          <a:prstGeom prst="rect">
            <a:avLst/>
          </a:prstGeom>
          <a:noFill/>
          <a:ln/>
        </p:spPr>
        <p:txBody>
          <a:bodyPr wrap="square" lIns="0" tIns="0" rIns="0" bIns="0" rtlCol="0" anchor="t"/>
          <a:lstStyle/>
          <a:p>
            <a:pPr indent="0" marL="0">
              <a:buNone/>
            </a:pPr>
            <a:r>
              <a:rPr lang="en-US" sz="1200" i="1" dirty="0">
                <a:solidFill>
                  <a:srgbClr val="2E2744"/>
                </a:solidFill>
                <a:latin typeface="Calibri" pitchFamily="34" charset="0"/>
                <a:ea typeface="Calibri" pitchFamily="34" charset="-122"/>
                <a:cs typeface="Calibri" pitchFamily="34" charset="-120"/>
              </a:rPr>
              <a:t>“I know it is AI, but I was hoping for a stronger wow / surprise feeling. It could be more interactive and make better use of AI to engage with the customer, instead of only showing the analysis.”</a:t>
            </a:r>
            <a:endParaRPr lang="en-US" sz="1200" dirty="0"/>
          </a:p>
        </p:txBody>
      </p:sp>
      <p:sp>
        <p:nvSpPr>
          <p:cNvPr id="51" name="Text 35"/>
          <p:cNvSpPr txBox="1"/>
          <p:nvPr/>
        </p:nvSpPr>
        <p:spPr>
          <a:xfrm>
            <a:off x="8321040" y="5870448"/>
            <a:ext cx="3090672" cy="438912"/>
          </a:xfrm>
          <a:prstGeom prst="rect">
            <a:avLst/>
          </a:prstGeom>
          <a:noFill/>
          <a:ln/>
        </p:spPr>
        <p:txBody>
          <a:bodyPr wrap="square" lIns="0" tIns="0" rIns="0" bIns="0" rtlCol="0" anchor="t"/>
          <a:lstStyle/>
          <a:p>
            <a:pPr indent="0" marL="0">
              <a:buNone/>
            </a:pPr>
            <a:r>
              <a:rPr lang="en-US" sz="1200" b="1" dirty="0">
                <a:solidFill>
                  <a:srgbClr val="1E7552"/>
                </a:solidFill>
                <a:latin typeface="Calibri" pitchFamily="34" charset="0"/>
                <a:ea typeface="Calibri" pitchFamily="34" charset="-122"/>
                <a:cs typeface="Calibri" pitchFamily="34" charset="-120"/>
              </a:rPr>
              <a:t>Key point: </a:t>
            </a:r>
            <a:pPr indent="0" marL="0">
              <a:buNone/>
            </a:pPr>
            <a:r>
              <a:rPr lang="en-US" sz="1200" dirty="0">
                <a:solidFill>
                  <a:srgbClr val="2E2744"/>
                </a:solidFill>
                <a:latin typeface="Calibri" pitchFamily="34" charset="0"/>
                <a:ea typeface="Calibri" pitchFamily="34" charset="-122"/>
                <a:cs typeface="Calibri" pitchFamily="34" charset="-120"/>
              </a:rPr>
              <a:t>the shopper wants a more engaging, interactive AI experience.</a:t>
            </a:r>
            <a:endParaRPr lang="en-US" sz="1200" dirty="0"/>
          </a:p>
        </p:txBody>
      </p:sp>
      <p:sp>
        <p:nvSpPr>
          <p:cNvPr id="25" name="Slide Number Placeholder 0"/>
          <p:cNvSpPr>
            <a:spLocks noGrp="1"/>
          </p:cNvSpPr>
          <p:nvPr>
            <p:ph type="sldNum" sz="quarter" idx="4294967295"/>
          </p:nvPr>
        </p:nvSpPr>
        <p:spPr>
          <a:xfrm>
            <a:off x="1129284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9DB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B"/>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594360"/>
          </a:xfrm>
          <a:prstGeom prst="rect">
            <a:avLst/>
          </a:prstGeom>
          <a:noFill/>
          <a:ln/>
        </p:spPr>
        <p:txBody>
          <a:bodyPr wrap="square" lIns="0" tIns="0" rIns="0" bIns="0" rtlCol="0" anchor="ctr"/>
          <a:lstStyle/>
          <a:p>
            <a:pPr indent="0" marL="0">
              <a:buNone/>
            </a:pPr>
            <a:r>
              <a:rPr lang="en-US" sz="3200" b="1" dirty="0">
                <a:solidFill>
                  <a:srgbClr val="E08F1E"/>
                </a:solidFill>
                <a:latin typeface="Calibri" pitchFamily="34" charset="0"/>
                <a:ea typeface="Calibri" pitchFamily="34" charset="-122"/>
                <a:cs typeface="Calibri" pitchFamily="34" charset="-120"/>
              </a:rPr>
              <a:t>Puchong</a:t>
            </a:r>
            <a:pPr indent="0" marL="0">
              <a:buNone/>
            </a:pPr>
            <a:r>
              <a:rPr lang="en-US" sz="3200" b="1" dirty="0">
                <a:solidFill>
                  <a:srgbClr val="3B2A5A"/>
                </a:solidFill>
                <a:latin typeface="Calibri" pitchFamily="34" charset="0"/>
                <a:ea typeface="Calibri" pitchFamily="34" charset="-122"/>
                <a:cs typeface="Calibri" pitchFamily="34" charset="-120"/>
              </a:rPr>
              <a:t>  ·  full customer feedback</a:t>
            </a:r>
            <a:endParaRPr lang="en-US" sz="3200" dirty="0"/>
          </a:p>
        </p:txBody>
      </p:sp>
      <p:sp>
        <p:nvSpPr>
          <p:cNvPr id="3" name="Text 1"/>
          <p:cNvSpPr txBox="1"/>
          <p:nvPr/>
        </p:nvSpPr>
        <p:spPr>
          <a:xfrm>
            <a:off x="548640" y="987552"/>
            <a:ext cx="10058400" cy="292608"/>
          </a:xfrm>
          <a:prstGeom prst="rect">
            <a:avLst/>
          </a:prstGeom>
          <a:noFill/>
          <a:ln/>
        </p:spPr>
        <p:txBody>
          <a:bodyPr wrap="square" lIns="0" tIns="0" rIns="0" bIns="0" rtlCol="0" anchor="t"/>
          <a:lstStyle/>
          <a:p>
            <a:pPr indent="0" marL="0">
              <a:buNone/>
            </a:pPr>
            <a:r>
              <a:rPr lang="en-US" sz="1300" dirty="0">
                <a:solidFill>
                  <a:srgbClr val="6E6784"/>
                </a:solidFill>
                <a:latin typeface="Calibri" pitchFamily="34" charset="0"/>
                <a:ea typeface="Calibri" pitchFamily="34" charset="-122"/>
                <a:cs typeface="Calibri" pitchFamily="34" charset="-120"/>
              </a:rPr>
              <a:t>September 2026  ·  Mystery Shopper visit</a:t>
            </a:r>
            <a:endParaRPr lang="en-US" sz="1300" dirty="0"/>
          </a:p>
        </p:txBody>
      </p:sp>
      <p:sp>
        <p:nvSpPr>
          <p:cNvPr id="4" name="Shape 2"/>
          <p:cNvSpPr/>
          <p:nvPr/>
        </p:nvSpPr>
        <p:spPr>
          <a:xfrm>
            <a:off x="548640" y="1463040"/>
            <a:ext cx="2743200" cy="4937760"/>
          </a:xfrm>
          <a:prstGeom prst="roundRect">
            <a:avLst>
              <a:gd name="adj" fmla="val 6000"/>
            </a:avLst>
          </a:prstGeom>
          <a:solidFill>
            <a:srgbClr val="FDF1DF"/>
          </a:solidFill>
          <a:ln w="12700">
            <a:solidFill>
              <a:srgbClr val="FDF1DF"/>
            </a:solidFill>
            <a:prstDash val="solid"/>
          </a:ln>
        </p:spPr>
      </p:sp>
      <p:sp>
        <p:nvSpPr>
          <p:cNvPr id="5" name="Text 3"/>
          <p:cNvSpPr txBox="1"/>
          <p:nvPr/>
        </p:nvSpPr>
        <p:spPr>
          <a:xfrm>
            <a:off x="548640" y="1737360"/>
            <a:ext cx="2743200" cy="274320"/>
          </a:xfrm>
          <a:prstGeom prst="rect">
            <a:avLst/>
          </a:prstGeom>
          <a:noFill/>
          <a:ln/>
        </p:spPr>
        <p:txBody>
          <a:bodyPr wrap="square" lIns="0" tIns="0" rIns="0" bIns="0" rtlCol="0" anchor="t"/>
          <a:lstStyle/>
          <a:p>
            <a:pPr algn="ctr" indent="0" marL="0">
              <a:buNone/>
            </a:pPr>
            <a:r>
              <a:rPr lang="en-US" sz="1100" b="1" spc="100" kern="0" dirty="0">
                <a:solidFill>
                  <a:srgbClr val="A8660C"/>
                </a:solidFill>
                <a:latin typeface="Calibri" pitchFamily="34" charset="0"/>
                <a:ea typeface="Calibri" pitchFamily="34" charset="-122"/>
                <a:cs typeface="Calibri" pitchFamily="34" charset="-120"/>
              </a:rPr>
              <a:t>MYSTERY SHOPPER SCORE</a:t>
            </a:r>
            <a:endParaRPr lang="en-US" sz="1100" dirty="0"/>
          </a:p>
        </p:txBody>
      </p:sp>
      <p:graphicFrame>
        <p:nvGraphicFramePr>
          <p:cNvPr id="6" name="Chart 0" descr=""/>
          <p:cNvGraphicFramePr/>
          <p:nvPr/>
        </p:nvGraphicFramePr>
        <p:xfrm>
          <a:off x="868680" y="2148840"/>
          <a:ext cx="2103120" cy="21031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868680" y="2907792"/>
            <a:ext cx="2103120" cy="650240"/>
          </a:xfrm>
          <a:prstGeom prst="rect">
            <a:avLst/>
          </a:prstGeom>
          <a:noFill/>
          <a:ln/>
        </p:spPr>
        <p:txBody>
          <a:bodyPr wrap="square" lIns="0" tIns="0" rIns="0" bIns="0" rtlCol="0" anchor="ctr"/>
          <a:lstStyle/>
          <a:p>
            <a:pPr algn="ctr" indent="0" marL="0">
              <a:buNone/>
            </a:pPr>
            <a:r>
              <a:rPr lang="en-US" sz="3200" b="1" dirty="0">
                <a:solidFill>
                  <a:srgbClr val="3B2A5A"/>
                </a:solidFill>
                <a:latin typeface="Calibri" pitchFamily="34" charset="0"/>
                <a:ea typeface="Calibri" pitchFamily="34" charset="-122"/>
                <a:cs typeface="Calibri" pitchFamily="34" charset="-120"/>
              </a:rPr>
              <a:t>93.25</a:t>
            </a:r>
            <a:endParaRPr lang="en-US" sz="3200" dirty="0"/>
          </a:p>
          <a:p>
            <a:pPr algn="ctr" indent="0" marL="0">
              <a:buNone/>
            </a:pPr>
            <a:r>
              <a:rPr lang="en-US" sz="1100" dirty="0">
                <a:solidFill>
                  <a:srgbClr val="6E6784"/>
                </a:solidFill>
                <a:latin typeface="Calibri" pitchFamily="34" charset="0"/>
                <a:ea typeface="Calibri" pitchFamily="34" charset="-122"/>
                <a:cs typeface="Calibri" pitchFamily="34" charset="-120"/>
              </a:rPr>
              <a:t>out of 100</a:t>
            </a:r>
            <a:endParaRPr lang="en-US" sz="3200" dirty="0"/>
          </a:p>
        </p:txBody>
      </p:sp>
      <p:sp>
        <p:nvSpPr>
          <p:cNvPr id="8" name="Shape 5"/>
          <p:cNvSpPr/>
          <p:nvPr/>
        </p:nvSpPr>
        <p:spPr>
          <a:xfrm>
            <a:off x="1719072" y="4526280"/>
            <a:ext cx="402336" cy="402336"/>
          </a:xfrm>
          <a:prstGeom prst="ellipse">
            <a:avLst/>
          </a:prstGeom>
          <a:solidFill>
            <a:srgbClr val="E08F1E"/>
          </a:solidFill>
          <a:ln w="12700">
            <a:solidFill>
              <a:srgbClr val="E08F1E"/>
            </a:solidFill>
            <a:prstDash val="solid"/>
          </a:ln>
        </p:spPr>
      </p:sp>
      <p:pic>
        <p:nvPicPr>
          <p:cNvPr id="9" name="Image 0" descr="preencoded.png">    </p:cNvPr>
          <p:cNvPicPr>
            <a:picLocks noChangeAspect="1"/>
          </p:cNvPicPr>
          <p:nvPr/>
        </p:nvPicPr>
        <p:blipFill>
          <a:blip r:embed="rId2"/>
          <a:stretch>
            <a:fillRect/>
          </a:stretch>
        </p:blipFill>
        <p:spPr>
          <a:xfrm>
            <a:off x="1815633" y="4622841"/>
            <a:ext cx="209215" cy="209215"/>
          </a:xfrm>
          <a:prstGeom prst="rect">
            <a:avLst/>
          </a:prstGeom>
        </p:spPr>
      </p:pic>
      <p:sp>
        <p:nvSpPr>
          <p:cNvPr id="10" name="Text 6"/>
          <p:cNvSpPr txBox="1"/>
          <p:nvPr/>
        </p:nvSpPr>
        <p:spPr>
          <a:xfrm>
            <a:off x="548640" y="5029200"/>
            <a:ext cx="2743200" cy="256032"/>
          </a:xfrm>
          <a:prstGeom prst="rect">
            <a:avLst/>
          </a:prstGeom>
          <a:noFill/>
          <a:ln/>
        </p:spPr>
        <p:txBody>
          <a:bodyPr wrap="square" lIns="0" tIns="0" rIns="0" bIns="0" rtlCol="0" anchor="t"/>
          <a:lstStyle/>
          <a:p>
            <a:pPr algn="ctr" indent="0" marL="0">
              <a:buNone/>
            </a:pPr>
            <a:r>
              <a:rPr lang="en-US" sz="1000" b="1" spc="100" kern="0" dirty="0">
                <a:solidFill>
                  <a:srgbClr val="A8660C"/>
                </a:solidFill>
                <a:latin typeface="Calibri" pitchFamily="34" charset="0"/>
                <a:ea typeface="Calibri" pitchFamily="34" charset="-122"/>
                <a:cs typeface="Calibri" pitchFamily="34" charset="-120"/>
              </a:rPr>
              <a:t>GUEST HIGHLIGHT</a:t>
            </a:r>
            <a:endParaRPr lang="en-US" sz="1000" dirty="0"/>
          </a:p>
        </p:txBody>
      </p:sp>
      <p:sp>
        <p:nvSpPr>
          <p:cNvPr id="11" name="Text 7"/>
          <p:cNvSpPr txBox="1"/>
          <p:nvPr/>
        </p:nvSpPr>
        <p:spPr>
          <a:xfrm>
            <a:off x="777240" y="5303520"/>
            <a:ext cx="2286000" cy="822960"/>
          </a:xfrm>
          <a:prstGeom prst="rect">
            <a:avLst/>
          </a:prstGeom>
          <a:noFill/>
          <a:ln/>
        </p:spPr>
        <p:txBody>
          <a:bodyPr wrap="square" lIns="0" tIns="0" rIns="0" bIns="0" rtlCol="0" anchor="t"/>
          <a:lstStyle/>
          <a:p>
            <a:pPr algn="ctr" indent="0" marL="0">
              <a:buNone/>
            </a:pPr>
            <a:r>
              <a:rPr lang="en-US" sz="1600" b="1" dirty="0">
                <a:solidFill>
                  <a:srgbClr val="3B2A5A"/>
                </a:solidFill>
                <a:latin typeface="Calibri" pitchFamily="34" charset="0"/>
                <a:ea typeface="Calibri" pitchFamily="34" charset="-122"/>
                <a:cs typeface="Calibri" pitchFamily="34" charset="-120"/>
              </a:rPr>
              <a:t>Detailed explanation + caring treatment</a:t>
            </a:r>
            <a:endParaRPr lang="en-US" sz="1600" dirty="0"/>
          </a:p>
        </p:txBody>
      </p:sp>
      <p:sp>
        <p:nvSpPr>
          <p:cNvPr id="12" name="Shape 8"/>
          <p:cNvSpPr/>
          <p:nvPr/>
        </p:nvSpPr>
        <p:spPr>
          <a:xfrm>
            <a:off x="9400032" y="475488"/>
            <a:ext cx="2240280" cy="420624"/>
          </a:xfrm>
          <a:prstGeom prst="roundRect">
            <a:avLst>
              <a:gd name="adj" fmla="val 50000"/>
            </a:avLst>
          </a:prstGeom>
          <a:solidFill>
            <a:srgbClr val="F5B84A"/>
          </a:solidFill>
          <a:ln w="12700">
            <a:solidFill>
              <a:srgbClr val="F5B84A"/>
            </a:solidFill>
            <a:prstDash val="solid"/>
          </a:ln>
        </p:spPr>
      </p:sp>
      <p:pic>
        <p:nvPicPr>
          <p:cNvPr id="13" name="Image 1" descr="preencoded.png">    </p:cNvPr>
          <p:cNvPicPr>
            <a:picLocks noChangeAspect="1"/>
          </p:cNvPicPr>
          <p:nvPr/>
        </p:nvPicPr>
        <p:blipFill>
          <a:blip r:embed="rId3"/>
          <a:stretch>
            <a:fillRect/>
          </a:stretch>
        </p:blipFill>
        <p:spPr>
          <a:xfrm>
            <a:off x="9564624" y="576072"/>
            <a:ext cx="219456" cy="219456"/>
          </a:xfrm>
          <a:prstGeom prst="rect">
            <a:avLst/>
          </a:prstGeom>
        </p:spPr>
      </p:pic>
      <p:sp>
        <p:nvSpPr>
          <p:cNvPr id="14" name="Text 9"/>
          <p:cNvSpPr txBox="1"/>
          <p:nvPr/>
        </p:nvSpPr>
        <p:spPr>
          <a:xfrm>
            <a:off x="9857232" y="475488"/>
            <a:ext cx="1737360" cy="420624"/>
          </a:xfrm>
          <a:prstGeom prst="rect">
            <a:avLst/>
          </a:prstGeom>
          <a:noFill/>
          <a:ln/>
        </p:spPr>
        <p:txBody>
          <a:bodyPr wrap="square" lIns="0" tIns="0" rIns="0" bIns="0" rtlCol="0" anchor="ctr"/>
          <a:lstStyle/>
          <a:p>
            <a:pPr indent="0" marL="0">
              <a:buNone/>
            </a:pPr>
            <a:r>
              <a:rPr lang="en-US" sz="1300" b="1" dirty="0">
                <a:solidFill>
                  <a:srgbClr val="3B2A5A"/>
                </a:solidFill>
                <a:latin typeface="Calibri" pitchFamily="34" charset="0"/>
                <a:ea typeface="Calibri" pitchFamily="34" charset="-122"/>
                <a:cs typeface="Calibri" pitchFamily="34" charset="-120"/>
              </a:rPr>
              <a:t>Top score this month</a:t>
            </a:r>
            <a:endParaRPr lang="en-US" sz="1300" dirty="0"/>
          </a:p>
        </p:txBody>
      </p:sp>
      <p:sp>
        <p:nvSpPr>
          <p:cNvPr id="15" name="Shape 10"/>
          <p:cNvSpPr/>
          <p:nvPr/>
        </p:nvSpPr>
        <p:spPr>
          <a:xfrm>
            <a:off x="3566160" y="1463040"/>
            <a:ext cx="4206240" cy="4937760"/>
          </a:xfrm>
          <a:prstGeom prst="roundRect">
            <a:avLst>
              <a:gd name="adj" fmla="val 3913"/>
            </a:avLst>
          </a:prstGeom>
          <a:solidFill>
            <a:srgbClr val="FFFFFF"/>
          </a:solidFill>
          <a:ln w="12700">
            <a:solidFill>
              <a:srgbClr val="FFFFFF"/>
            </a:solidFill>
            <a:prstDash val="solid"/>
          </a:ln>
          <a:effectLst>
            <a:outerShdw sx="100000" sy="100000" kx="0" ky="0" algn="bl" rotWithShape="0" blurRad="127000" dist="25400" dir="5400000">
              <a:srgbClr val="3B2A5A">
                <a:alpha val="10000"/>
              </a:srgbClr>
            </a:outerShdw>
          </a:effectLst>
        </p:spPr>
      </p:sp>
      <p:sp>
        <p:nvSpPr>
          <p:cNvPr id="16" name="Shape 11"/>
          <p:cNvSpPr/>
          <p:nvPr/>
        </p:nvSpPr>
        <p:spPr>
          <a:xfrm>
            <a:off x="3840480" y="1719072"/>
            <a:ext cx="365760" cy="365760"/>
          </a:xfrm>
          <a:prstGeom prst="ellipse">
            <a:avLst/>
          </a:prstGeom>
          <a:solidFill>
            <a:srgbClr val="E08F1E"/>
          </a:solidFill>
          <a:ln w="12700">
            <a:solidFill>
              <a:srgbClr val="E08F1E"/>
            </a:solidFill>
            <a:prstDash val="solid"/>
          </a:ln>
        </p:spPr>
      </p:sp>
      <p:pic>
        <p:nvPicPr>
          <p:cNvPr id="17" name="Image 2" descr="preencoded.png">    </p:cNvPr>
          <p:cNvPicPr>
            <a:picLocks noChangeAspect="1"/>
          </p:cNvPicPr>
          <p:nvPr/>
        </p:nvPicPr>
        <p:blipFill>
          <a:blip r:embed="rId4"/>
          <a:stretch>
            <a:fillRect/>
          </a:stretch>
        </p:blipFill>
        <p:spPr>
          <a:xfrm>
            <a:off x="3928262" y="1806854"/>
            <a:ext cx="190195" cy="190195"/>
          </a:xfrm>
          <a:prstGeom prst="rect">
            <a:avLst/>
          </a:prstGeom>
        </p:spPr>
      </p:pic>
      <p:sp>
        <p:nvSpPr>
          <p:cNvPr id="18" name="Text 12"/>
          <p:cNvSpPr txBox="1"/>
          <p:nvPr/>
        </p:nvSpPr>
        <p:spPr>
          <a:xfrm>
            <a:off x="4315968" y="1719072"/>
            <a:ext cx="3657600" cy="365760"/>
          </a:xfrm>
          <a:prstGeom prst="rect">
            <a:avLst/>
          </a:prstGeom>
          <a:noFill/>
          <a:ln/>
        </p:spPr>
        <p:txBody>
          <a:bodyPr wrap="square" lIns="0" tIns="0" rIns="0" bIns="0" rtlCol="0" anchor="ctr"/>
          <a:lstStyle/>
          <a:p>
            <a:pPr indent="0" marL="0">
              <a:buNone/>
            </a:pPr>
            <a:r>
              <a:rPr lang="en-US" sz="1700" b="1" dirty="0">
                <a:solidFill>
                  <a:srgbClr val="3B2A5A"/>
                </a:solidFill>
                <a:latin typeface="Calibri" pitchFamily="34" charset="0"/>
                <a:ea typeface="Calibri" pitchFamily="34" charset="-122"/>
                <a:cs typeface="Calibri" pitchFamily="34" charset="-120"/>
              </a:rPr>
              <a:t>What the shopper loved</a:t>
            </a:r>
            <a:endParaRPr lang="en-US" sz="1700" dirty="0"/>
          </a:p>
        </p:txBody>
      </p:sp>
      <p:sp>
        <p:nvSpPr>
          <p:cNvPr id="19" name="Shape 13"/>
          <p:cNvSpPr/>
          <p:nvPr/>
        </p:nvSpPr>
        <p:spPr>
          <a:xfrm>
            <a:off x="3840480" y="2331720"/>
            <a:ext cx="402336" cy="402336"/>
          </a:xfrm>
          <a:prstGeom prst="ellipse">
            <a:avLst/>
          </a:prstGeom>
          <a:solidFill>
            <a:srgbClr val="FDF1DF"/>
          </a:solidFill>
          <a:ln w="12700">
            <a:solidFill>
              <a:srgbClr val="FDF1DF"/>
            </a:solidFill>
            <a:prstDash val="solid"/>
          </a:ln>
        </p:spPr>
      </p:sp>
      <p:pic>
        <p:nvPicPr>
          <p:cNvPr id="20" name="Image 3" descr="preencoded.png">    </p:cNvPr>
          <p:cNvPicPr>
            <a:picLocks noChangeAspect="1"/>
          </p:cNvPicPr>
          <p:nvPr/>
        </p:nvPicPr>
        <p:blipFill>
          <a:blip r:embed="rId5"/>
          <a:stretch>
            <a:fillRect/>
          </a:stretch>
        </p:blipFill>
        <p:spPr>
          <a:xfrm>
            <a:off x="3937041" y="2428281"/>
            <a:ext cx="209215" cy="209215"/>
          </a:xfrm>
          <a:prstGeom prst="rect">
            <a:avLst/>
          </a:prstGeom>
        </p:spPr>
      </p:pic>
      <p:sp>
        <p:nvSpPr>
          <p:cNvPr id="21" name="Text 14"/>
          <p:cNvSpPr txBox="1"/>
          <p:nvPr/>
        </p:nvSpPr>
        <p:spPr>
          <a:xfrm>
            <a:off x="4407408" y="2350008"/>
            <a:ext cx="3136392" cy="841248"/>
          </a:xfrm>
          <a:prstGeom prst="rect">
            <a:avLst/>
          </a:prstGeom>
          <a:noFill/>
          <a:ln/>
        </p:spPr>
        <p:txBody>
          <a:bodyPr wrap="square" lIns="0" tIns="0" rIns="0" bIns="0" rtlCol="0" anchor="t"/>
          <a:lstStyle/>
          <a:p>
            <a:pPr indent="0" marL="0">
              <a:buNone/>
            </a:pPr>
            <a:r>
              <a:rPr lang="en-US" sz="1300" dirty="0">
                <a:solidFill>
                  <a:srgbClr val="2E2744"/>
                </a:solidFill>
                <a:latin typeface="Calibri" pitchFamily="34" charset="0"/>
                <a:ea typeface="Calibri" pitchFamily="34" charset="-122"/>
                <a:cs typeface="Calibri" pitchFamily="34" charset="-120"/>
              </a:rPr>
              <a:t>Overall experience was very good; the team was patient.</a:t>
            </a:r>
            <a:endParaRPr lang="en-US" sz="1300" dirty="0"/>
          </a:p>
        </p:txBody>
      </p:sp>
      <p:sp>
        <p:nvSpPr>
          <p:cNvPr id="22" name="Shape 15"/>
          <p:cNvSpPr/>
          <p:nvPr/>
        </p:nvSpPr>
        <p:spPr>
          <a:xfrm>
            <a:off x="3840480" y="3246120"/>
            <a:ext cx="402336" cy="402336"/>
          </a:xfrm>
          <a:prstGeom prst="ellipse">
            <a:avLst/>
          </a:prstGeom>
          <a:solidFill>
            <a:srgbClr val="FDF1DF"/>
          </a:solidFill>
          <a:ln w="12700">
            <a:solidFill>
              <a:srgbClr val="FDF1DF"/>
            </a:solidFill>
            <a:prstDash val="solid"/>
          </a:ln>
        </p:spPr>
      </p:sp>
      <p:pic>
        <p:nvPicPr>
          <p:cNvPr id="23" name="Image 4" descr="preencoded.png">    </p:cNvPr>
          <p:cNvPicPr>
            <a:picLocks noChangeAspect="1"/>
          </p:cNvPicPr>
          <p:nvPr/>
        </p:nvPicPr>
        <p:blipFill>
          <a:blip r:embed="rId6"/>
          <a:stretch>
            <a:fillRect/>
          </a:stretch>
        </p:blipFill>
        <p:spPr>
          <a:xfrm>
            <a:off x="3937041" y="3342681"/>
            <a:ext cx="209215" cy="209215"/>
          </a:xfrm>
          <a:prstGeom prst="rect">
            <a:avLst/>
          </a:prstGeom>
        </p:spPr>
      </p:pic>
      <p:sp>
        <p:nvSpPr>
          <p:cNvPr id="24" name="Text 16"/>
          <p:cNvSpPr txBox="1"/>
          <p:nvPr/>
        </p:nvSpPr>
        <p:spPr>
          <a:xfrm>
            <a:off x="4407408" y="3264408"/>
            <a:ext cx="3136392" cy="841248"/>
          </a:xfrm>
          <a:prstGeom prst="rect">
            <a:avLst/>
          </a:prstGeom>
          <a:noFill/>
          <a:ln/>
        </p:spPr>
        <p:txBody>
          <a:bodyPr wrap="square" lIns="0" tIns="0" rIns="0" bIns="0" rtlCol="0" anchor="t"/>
          <a:lstStyle/>
          <a:p>
            <a:pPr indent="0" marL="0">
              <a:buNone/>
            </a:pPr>
            <a:r>
              <a:rPr lang="en-US" sz="1300" dirty="0">
                <a:solidFill>
                  <a:srgbClr val="2E2744"/>
                </a:solidFill>
                <a:latin typeface="Calibri" pitchFamily="34" charset="0"/>
                <a:ea typeface="Calibri" pitchFamily="34" charset="-122"/>
                <a:cs typeface="Calibri" pitchFamily="34" charset="-120"/>
              </a:rPr>
              <a:t>Details were explained well and felt better than a typical beauty clinic.</a:t>
            </a:r>
            <a:endParaRPr lang="en-US" sz="1300" dirty="0"/>
          </a:p>
        </p:txBody>
      </p:sp>
      <p:sp>
        <p:nvSpPr>
          <p:cNvPr id="25" name="Shape 17"/>
          <p:cNvSpPr/>
          <p:nvPr/>
        </p:nvSpPr>
        <p:spPr>
          <a:xfrm>
            <a:off x="3840480" y="4160520"/>
            <a:ext cx="402336" cy="402336"/>
          </a:xfrm>
          <a:prstGeom prst="ellipse">
            <a:avLst/>
          </a:prstGeom>
          <a:solidFill>
            <a:srgbClr val="FDF1DF"/>
          </a:solidFill>
          <a:ln w="12700">
            <a:solidFill>
              <a:srgbClr val="FDF1DF"/>
            </a:solidFill>
            <a:prstDash val="solid"/>
          </a:ln>
        </p:spPr>
      </p:sp>
      <p:pic>
        <p:nvPicPr>
          <p:cNvPr id="26" name="Image 5" descr="preencoded.png">    </p:cNvPr>
          <p:cNvPicPr>
            <a:picLocks noChangeAspect="1"/>
          </p:cNvPicPr>
          <p:nvPr/>
        </p:nvPicPr>
        <p:blipFill>
          <a:blip r:embed="rId7"/>
          <a:stretch>
            <a:fillRect/>
          </a:stretch>
        </p:blipFill>
        <p:spPr>
          <a:xfrm>
            <a:off x="3937041" y="4257081"/>
            <a:ext cx="209215" cy="209215"/>
          </a:xfrm>
          <a:prstGeom prst="rect">
            <a:avLst/>
          </a:prstGeom>
        </p:spPr>
      </p:pic>
      <p:sp>
        <p:nvSpPr>
          <p:cNvPr id="27" name="Text 18"/>
          <p:cNvSpPr txBox="1"/>
          <p:nvPr/>
        </p:nvSpPr>
        <p:spPr>
          <a:xfrm>
            <a:off x="4407408" y="4178808"/>
            <a:ext cx="3136392" cy="1024128"/>
          </a:xfrm>
          <a:prstGeom prst="rect">
            <a:avLst/>
          </a:prstGeom>
          <a:noFill/>
          <a:ln/>
        </p:spPr>
        <p:txBody>
          <a:bodyPr wrap="square" lIns="0" tIns="0" rIns="0" bIns="0" rtlCol="0" anchor="t"/>
          <a:lstStyle/>
          <a:p>
            <a:pPr indent="0" marL="0">
              <a:buNone/>
            </a:pPr>
            <a:r>
              <a:rPr lang="en-US" sz="1300" dirty="0">
                <a:solidFill>
                  <a:srgbClr val="2E2744"/>
                </a:solidFill>
                <a:latin typeface="Calibri" pitchFamily="34" charset="0"/>
                <a:ea typeface="Calibri" pitchFamily="34" charset="-122"/>
                <a:cs typeface="Calibri" pitchFamily="34" charset="-120"/>
              </a:rPr>
              <a:t>Doctor explained facial concerns, causes, improvement methods and the recommended treatment plan.</a:t>
            </a:r>
            <a:endParaRPr lang="en-US" sz="1300" dirty="0"/>
          </a:p>
        </p:txBody>
      </p:sp>
      <p:sp>
        <p:nvSpPr>
          <p:cNvPr id="28" name="Shape 19"/>
          <p:cNvSpPr/>
          <p:nvPr/>
        </p:nvSpPr>
        <p:spPr>
          <a:xfrm>
            <a:off x="3840480" y="5257800"/>
            <a:ext cx="402336" cy="402336"/>
          </a:xfrm>
          <a:prstGeom prst="ellipse">
            <a:avLst/>
          </a:prstGeom>
          <a:solidFill>
            <a:srgbClr val="FDF1DF"/>
          </a:solidFill>
          <a:ln w="12700">
            <a:solidFill>
              <a:srgbClr val="FDF1DF"/>
            </a:solidFill>
            <a:prstDash val="solid"/>
          </a:ln>
        </p:spPr>
      </p:sp>
      <p:pic>
        <p:nvPicPr>
          <p:cNvPr id="29" name="Image 6" descr="preencoded.png">    </p:cNvPr>
          <p:cNvPicPr>
            <a:picLocks noChangeAspect="1"/>
          </p:cNvPicPr>
          <p:nvPr/>
        </p:nvPicPr>
        <p:blipFill>
          <a:blip r:embed="rId8"/>
          <a:stretch>
            <a:fillRect/>
          </a:stretch>
        </p:blipFill>
        <p:spPr>
          <a:xfrm>
            <a:off x="3937041" y="5354361"/>
            <a:ext cx="209215" cy="209215"/>
          </a:xfrm>
          <a:prstGeom prst="rect">
            <a:avLst/>
          </a:prstGeom>
        </p:spPr>
      </p:pic>
      <p:sp>
        <p:nvSpPr>
          <p:cNvPr id="30" name="Text 20"/>
          <p:cNvSpPr txBox="1"/>
          <p:nvPr/>
        </p:nvSpPr>
        <p:spPr>
          <a:xfrm>
            <a:off x="4407408" y="5276088"/>
            <a:ext cx="3136392" cy="841248"/>
          </a:xfrm>
          <a:prstGeom prst="rect">
            <a:avLst/>
          </a:prstGeom>
          <a:noFill/>
          <a:ln/>
        </p:spPr>
        <p:txBody>
          <a:bodyPr wrap="square" lIns="0" tIns="0" rIns="0" bIns="0" rtlCol="0" anchor="t"/>
          <a:lstStyle/>
          <a:p>
            <a:pPr indent="0" marL="0">
              <a:buNone/>
            </a:pPr>
            <a:r>
              <a:rPr lang="en-US" sz="1300" dirty="0">
                <a:solidFill>
                  <a:srgbClr val="2E2744"/>
                </a:solidFill>
                <a:latin typeface="Calibri" pitchFamily="34" charset="0"/>
                <a:ea typeface="Calibri" pitchFamily="34" charset="-122"/>
                <a:cs typeface="Calibri" pitchFamily="34" charset="-120"/>
              </a:rPr>
              <a:t>Therapist was friendly, cared about comfort and explained every step.</a:t>
            </a:r>
            <a:endParaRPr lang="en-US" sz="1300" dirty="0"/>
          </a:p>
        </p:txBody>
      </p:sp>
      <p:sp>
        <p:nvSpPr>
          <p:cNvPr id="31" name="Shape 21"/>
          <p:cNvSpPr/>
          <p:nvPr/>
        </p:nvSpPr>
        <p:spPr>
          <a:xfrm>
            <a:off x="8046720" y="1463040"/>
            <a:ext cx="3593592" cy="2971800"/>
          </a:xfrm>
          <a:prstGeom prst="roundRect">
            <a:avLst>
              <a:gd name="adj" fmla="val 5538"/>
            </a:avLst>
          </a:prstGeom>
          <a:solidFill>
            <a:srgbClr val="FFFFFF"/>
          </a:solidFill>
          <a:ln w="12700">
            <a:solidFill>
              <a:srgbClr val="FFFFFF"/>
            </a:solidFill>
            <a:prstDash val="solid"/>
          </a:ln>
          <a:effectLst>
            <a:outerShdw sx="100000" sy="100000" kx="0" ky="0" algn="bl" rotWithShape="0" blurRad="127000" dist="25400" dir="5400000">
              <a:srgbClr val="3B2A5A">
                <a:alpha val="10000"/>
              </a:srgbClr>
            </a:outerShdw>
          </a:effectLst>
        </p:spPr>
      </p:sp>
      <p:sp>
        <p:nvSpPr>
          <p:cNvPr id="32" name="Shape 22"/>
          <p:cNvSpPr/>
          <p:nvPr/>
        </p:nvSpPr>
        <p:spPr>
          <a:xfrm>
            <a:off x="8321040" y="1719072"/>
            <a:ext cx="365760" cy="365760"/>
          </a:xfrm>
          <a:prstGeom prst="ellipse">
            <a:avLst/>
          </a:prstGeom>
          <a:solidFill>
            <a:srgbClr val="E08F1E"/>
          </a:solidFill>
          <a:ln w="12700">
            <a:solidFill>
              <a:srgbClr val="E08F1E"/>
            </a:solidFill>
            <a:prstDash val="solid"/>
          </a:ln>
        </p:spPr>
      </p:sp>
      <p:pic>
        <p:nvPicPr>
          <p:cNvPr id="33" name="Image 7" descr="preencoded.png">    </p:cNvPr>
          <p:cNvPicPr>
            <a:picLocks noChangeAspect="1"/>
          </p:cNvPicPr>
          <p:nvPr/>
        </p:nvPicPr>
        <p:blipFill>
          <a:blip r:embed="rId9"/>
          <a:stretch>
            <a:fillRect/>
          </a:stretch>
        </p:blipFill>
        <p:spPr>
          <a:xfrm>
            <a:off x="8408822" y="1806854"/>
            <a:ext cx="190195" cy="190195"/>
          </a:xfrm>
          <a:prstGeom prst="rect">
            <a:avLst/>
          </a:prstGeom>
        </p:spPr>
      </p:pic>
      <p:sp>
        <p:nvSpPr>
          <p:cNvPr id="34" name="Text 23"/>
          <p:cNvSpPr txBox="1"/>
          <p:nvPr/>
        </p:nvSpPr>
        <p:spPr>
          <a:xfrm>
            <a:off x="8796528" y="1719072"/>
            <a:ext cx="3657600" cy="365760"/>
          </a:xfrm>
          <a:prstGeom prst="rect">
            <a:avLst/>
          </a:prstGeom>
          <a:noFill/>
          <a:ln/>
        </p:spPr>
        <p:txBody>
          <a:bodyPr wrap="square" lIns="0" tIns="0" rIns="0" bIns="0" rtlCol="0" anchor="ctr"/>
          <a:lstStyle/>
          <a:p>
            <a:pPr indent="0" marL="0">
              <a:buNone/>
            </a:pPr>
            <a:r>
              <a:rPr lang="en-US" sz="1700" b="1" dirty="0">
                <a:solidFill>
                  <a:srgbClr val="3B2A5A"/>
                </a:solidFill>
                <a:latin typeface="Calibri" pitchFamily="34" charset="0"/>
                <a:ea typeface="Calibri" pitchFamily="34" charset="-122"/>
                <a:cs typeface="Calibri" pitchFamily="34" charset="-120"/>
              </a:rPr>
              <a:t>Small touches to add</a:t>
            </a:r>
            <a:endParaRPr lang="en-US" sz="1700" dirty="0"/>
          </a:p>
        </p:txBody>
      </p:sp>
      <p:sp>
        <p:nvSpPr>
          <p:cNvPr id="35" name="Shape 24"/>
          <p:cNvSpPr/>
          <p:nvPr/>
        </p:nvSpPr>
        <p:spPr>
          <a:xfrm>
            <a:off x="8321040" y="2286000"/>
            <a:ext cx="402336" cy="402336"/>
          </a:xfrm>
          <a:prstGeom prst="ellipse">
            <a:avLst/>
          </a:prstGeom>
          <a:solidFill>
            <a:srgbClr val="FDF1DF"/>
          </a:solidFill>
          <a:ln w="12700">
            <a:solidFill>
              <a:srgbClr val="FDF1DF"/>
            </a:solidFill>
            <a:prstDash val="solid"/>
          </a:ln>
        </p:spPr>
      </p:sp>
      <p:pic>
        <p:nvPicPr>
          <p:cNvPr id="36" name="Image 8" descr="preencoded.png">    </p:cNvPr>
          <p:cNvPicPr>
            <a:picLocks noChangeAspect="1"/>
          </p:cNvPicPr>
          <p:nvPr/>
        </p:nvPicPr>
        <p:blipFill>
          <a:blip r:embed="rId10"/>
          <a:stretch>
            <a:fillRect/>
          </a:stretch>
        </p:blipFill>
        <p:spPr>
          <a:xfrm>
            <a:off x="8417601" y="2382561"/>
            <a:ext cx="209215" cy="209215"/>
          </a:xfrm>
          <a:prstGeom prst="rect">
            <a:avLst/>
          </a:prstGeom>
        </p:spPr>
      </p:pic>
      <p:sp>
        <p:nvSpPr>
          <p:cNvPr id="37" name="Text 25"/>
          <p:cNvSpPr txBox="1"/>
          <p:nvPr/>
        </p:nvSpPr>
        <p:spPr>
          <a:xfrm>
            <a:off x="8887968" y="2304288"/>
            <a:ext cx="2569464" cy="640080"/>
          </a:xfrm>
          <a:prstGeom prst="rect">
            <a:avLst/>
          </a:prstGeom>
          <a:noFill/>
          <a:ln/>
        </p:spPr>
        <p:txBody>
          <a:bodyPr wrap="square" lIns="0" tIns="0" rIns="0" bIns="0" rtlCol="0" anchor="t"/>
          <a:lstStyle/>
          <a:p>
            <a:pPr indent="0" marL="0">
              <a:buNone/>
            </a:pPr>
            <a:r>
              <a:rPr lang="en-US" sz="1200" dirty="0">
                <a:solidFill>
                  <a:srgbClr val="2E2744"/>
                </a:solidFill>
                <a:latin typeface="Calibri" pitchFamily="34" charset="0"/>
                <a:ea typeface="Calibri" pitchFamily="34" charset="-122"/>
                <a:cs typeface="Calibri" pitchFamily="34" charset="-120"/>
              </a:rPr>
              <a:t>During treatment, remind the customer about simple actions, e.g. turning the head or pursing the lips.</a:t>
            </a:r>
            <a:endParaRPr lang="en-US" sz="1200" dirty="0"/>
          </a:p>
        </p:txBody>
      </p:sp>
      <p:sp>
        <p:nvSpPr>
          <p:cNvPr id="38" name="Shape 26"/>
          <p:cNvSpPr/>
          <p:nvPr/>
        </p:nvSpPr>
        <p:spPr>
          <a:xfrm>
            <a:off x="8321040" y="2999232"/>
            <a:ext cx="402336" cy="402336"/>
          </a:xfrm>
          <a:prstGeom prst="ellipse">
            <a:avLst/>
          </a:prstGeom>
          <a:solidFill>
            <a:srgbClr val="FDF1DF"/>
          </a:solidFill>
          <a:ln w="12700">
            <a:solidFill>
              <a:srgbClr val="FDF1DF"/>
            </a:solidFill>
            <a:prstDash val="solid"/>
          </a:ln>
        </p:spPr>
      </p:sp>
      <p:pic>
        <p:nvPicPr>
          <p:cNvPr id="39" name="Image 9" descr="preencoded.png">    </p:cNvPr>
          <p:cNvPicPr>
            <a:picLocks noChangeAspect="1"/>
          </p:cNvPicPr>
          <p:nvPr/>
        </p:nvPicPr>
        <p:blipFill>
          <a:blip r:embed="rId11"/>
          <a:stretch>
            <a:fillRect/>
          </a:stretch>
        </p:blipFill>
        <p:spPr>
          <a:xfrm>
            <a:off x="8417601" y="3095793"/>
            <a:ext cx="209215" cy="209215"/>
          </a:xfrm>
          <a:prstGeom prst="rect">
            <a:avLst/>
          </a:prstGeom>
        </p:spPr>
      </p:pic>
      <p:sp>
        <p:nvSpPr>
          <p:cNvPr id="40" name="Text 27"/>
          <p:cNvSpPr txBox="1"/>
          <p:nvPr/>
        </p:nvSpPr>
        <p:spPr>
          <a:xfrm>
            <a:off x="8887968" y="3017520"/>
            <a:ext cx="2569464" cy="640080"/>
          </a:xfrm>
          <a:prstGeom prst="rect">
            <a:avLst/>
          </a:prstGeom>
          <a:noFill/>
          <a:ln/>
        </p:spPr>
        <p:txBody>
          <a:bodyPr wrap="square" lIns="0" tIns="0" rIns="0" bIns="0" rtlCol="0" anchor="t"/>
          <a:lstStyle/>
          <a:p>
            <a:pPr indent="0" marL="0">
              <a:buNone/>
            </a:pPr>
            <a:r>
              <a:rPr lang="en-US" sz="1200" dirty="0">
                <a:solidFill>
                  <a:srgbClr val="2E2744"/>
                </a:solidFill>
                <a:latin typeface="Calibri" pitchFamily="34" charset="0"/>
                <a:ea typeface="Calibri" pitchFamily="34" charset="-122"/>
                <a:cs typeface="Calibri" pitchFamily="34" charset="-120"/>
              </a:rPr>
              <a:t>After bright light treatment, help eyes adjust to room brightness gradually before the mirror.</a:t>
            </a:r>
            <a:endParaRPr lang="en-US" sz="1200" dirty="0"/>
          </a:p>
        </p:txBody>
      </p:sp>
      <p:sp>
        <p:nvSpPr>
          <p:cNvPr id="41" name="Shape 28"/>
          <p:cNvSpPr/>
          <p:nvPr/>
        </p:nvSpPr>
        <p:spPr>
          <a:xfrm>
            <a:off x="8321040" y="3712464"/>
            <a:ext cx="402336" cy="402336"/>
          </a:xfrm>
          <a:prstGeom prst="ellipse">
            <a:avLst/>
          </a:prstGeom>
          <a:solidFill>
            <a:srgbClr val="FDF1DF"/>
          </a:solidFill>
          <a:ln w="12700">
            <a:solidFill>
              <a:srgbClr val="FDF1DF"/>
            </a:solidFill>
            <a:prstDash val="solid"/>
          </a:ln>
        </p:spPr>
      </p:sp>
      <p:pic>
        <p:nvPicPr>
          <p:cNvPr id="42" name="Image 10" descr="preencoded.png">    </p:cNvPr>
          <p:cNvPicPr>
            <a:picLocks noChangeAspect="1"/>
          </p:cNvPicPr>
          <p:nvPr/>
        </p:nvPicPr>
        <p:blipFill>
          <a:blip r:embed="rId12"/>
          <a:stretch>
            <a:fillRect/>
          </a:stretch>
        </p:blipFill>
        <p:spPr>
          <a:xfrm>
            <a:off x="8417601" y="3809025"/>
            <a:ext cx="209215" cy="209215"/>
          </a:xfrm>
          <a:prstGeom prst="rect">
            <a:avLst/>
          </a:prstGeom>
        </p:spPr>
      </p:pic>
      <p:sp>
        <p:nvSpPr>
          <p:cNvPr id="43" name="Text 29"/>
          <p:cNvSpPr txBox="1"/>
          <p:nvPr/>
        </p:nvSpPr>
        <p:spPr>
          <a:xfrm>
            <a:off x="8887968" y="3730752"/>
            <a:ext cx="2569464" cy="640080"/>
          </a:xfrm>
          <a:prstGeom prst="rect">
            <a:avLst/>
          </a:prstGeom>
          <a:noFill/>
          <a:ln/>
        </p:spPr>
        <p:txBody>
          <a:bodyPr wrap="square" lIns="0" tIns="0" rIns="0" bIns="0" rtlCol="0" anchor="t"/>
          <a:lstStyle/>
          <a:p>
            <a:pPr indent="0" marL="0">
              <a:buNone/>
            </a:pPr>
            <a:r>
              <a:rPr lang="en-US" sz="1200" dirty="0">
                <a:solidFill>
                  <a:srgbClr val="2E2744"/>
                </a:solidFill>
                <a:latin typeface="Calibri" pitchFamily="34" charset="0"/>
                <a:ea typeface="Calibri" pitchFamily="34" charset="-122"/>
                <a:cs typeface="Calibri" pitchFamily="34" charset="-120"/>
              </a:rPr>
              <a:t>Price may be a burden for the average customer unless the facial condition is serious enough.</a:t>
            </a:r>
            <a:endParaRPr lang="en-US" sz="1200" dirty="0"/>
          </a:p>
        </p:txBody>
      </p:sp>
      <p:sp>
        <p:nvSpPr>
          <p:cNvPr id="44" name="Shape 30"/>
          <p:cNvSpPr/>
          <p:nvPr/>
        </p:nvSpPr>
        <p:spPr>
          <a:xfrm>
            <a:off x="8046720" y="4617720"/>
            <a:ext cx="3593592" cy="1783080"/>
          </a:xfrm>
          <a:prstGeom prst="roundRect">
            <a:avLst>
              <a:gd name="adj" fmla="val 9231"/>
            </a:avLst>
          </a:prstGeom>
          <a:solidFill>
            <a:srgbClr val="FDF1DF"/>
          </a:solidFill>
          <a:ln w="12700">
            <a:solidFill>
              <a:srgbClr val="FDF1DF"/>
            </a:solidFill>
            <a:prstDash val="solid"/>
          </a:ln>
        </p:spPr>
      </p:sp>
      <p:pic>
        <p:nvPicPr>
          <p:cNvPr id="45" name="Image 11" descr="preencoded.png">    </p:cNvPr>
          <p:cNvPicPr>
            <a:picLocks noChangeAspect="1"/>
          </p:cNvPicPr>
          <p:nvPr/>
        </p:nvPicPr>
        <p:blipFill>
          <a:blip r:embed="rId13"/>
          <a:stretch>
            <a:fillRect/>
          </a:stretch>
        </p:blipFill>
        <p:spPr>
          <a:xfrm>
            <a:off x="8321040" y="4818888"/>
            <a:ext cx="274320" cy="274320"/>
          </a:xfrm>
          <a:prstGeom prst="rect">
            <a:avLst/>
          </a:prstGeom>
        </p:spPr>
      </p:pic>
      <p:sp>
        <p:nvSpPr>
          <p:cNvPr id="46" name="Text 31"/>
          <p:cNvSpPr txBox="1"/>
          <p:nvPr/>
        </p:nvSpPr>
        <p:spPr>
          <a:xfrm>
            <a:off x="8705088" y="4818888"/>
            <a:ext cx="2743200" cy="274320"/>
          </a:xfrm>
          <a:prstGeom prst="rect">
            <a:avLst/>
          </a:prstGeom>
          <a:noFill/>
          <a:ln/>
        </p:spPr>
        <p:txBody>
          <a:bodyPr wrap="square" lIns="0" tIns="0" rIns="0" bIns="0" rtlCol="0" anchor="ctr"/>
          <a:lstStyle/>
          <a:p>
            <a:pPr indent="0" marL="0">
              <a:buNone/>
            </a:pPr>
            <a:r>
              <a:rPr lang="en-US" sz="1100" b="1" spc="100" kern="0" dirty="0">
                <a:solidFill>
                  <a:srgbClr val="A8660C"/>
                </a:solidFill>
                <a:latin typeface="Calibri" pitchFamily="34" charset="0"/>
                <a:ea typeface="Calibri" pitchFamily="34" charset="-122"/>
                <a:cs typeface="Calibri" pitchFamily="34" charset="-120"/>
              </a:rPr>
              <a:t>IN THE CUSTOMER'S WORDS</a:t>
            </a:r>
            <a:endParaRPr lang="en-US" sz="1100" dirty="0"/>
          </a:p>
        </p:txBody>
      </p:sp>
      <p:sp>
        <p:nvSpPr>
          <p:cNvPr id="47" name="Text 32"/>
          <p:cNvSpPr txBox="1"/>
          <p:nvPr/>
        </p:nvSpPr>
        <p:spPr>
          <a:xfrm>
            <a:off x="8321040" y="5184648"/>
            <a:ext cx="3136392" cy="566928"/>
          </a:xfrm>
          <a:prstGeom prst="rect">
            <a:avLst/>
          </a:prstGeom>
          <a:noFill/>
          <a:ln/>
        </p:spPr>
        <p:txBody>
          <a:bodyPr wrap="square" lIns="0" tIns="0" rIns="0" bIns="0" rtlCol="0" anchor="t"/>
          <a:lstStyle/>
          <a:p>
            <a:pPr indent="0" marL="0">
              <a:buNone/>
            </a:pPr>
            <a:r>
              <a:rPr lang="en-US" sz="1400" b="1" dirty="0">
                <a:solidFill>
                  <a:srgbClr val="3B2A5A"/>
                </a:solidFill>
                <a:latin typeface="Microsoft YaHei" pitchFamily="34" charset="0"/>
                <a:ea typeface="Microsoft YaHei" pitchFamily="34" charset="-122"/>
                <a:cs typeface="Microsoft YaHei" pitchFamily="34" charset="-120"/>
              </a:rPr>
              <a:t>“整体体验非常好。</a:t>
            </a:r>
            <a:endParaRPr lang="en-US" sz="1400" dirty="0"/>
          </a:p>
          <a:p>
            <a:pPr indent="0" marL="0">
              <a:buNone/>
            </a:pPr>
            <a:r>
              <a:rPr lang="en-US" sz="1400" b="1" dirty="0">
                <a:solidFill>
                  <a:srgbClr val="3B2A5A"/>
                </a:solidFill>
                <a:latin typeface="Microsoft YaHei" pitchFamily="34" charset="0"/>
                <a:ea typeface="Microsoft YaHei" pitchFamily="34" charset="-122"/>
                <a:cs typeface="Microsoft YaHei" pitchFamily="34" charset="-120"/>
              </a:rPr>
              <a:t>招待热情、讲解清晰。”</a:t>
            </a:r>
            <a:endParaRPr lang="en-US" sz="1400" dirty="0"/>
          </a:p>
        </p:txBody>
      </p:sp>
      <p:sp>
        <p:nvSpPr>
          <p:cNvPr id="48" name="Text 33"/>
          <p:cNvSpPr txBox="1"/>
          <p:nvPr/>
        </p:nvSpPr>
        <p:spPr>
          <a:xfrm>
            <a:off x="8321040" y="5806440"/>
            <a:ext cx="3136392" cy="457200"/>
          </a:xfrm>
          <a:prstGeom prst="rect">
            <a:avLst/>
          </a:prstGeom>
          <a:noFill/>
          <a:ln/>
        </p:spPr>
        <p:txBody>
          <a:bodyPr wrap="square" lIns="0" tIns="0" rIns="0" bIns="0" rtlCol="0" anchor="t"/>
          <a:lstStyle/>
          <a:p>
            <a:pPr indent="0" marL="0">
              <a:buNone/>
            </a:pPr>
            <a:r>
              <a:rPr lang="en-US" sz="1200" i="1" dirty="0">
                <a:solidFill>
                  <a:srgbClr val="6E6784"/>
                </a:solidFill>
                <a:latin typeface="Calibri" pitchFamily="34" charset="0"/>
                <a:ea typeface="Calibri" pitchFamily="34" charset="-122"/>
                <a:cs typeface="Calibri" pitchFamily="34" charset="-120"/>
              </a:rPr>
              <a:t>“Overall a very good experience. Warm welcome, clear explanations.”</a:t>
            </a:r>
            <a:endParaRPr lang="en-US" sz="1200" dirty="0"/>
          </a:p>
        </p:txBody>
      </p:sp>
      <p:sp>
        <p:nvSpPr>
          <p:cNvPr id="25" name="Slide Number Placeholder 0"/>
          <p:cNvSpPr>
            <a:spLocks noGrp="1"/>
          </p:cNvSpPr>
          <p:nvPr>
            <p:ph type="sldNum" sz="quarter" idx="4294967295"/>
          </p:nvPr>
        </p:nvSpPr>
        <p:spPr>
          <a:xfrm>
            <a:off x="1129284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9DB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B"/>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594360"/>
          </a:xfrm>
          <a:prstGeom prst="rect">
            <a:avLst/>
          </a:prstGeom>
          <a:noFill/>
          <a:ln/>
        </p:spPr>
        <p:txBody>
          <a:bodyPr wrap="square" lIns="0" tIns="0" rIns="0" bIns="0" rtlCol="0" anchor="ctr"/>
          <a:lstStyle/>
          <a:p>
            <a:pPr indent="0" marL="0">
              <a:buNone/>
            </a:pPr>
            <a:r>
              <a:rPr lang="en-US" sz="3200" b="1" dirty="0">
                <a:solidFill>
                  <a:srgbClr val="DD5C7B"/>
                </a:solidFill>
                <a:latin typeface="Calibri" pitchFamily="34" charset="0"/>
                <a:ea typeface="Calibri" pitchFamily="34" charset="-122"/>
                <a:cs typeface="Calibri" pitchFamily="34" charset="-120"/>
              </a:rPr>
              <a:t>Cheras Leisure Mall</a:t>
            </a:r>
            <a:pPr indent="0" marL="0">
              <a:buNone/>
            </a:pPr>
            <a:r>
              <a:rPr lang="en-US" sz="3200" b="1" dirty="0">
                <a:solidFill>
                  <a:srgbClr val="3B2A5A"/>
                </a:solidFill>
                <a:latin typeface="Calibri" pitchFamily="34" charset="0"/>
                <a:ea typeface="Calibri" pitchFamily="34" charset="-122"/>
                <a:cs typeface="Calibri" pitchFamily="34" charset="-120"/>
              </a:rPr>
              <a:t>  ·  full customer feedback</a:t>
            </a:r>
            <a:endParaRPr lang="en-US" sz="3200" dirty="0"/>
          </a:p>
        </p:txBody>
      </p:sp>
      <p:sp>
        <p:nvSpPr>
          <p:cNvPr id="3" name="Text 1"/>
          <p:cNvSpPr txBox="1"/>
          <p:nvPr/>
        </p:nvSpPr>
        <p:spPr>
          <a:xfrm>
            <a:off x="548640" y="987552"/>
            <a:ext cx="10058400" cy="292608"/>
          </a:xfrm>
          <a:prstGeom prst="rect">
            <a:avLst/>
          </a:prstGeom>
          <a:noFill/>
          <a:ln/>
        </p:spPr>
        <p:txBody>
          <a:bodyPr wrap="square" lIns="0" tIns="0" rIns="0" bIns="0" rtlCol="0" anchor="t"/>
          <a:lstStyle/>
          <a:p>
            <a:pPr indent="0" marL="0">
              <a:buNone/>
            </a:pPr>
            <a:r>
              <a:rPr lang="en-US" sz="1300" dirty="0">
                <a:solidFill>
                  <a:srgbClr val="6E6784"/>
                </a:solidFill>
                <a:latin typeface="Calibri" pitchFamily="34" charset="0"/>
                <a:ea typeface="Calibri" pitchFamily="34" charset="-122"/>
                <a:cs typeface="Calibri" pitchFamily="34" charset="-120"/>
              </a:rPr>
              <a:t>September 2026  ·  Mystery Shopper visit</a:t>
            </a:r>
            <a:endParaRPr lang="en-US" sz="1300" dirty="0"/>
          </a:p>
        </p:txBody>
      </p:sp>
      <p:sp>
        <p:nvSpPr>
          <p:cNvPr id="4" name="Shape 2"/>
          <p:cNvSpPr/>
          <p:nvPr/>
        </p:nvSpPr>
        <p:spPr>
          <a:xfrm>
            <a:off x="548640" y="1463040"/>
            <a:ext cx="2743200" cy="4937760"/>
          </a:xfrm>
          <a:prstGeom prst="roundRect">
            <a:avLst>
              <a:gd name="adj" fmla="val 6000"/>
            </a:avLst>
          </a:prstGeom>
          <a:solidFill>
            <a:srgbClr val="FCEAEF"/>
          </a:solidFill>
          <a:ln w="12700">
            <a:solidFill>
              <a:srgbClr val="FCEAEF"/>
            </a:solidFill>
            <a:prstDash val="solid"/>
          </a:ln>
        </p:spPr>
      </p:sp>
      <p:sp>
        <p:nvSpPr>
          <p:cNvPr id="5" name="Text 3"/>
          <p:cNvSpPr txBox="1"/>
          <p:nvPr/>
        </p:nvSpPr>
        <p:spPr>
          <a:xfrm>
            <a:off x="548640" y="1737360"/>
            <a:ext cx="2743200" cy="274320"/>
          </a:xfrm>
          <a:prstGeom prst="rect">
            <a:avLst/>
          </a:prstGeom>
          <a:noFill/>
          <a:ln/>
        </p:spPr>
        <p:txBody>
          <a:bodyPr wrap="square" lIns="0" tIns="0" rIns="0" bIns="0" rtlCol="0" anchor="t"/>
          <a:lstStyle/>
          <a:p>
            <a:pPr algn="ctr" indent="0" marL="0">
              <a:buNone/>
            </a:pPr>
            <a:r>
              <a:rPr lang="en-US" sz="1100" b="1" spc="100" kern="0" dirty="0">
                <a:solidFill>
                  <a:srgbClr val="B03D5B"/>
                </a:solidFill>
                <a:latin typeface="Calibri" pitchFamily="34" charset="0"/>
                <a:ea typeface="Calibri" pitchFamily="34" charset="-122"/>
                <a:cs typeface="Calibri" pitchFamily="34" charset="-120"/>
              </a:rPr>
              <a:t>MYSTERY SHOPPER SCORE</a:t>
            </a:r>
            <a:endParaRPr lang="en-US" sz="1100" dirty="0"/>
          </a:p>
        </p:txBody>
      </p:sp>
      <p:graphicFrame>
        <p:nvGraphicFramePr>
          <p:cNvPr id="6" name="Chart 0" descr=""/>
          <p:cNvGraphicFramePr/>
          <p:nvPr/>
        </p:nvGraphicFramePr>
        <p:xfrm>
          <a:off x="868680" y="2148840"/>
          <a:ext cx="2103120" cy="21031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868680" y="2907792"/>
            <a:ext cx="2103120" cy="650240"/>
          </a:xfrm>
          <a:prstGeom prst="rect">
            <a:avLst/>
          </a:prstGeom>
          <a:noFill/>
          <a:ln/>
        </p:spPr>
        <p:txBody>
          <a:bodyPr wrap="square" lIns="0" tIns="0" rIns="0" bIns="0" rtlCol="0" anchor="ctr"/>
          <a:lstStyle/>
          <a:p>
            <a:pPr algn="ctr" indent="0" marL="0">
              <a:buNone/>
            </a:pPr>
            <a:r>
              <a:rPr lang="en-US" sz="3200" b="1" dirty="0">
                <a:solidFill>
                  <a:srgbClr val="3B2A5A"/>
                </a:solidFill>
                <a:latin typeface="Calibri" pitchFamily="34" charset="0"/>
                <a:ea typeface="Calibri" pitchFamily="34" charset="-122"/>
                <a:cs typeface="Calibri" pitchFamily="34" charset="-120"/>
              </a:rPr>
              <a:t>66.75</a:t>
            </a:r>
            <a:endParaRPr lang="en-US" sz="3200" dirty="0"/>
          </a:p>
          <a:p>
            <a:pPr algn="ctr" indent="0" marL="0">
              <a:buNone/>
            </a:pPr>
            <a:r>
              <a:rPr lang="en-US" sz="1100" dirty="0">
                <a:solidFill>
                  <a:srgbClr val="6E6784"/>
                </a:solidFill>
                <a:latin typeface="Calibri" pitchFamily="34" charset="0"/>
                <a:ea typeface="Calibri" pitchFamily="34" charset="-122"/>
                <a:cs typeface="Calibri" pitchFamily="34" charset="-120"/>
              </a:rPr>
              <a:t>out of 100</a:t>
            </a:r>
            <a:endParaRPr lang="en-US" sz="3200" dirty="0"/>
          </a:p>
        </p:txBody>
      </p:sp>
      <p:sp>
        <p:nvSpPr>
          <p:cNvPr id="8" name="Shape 5"/>
          <p:cNvSpPr/>
          <p:nvPr/>
        </p:nvSpPr>
        <p:spPr>
          <a:xfrm>
            <a:off x="1719072" y="4526280"/>
            <a:ext cx="402336" cy="402336"/>
          </a:xfrm>
          <a:prstGeom prst="ellipse">
            <a:avLst/>
          </a:prstGeom>
          <a:solidFill>
            <a:srgbClr val="DD5C7B"/>
          </a:solidFill>
          <a:ln w="12700">
            <a:solidFill>
              <a:srgbClr val="DD5C7B"/>
            </a:solidFill>
            <a:prstDash val="solid"/>
          </a:ln>
        </p:spPr>
      </p:sp>
      <p:pic>
        <p:nvPicPr>
          <p:cNvPr id="9" name="Image 0" descr="preencoded.png">    </p:cNvPr>
          <p:cNvPicPr>
            <a:picLocks noChangeAspect="1"/>
          </p:cNvPicPr>
          <p:nvPr/>
        </p:nvPicPr>
        <p:blipFill>
          <a:blip r:embed="rId2"/>
          <a:stretch>
            <a:fillRect/>
          </a:stretch>
        </p:blipFill>
        <p:spPr>
          <a:xfrm>
            <a:off x="1815633" y="4622841"/>
            <a:ext cx="209215" cy="209215"/>
          </a:xfrm>
          <a:prstGeom prst="rect">
            <a:avLst/>
          </a:prstGeom>
        </p:spPr>
      </p:pic>
      <p:sp>
        <p:nvSpPr>
          <p:cNvPr id="10" name="Text 6"/>
          <p:cNvSpPr txBox="1"/>
          <p:nvPr/>
        </p:nvSpPr>
        <p:spPr>
          <a:xfrm>
            <a:off x="548640" y="5029200"/>
            <a:ext cx="2743200" cy="256032"/>
          </a:xfrm>
          <a:prstGeom prst="rect">
            <a:avLst/>
          </a:prstGeom>
          <a:noFill/>
          <a:ln/>
        </p:spPr>
        <p:txBody>
          <a:bodyPr wrap="square" lIns="0" tIns="0" rIns="0" bIns="0" rtlCol="0" anchor="t"/>
          <a:lstStyle/>
          <a:p>
            <a:pPr algn="ctr" indent="0" marL="0">
              <a:buNone/>
            </a:pPr>
            <a:r>
              <a:rPr lang="en-US" sz="1000" b="1" spc="100" kern="0" dirty="0">
                <a:solidFill>
                  <a:srgbClr val="B03D5B"/>
                </a:solidFill>
                <a:latin typeface="Calibri" pitchFamily="34" charset="0"/>
                <a:ea typeface="Calibri" pitchFamily="34" charset="-122"/>
                <a:cs typeface="Calibri" pitchFamily="34" charset="-120"/>
              </a:rPr>
              <a:t>GUEST HIGHLIGHT</a:t>
            </a:r>
            <a:endParaRPr lang="en-US" sz="1000" dirty="0"/>
          </a:p>
        </p:txBody>
      </p:sp>
      <p:sp>
        <p:nvSpPr>
          <p:cNvPr id="11" name="Text 7"/>
          <p:cNvSpPr txBox="1"/>
          <p:nvPr/>
        </p:nvSpPr>
        <p:spPr>
          <a:xfrm>
            <a:off x="777240" y="5303520"/>
            <a:ext cx="2286000" cy="822960"/>
          </a:xfrm>
          <a:prstGeom prst="rect">
            <a:avLst/>
          </a:prstGeom>
          <a:noFill/>
          <a:ln/>
        </p:spPr>
        <p:txBody>
          <a:bodyPr wrap="square" lIns="0" tIns="0" rIns="0" bIns="0" rtlCol="0" anchor="t"/>
          <a:lstStyle/>
          <a:p>
            <a:pPr algn="ctr" indent="0" marL="0">
              <a:buNone/>
            </a:pPr>
            <a:r>
              <a:rPr lang="en-US" sz="1600" b="1" dirty="0">
                <a:solidFill>
                  <a:srgbClr val="3B2A5A"/>
                </a:solidFill>
                <a:latin typeface="Calibri" pitchFamily="34" charset="0"/>
                <a:ea typeface="Calibri" pitchFamily="34" charset="-122"/>
                <a:cs typeface="Calibri" pitchFamily="34" charset="-120"/>
              </a:rPr>
              <a:t>Good visible result</a:t>
            </a:r>
            <a:endParaRPr lang="en-US" sz="1600" dirty="0"/>
          </a:p>
        </p:txBody>
      </p:sp>
      <p:sp>
        <p:nvSpPr>
          <p:cNvPr id="12" name="Shape 8"/>
          <p:cNvSpPr/>
          <p:nvPr/>
        </p:nvSpPr>
        <p:spPr>
          <a:xfrm>
            <a:off x="3566160" y="1463040"/>
            <a:ext cx="4206240" cy="2606040"/>
          </a:xfrm>
          <a:prstGeom prst="roundRect">
            <a:avLst>
              <a:gd name="adj" fmla="val 6316"/>
            </a:avLst>
          </a:prstGeom>
          <a:solidFill>
            <a:srgbClr val="FFFFFF"/>
          </a:solidFill>
          <a:ln w="12700">
            <a:solidFill>
              <a:srgbClr val="FFFFFF"/>
            </a:solidFill>
            <a:prstDash val="solid"/>
          </a:ln>
          <a:effectLst>
            <a:outerShdw sx="100000" sy="100000" kx="0" ky="0" algn="bl" rotWithShape="0" blurRad="127000" dist="25400" dir="5400000">
              <a:srgbClr val="3B2A5A">
                <a:alpha val="10000"/>
              </a:srgbClr>
            </a:outerShdw>
          </a:effectLst>
        </p:spPr>
      </p:sp>
      <p:sp>
        <p:nvSpPr>
          <p:cNvPr id="13" name="Shape 9"/>
          <p:cNvSpPr/>
          <p:nvPr/>
        </p:nvSpPr>
        <p:spPr>
          <a:xfrm>
            <a:off x="3840480" y="1719072"/>
            <a:ext cx="365760" cy="365760"/>
          </a:xfrm>
          <a:prstGeom prst="ellipse">
            <a:avLst/>
          </a:prstGeom>
          <a:solidFill>
            <a:srgbClr val="DD5C7B"/>
          </a:solidFill>
          <a:ln w="12700">
            <a:solidFill>
              <a:srgbClr val="DD5C7B"/>
            </a:solidFill>
            <a:prstDash val="solid"/>
          </a:ln>
        </p:spPr>
      </p:sp>
      <p:pic>
        <p:nvPicPr>
          <p:cNvPr id="14" name="Image 1" descr="preencoded.png">    </p:cNvPr>
          <p:cNvPicPr>
            <a:picLocks noChangeAspect="1"/>
          </p:cNvPicPr>
          <p:nvPr/>
        </p:nvPicPr>
        <p:blipFill>
          <a:blip r:embed="rId3"/>
          <a:stretch>
            <a:fillRect/>
          </a:stretch>
        </p:blipFill>
        <p:spPr>
          <a:xfrm>
            <a:off x="3928262" y="1806854"/>
            <a:ext cx="190195" cy="190195"/>
          </a:xfrm>
          <a:prstGeom prst="rect">
            <a:avLst/>
          </a:prstGeom>
        </p:spPr>
      </p:pic>
      <p:sp>
        <p:nvSpPr>
          <p:cNvPr id="15" name="Text 10"/>
          <p:cNvSpPr txBox="1"/>
          <p:nvPr/>
        </p:nvSpPr>
        <p:spPr>
          <a:xfrm>
            <a:off x="4315968" y="1719072"/>
            <a:ext cx="3657600" cy="365760"/>
          </a:xfrm>
          <a:prstGeom prst="rect">
            <a:avLst/>
          </a:prstGeom>
          <a:noFill/>
          <a:ln/>
        </p:spPr>
        <p:txBody>
          <a:bodyPr wrap="square" lIns="0" tIns="0" rIns="0" bIns="0" rtlCol="0" anchor="ctr"/>
          <a:lstStyle/>
          <a:p>
            <a:pPr indent="0" marL="0">
              <a:buNone/>
            </a:pPr>
            <a:r>
              <a:rPr lang="en-US" sz="1700" b="1" dirty="0">
                <a:solidFill>
                  <a:srgbClr val="3B2A5A"/>
                </a:solidFill>
                <a:latin typeface="Calibri" pitchFamily="34" charset="0"/>
                <a:ea typeface="Calibri" pitchFamily="34" charset="-122"/>
                <a:cs typeface="Calibri" pitchFamily="34" charset="-120"/>
              </a:rPr>
              <a:t>What the shopper loved</a:t>
            </a:r>
            <a:endParaRPr lang="en-US" sz="1700" dirty="0"/>
          </a:p>
        </p:txBody>
      </p:sp>
      <p:sp>
        <p:nvSpPr>
          <p:cNvPr id="16" name="Shape 11"/>
          <p:cNvSpPr/>
          <p:nvPr/>
        </p:nvSpPr>
        <p:spPr>
          <a:xfrm>
            <a:off x="3840480" y="2331720"/>
            <a:ext cx="402336" cy="402336"/>
          </a:xfrm>
          <a:prstGeom prst="ellipse">
            <a:avLst/>
          </a:prstGeom>
          <a:solidFill>
            <a:srgbClr val="FCEAEF"/>
          </a:solidFill>
          <a:ln w="12700">
            <a:solidFill>
              <a:srgbClr val="FCEAEF"/>
            </a:solidFill>
            <a:prstDash val="solid"/>
          </a:ln>
        </p:spPr>
      </p:sp>
      <p:pic>
        <p:nvPicPr>
          <p:cNvPr id="17" name="Image 2" descr="preencoded.png">    </p:cNvPr>
          <p:cNvPicPr>
            <a:picLocks noChangeAspect="1"/>
          </p:cNvPicPr>
          <p:nvPr/>
        </p:nvPicPr>
        <p:blipFill>
          <a:blip r:embed="rId4"/>
          <a:stretch>
            <a:fillRect/>
          </a:stretch>
        </p:blipFill>
        <p:spPr>
          <a:xfrm>
            <a:off x="3937041" y="2428281"/>
            <a:ext cx="209215" cy="209215"/>
          </a:xfrm>
          <a:prstGeom prst="rect">
            <a:avLst/>
          </a:prstGeom>
        </p:spPr>
      </p:pic>
      <p:sp>
        <p:nvSpPr>
          <p:cNvPr id="18" name="Text 12"/>
          <p:cNvSpPr txBox="1"/>
          <p:nvPr/>
        </p:nvSpPr>
        <p:spPr>
          <a:xfrm>
            <a:off x="4407408" y="2350008"/>
            <a:ext cx="3136392" cy="457200"/>
          </a:xfrm>
          <a:prstGeom prst="rect">
            <a:avLst/>
          </a:prstGeom>
          <a:noFill/>
          <a:ln/>
        </p:spPr>
        <p:txBody>
          <a:bodyPr wrap="square" lIns="0" tIns="0" rIns="0" bIns="0" rtlCol="0" anchor="t"/>
          <a:lstStyle/>
          <a:p>
            <a:pPr indent="0" marL="0">
              <a:buNone/>
            </a:pPr>
            <a:r>
              <a:rPr lang="en-US" sz="1300" dirty="0">
                <a:solidFill>
                  <a:srgbClr val="2E2744"/>
                </a:solidFill>
                <a:latin typeface="Calibri" pitchFamily="34" charset="0"/>
                <a:ea typeface="Calibri" pitchFamily="34" charset="-122"/>
                <a:cs typeface="Calibri" pitchFamily="34" charset="-120"/>
              </a:rPr>
              <a:t>Staff introduced the service / package.</a:t>
            </a:r>
            <a:endParaRPr lang="en-US" sz="1300" dirty="0"/>
          </a:p>
        </p:txBody>
      </p:sp>
      <p:sp>
        <p:nvSpPr>
          <p:cNvPr id="19" name="Shape 13"/>
          <p:cNvSpPr/>
          <p:nvPr/>
        </p:nvSpPr>
        <p:spPr>
          <a:xfrm>
            <a:off x="3840480" y="2862072"/>
            <a:ext cx="402336" cy="402336"/>
          </a:xfrm>
          <a:prstGeom prst="ellipse">
            <a:avLst/>
          </a:prstGeom>
          <a:solidFill>
            <a:srgbClr val="FCEAEF"/>
          </a:solidFill>
          <a:ln w="12700">
            <a:solidFill>
              <a:srgbClr val="FCEAEF"/>
            </a:solidFill>
            <a:prstDash val="solid"/>
          </a:ln>
        </p:spPr>
      </p:sp>
      <p:pic>
        <p:nvPicPr>
          <p:cNvPr id="20" name="Image 3" descr="preencoded.png">    </p:cNvPr>
          <p:cNvPicPr>
            <a:picLocks noChangeAspect="1"/>
          </p:cNvPicPr>
          <p:nvPr/>
        </p:nvPicPr>
        <p:blipFill>
          <a:blip r:embed="rId5"/>
          <a:stretch>
            <a:fillRect/>
          </a:stretch>
        </p:blipFill>
        <p:spPr>
          <a:xfrm>
            <a:off x="3937041" y="2958633"/>
            <a:ext cx="209215" cy="209215"/>
          </a:xfrm>
          <a:prstGeom prst="rect">
            <a:avLst/>
          </a:prstGeom>
        </p:spPr>
      </p:pic>
      <p:sp>
        <p:nvSpPr>
          <p:cNvPr id="21" name="Text 14"/>
          <p:cNvSpPr txBox="1"/>
          <p:nvPr/>
        </p:nvSpPr>
        <p:spPr>
          <a:xfrm>
            <a:off x="4407408" y="2880360"/>
            <a:ext cx="3136392" cy="457200"/>
          </a:xfrm>
          <a:prstGeom prst="rect">
            <a:avLst/>
          </a:prstGeom>
          <a:noFill/>
          <a:ln/>
        </p:spPr>
        <p:txBody>
          <a:bodyPr wrap="square" lIns="0" tIns="0" rIns="0" bIns="0" rtlCol="0" anchor="t"/>
          <a:lstStyle/>
          <a:p>
            <a:pPr indent="0" marL="0">
              <a:buNone/>
            </a:pPr>
            <a:r>
              <a:rPr lang="en-US" sz="1300" dirty="0">
                <a:solidFill>
                  <a:srgbClr val="2E2744"/>
                </a:solidFill>
                <a:latin typeface="Calibri" pitchFamily="34" charset="0"/>
                <a:ea typeface="Calibri" pitchFamily="34" charset="-122"/>
                <a:cs typeface="Calibri" pitchFamily="34" charset="-120"/>
              </a:rPr>
              <a:t>Customer was satisfied with the result.</a:t>
            </a:r>
            <a:endParaRPr lang="en-US" sz="1300" dirty="0"/>
          </a:p>
        </p:txBody>
      </p:sp>
      <p:sp>
        <p:nvSpPr>
          <p:cNvPr id="22" name="Shape 15"/>
          <p:cNvSpPr/>
          <p:nvPr/>
        </p:nvSpPr>
        <p:spPr>
          <a:xfrm>
            <a:off x="3840480" y="3392424"/>
            <a:ext cx="402336" cy="402336"/>
          </a:xfrm>
          <a:prstGeom prst="ellipse">
            <a:avLst/>
          </a:prstGeom>
          <a:solidFill>
            <a:srgbClr val="FCEAEF"/>
          </a:solidFill>
          <a:ln w="12700">
            <a:solidFill>
              <a:srgbClr val="FCEAEF"/>
            </a:solidFill>
            <a:prstDash val="solid"/>
          </a:ln>
        </p:spPr>
      </p:sp>
      <p:pic>
        <p:nvPicPr>
          <p:cNvPr id="23" name="Image 4" descr="preencoded.png">    </p:cNvPr>
          <p:cNvPicPr>
            <a:picLocks noChangeAspect="1"/>
          </p:cNvPicPr>
          <p:nvPr/>
        </p:nvPicPr>
        <p:blipFill>
          <a:blip r:embed="rId6"/>
          <a:stretch>
            <a:fillRect/>
          </a:stretch>
        </p:blipFill>
        <p:spPr>
          <a:xfrm>
            <a:off x="3937041" y="3488985"/>
            <a:ext cx="209215" cy="209215"/>
          </a:xfrm>
          <a:prstGeom prst="rect">
            <a:avLst/>
          </a:prstGeom>
        </p:spPr>
      </p:pic>
      <p:sp>
        <p:nvSpPr>
          <p:cNvPr id="24" name="Text 16"/>
          <p:cNvSpPr txBox="1"/>
          <p:nvPr/>
        </p:nvSpPr>
        <p:spPr>
          <a:xfrm>
            <a:off x="4407408" y="3410712"/>
            <a:ext cx="3136392" cy="457200"/>
          </a:xfrm>
          <a:prstGeom prst="rect">
            <a:avLst/>
          </a:prstGeom>
          <a:noFill/>
          <a:ln/>
        </p:spPr>
        <p:txBody>
          <a:bodyPr wrap="square" lIns="0" tIns="0" rIns="0" bIns="0" rtlCol="0" anchor="t"/>
          <a:lstStyle/>
          <a:p>
            <a:pPr indent="0" marL="0">
              <a:buNone/>
            </a:pPr>
            <a:r>
              <a:rPr lang="en-US" sz="1300" dirty="0">
                <a:solidFill>
                  <a:srgbClr val="2E2744"/>
                </a:solidFill>
                <a:latin typeface="Calibri" pitchFamily="34" charset="0"/>
                <a:ea typeface="Calibri" pitchFamily="34" charset="-122"/>
                <a:cs typeface="Calibri" pitchFamily="34" charset="-120"/>
              </a:rPr>
              <a:t>Customer felt her skin looked brighter after treatment.</a:t>
            </a:r>
            <a:endParaRPr lang="en-US" sz="1300" dirty="0"/>
          </a:p>
        </p:txBody>
      </p:sp>
      <p:sp>
        <p:nvSpPr>
          <p:cNvPr id="25" name="Shape 17"/>
          <p:cNvSpPr/>
          <p:nvPr/>
        </p:nvSpPr>
        <p:spPr>
          <a:xfrm>
            <a:off x="3566160" y="4297680"/>
            <a:ext cx="4206240" cy="2103120"/>
          </a:xfrm>
          <a:prstGeom prst="roundRect">
            <a:avLst>
              <a:gd name="adj" fmla="val 7826"/>
            </a:avLst>
          </a:prstGeom>
          <a:solidFill>
            <a:srgbClr val="FCEAEF"/>
          </a:solidFill>
          <a:ln w="12700">
            <a:solidFill>
              <a:srgbClr val="FCEAEF"/>
            </a:solidFill>
            <a:prstDash val="solid"/>
          </a:ln>
        </p:spPr>
      </p:sp>
      <p:pic>
        <p:nvPicPr>
          <p:cNvPr id="26" name="Image 5" descr="preencoded.png">    </p:cNvPr>
          <p:cNvPicPr>
            <a:picLocks noChangeAspect="1"/>
          </p:cNvPicPr>
          <p:nvPr/>
        </p:nvPicPr>
        <p:blipFill>
          <a:blip r:embed="rId7"/>
          <a:stretch>
            <a:fillRect/>
          </a:stretch>
        </p:blipFill>
        <p:spPr>
          <a:xfrm>
            <a:off x="3840480" y="4663440"/>
            <a:ext cx="310896" cy="310896"/>
          </a:xfrm>
          <a:prstGeom prst="rect">
            <a:avLst/>
          </a:prstGeom>
        </p:spPr>
      </p:pic>
      <p:sp>
        <p:nvSpPr>
          <p:cNvPr id="27" name="Text 18"/>
          <p:cNvSpPr txBox="1"/>
          <p:nvPr/>
        </p:nvSpPr>
        <p:spPr>
          <a:xfrm>
            <a:off x="4279392" y="4663440"/>
            <a:ext cx="2743200" cy="310896"/>
          </a:xfrm>
          <a:prstGeom prst="rect">
            <a:avLst/>
          </a:prstGeom>
          <a:noFill/>
          <a:ln/>
        </p:spPr>
        <p:txBody>
          <a:bodyPr wrap="square" lIns="0" tIns="0" rIns="0" bIns="0" rtlCol="0" anchor="ctr"/>
          <a:lstStyle/>
          <a:p>
            <a:pPr indent="0" marL="0">
              <a:buNone/>
            </a:pPr>
            <a:r>
              <a:rPr lang="en-US" sz="1100" b="1" spc="100" kern="0" dirty="0">
                <a:solidFill>
                  <a:srgbClr val="B03D5B"/>
                </a:solidFill>
                <a:latin typeface="Calibri" pitchFamily="34" charset="0"/>
                <a:ea typeface="Calibri" pitchFamily="34" charset="-122"/>
                <a:cs typeface="Calibri" pitchFamily="34" charset="-120"/>
              </a:rPr>
              <a:t>IN THE CUSTOMER'S WORDS</a:t>
            </a:r>
            <a:endParaRPr lang="en-US" sz="1100" dirty="0"/>
          </a:p>
        </p:txBody>
      </p:sp>
      <p:sp>
        <p:nvSpPr>
          <p:cNvPr id="28" name="Text 19"/>
          <p:cNvSpPr txBox="1"/>
          <p:nvPr/>
        </p:nvSpPr>
        <p:spPr>
          <a:xfrm>
            <a:off x="3840480" y="5193792"/>
            <a:ext cx="3703320" cy="457200"/>
          </a:xfrm>
          <a:prstGeom prst="rect">
            <a:avLst/>
          </a:prstGeom>
          <a:noFill/>
          <a:ln/>
        </p:spPr>
        <p:txBody>
          <a:bodyPr wrap="square" lIns="0" tIns="0" rIns="0" bIns="0" rtlCol="0" anchor="t"/>
          <a:lstStyle/>
          <a:p>
            <a:pPr indent="0" marL="0">
              <a:buNone/>
            </a:pPr>
            <a:r>
              <a:rPr lang="en-US" sz="2000" b="1" dirty="0">
                <a:solidFill>
                  <a:srgbClr val="3B2A5A"/>
                </a:solidFill>
                <a:latin typeface="Microsoft YaHei" pitchFamily="34" charset="0"/>
                <a:ea typeface="Microsoft YaHei" pitchFamily="34" charset="-122"/>
                <a:cs typeface="Microsoft YaHei" pitchFamily="34" charset="-120"/>
              </a:rPr>
              <a:t>“满意效果，皮肤比较白了。”</a:t>
            </a:r>
            <a:endParaRPr lang="en-US" sz="2000" dirty="0"/>
          </a:p>
        </p:txBody>
      </p:sp>
      <p:sp>
        <p:nvSpPr>
          <p:cNvPr id="29" name="Text 20"/>
          <p:cNvSpPr txBox="1"/>
          <p:nvPr/>
        </p:nvSpPr>
        <p:spPr>
          <a:xfrm>
            <a:off x="3840480" y="5760720"/>
            <a:ext cx="3703320" cy="365760"/>
          </a:xfrm>
          <a:prstGeom prst="rect">
            <a:avLst/>
          </a:prstGeom>
          <a:noFill/>
          <a:ln/>
        </p:spPr>
        <p:txBody>
          <a:bodyPr wrap="square" lIns="0" tIns="0" rIns="0" bIns="0" rtlCol="0" anchor="t"/>
          <a:lstStyle/>
          <a:p>
            <a:pPr indent="0" marL="0">
              <a:buNone/>
            </a:pPr>
            <a:r>
              <a:rPr lang="en-US" sz="1300" i="1" dirty="0">
                <a:solidFill>
                  <a:srgbClr val="6E6784"/>
                </a:solidFill>
                <a:latin typeface="Calibri" pitchFamily="34" charset="0"/>
                <a:ea typeface="Calibri" pitchFamily="34" charset="-122"/>
                <a:cs typeface="Calibri" pitchFamily="34" charset="-120"/>
              </a:rPr>
              <a:t>“Happy with the result — my skin looks brighter now.”</a:t>
            </a:r>
            <a:endParaRPr lang="en-US" sz="1300" dirty="0"/>
          </a:p>
        </p:txBody>
      </p:sp>
      <p:sp>
        <p:nvSpPr>
          <p:cNvPr id="30" name="Shape 21"/>
          <p:cNvSpPr/>
          <p:nvPr/>
        </p:nvSpPr>
        <p:spPr>
          <a:xfrm>
            <a:off x="8046720" y="1463040"/>
            <a:ext cx="3593592" cy="4937760"/>
          </a:xfrm>
          <a:prstGeom prst="roundRect">
            <a:avLst>
              <a:gd name="adj" fmla="val 4580"/>
            </a:avLst>
          </a:prstGeom>
          <a:solidFill>
            <a:srgbClr val="FFFFFF"/>
          </a:solidFill>
          <a:ln w="12700">
            <a:solidFill>
              <a:srgbClr val="FFFFFF"/>
            </a:solidFill>
            <a:prstDash val="solid"/>
          </a:ln>
          <a:effectLst>
            <a:outerShdw sx="100000" sy="100000" kx="0" ky="0" algn="bl" rotWithShape="0" blurRad="127000" dist="25400" dir="5400000">
              <a:srgbClr val="3B2A5A">
                <a:alpha val="10000"/>
              </a:srgbClr>
            </a:outerShdw>
          </a:effectLst>
        </p:spPr>
      </p:sp>
      <p:sp>
        <p:nvSpPr>
          <p:cNvPr id="31" name="Shape 22"/>
          <p:cNvSpPr/>
          <p:nvPr/>
        </p:nvSpPr>
        <p:spPr>
          <a:xfrm>
            <a:off x="8321040" y="1719072"/>
            <a:ext cx="365760" cy="365760"/>
          </a:xfrm>
          <a:prstGeom prst="ellipse">
            <a:avLst/>
          </a:prstGeom>
          <a:solidFill>
            <a:srgbClr val="DD5C7B"/>
          </a:solidFill>
          <a:ln w="12700">
            <a:solidFill>
              <a:srgbClr val="DD5C7B"/>
            </a:solidFill>
            <a:prstDash val="solid"/>
          </a:ln>
        </p:spPr>
      </p:sp>
      <p:pic>
        <p:nvPicPr>
          <p:cNvPr id="32" name="Image 6" descr="preencoded.png">    </p:cNvPr>
          <p:cNvPicPr>
            <a:picLocks noChangeAspect="1"/>
          </p:cNvPicPr>
          <p:nvPr/>
        </p:nvPicPr>
        <p:blipFill>
          <a:blip r:embed="rId8"/>
          <a:stretch>
            <a:fillRect/>
          </a:stretch>
        </p:blipFill>
        <p:spPr>
          <a:xfrm>
            <a:off x="8408822" y="1806854"/>
            <a:ext cx="190195" cy="190195"/>
          </a:xfrm>
          <a:prstGeom prst="rect">
            <a:avLst/>
          </a:prstGeom>
        </p:spPr>
      </p:pic>
      <p:sp>
        <p:nvSpPr>
          <p:cNvPr id="33" name="Text 23"/>
          <p:cNvSpPr txBox="1"/>
          <p:nvPr/>
        </p:nvSpPr>
        <p:spPr>
          <a:xfrm>
            <a:off x="8796528" y="1719072"/>
            <a:ext cx="3657600" cy="365760"/>
          </a:xfrm>
          <a:prstGeom prst="rect">
            <a:avLst/>
          </a:prstGeom>
          <a:noFill/>
          <a:ln/>
        </p:spPr>
        <p:txBody>
          <a:bodyPr wrap="square" lIns="0" tIns="0" rIns="0" bIns="0" rtlCol="0" anchor="ctr"/>
          <a:lstStyle/>
          <a:p>
            <a:pPr indent="0" marL="0">
              <a:buNone/>
            </a:pPr>
            <a:r>
              <a:rPr lang="en-US" sz="1700" b="1" dirty="0">
                <a:solidFill>
                  <a:srgbClr val="3B2A5A"/>
                </a:solidFill>
                <a:latin typeface="Calibri" pitchFamily="34" charset="0"/>
                <a:ea typeface="Calibri" pitchFamily="34" charset="-122"/>
                <a:cs typeface="Calibri" pitchFamily="34" charset="-120"/>
              </a:rPr>
              <a:t>Room to grow</a:t>
            </a:r>
            <a:endParaRPr lang="en-US" sz="1700" dirty="0"/>
          </a:p>
        </p:txBody>
      </p:sp>
      <p:sp>
        <p:nvSpPr>
          <p:cNvPr id="34" name="Text 24"/>
          <p:cNvSpPr txBox="1"/>
          <p:nvPr/>
        </p:nvSpPr>
        <p:spPr>
          <a:xfrm>
            <a:off x="8321040" y="2240280"/>
            <a:ext cx="3136392" cy="256032"/>
          </a:xfrm>
          <a:prstGeom prst="rect">
            <a:avLst/>
          </a:prstGeom>
          <a:noFill/>
          <a:ln/>
        </p:spPr>
        <p:txBody>
          <a:bodyPr wrap="square" lIns="0" tIns="0" rIns="0" bIns="0" rtlCol="0" anchor="t"/>
          <a:lstStyle/>
          <a:p>
            <a:pPr indent="0" marL="0">
              <a:buNone/>
            </a:pPr>
            <a:r>
              <a:rPr lang="en-US" sz="1050" b="1" spc="100" kern="0" dirty="0">
                <a:solidFill>
                  <a:srgbClr val="B03D5B"/>
                </a:solidFill>
                <a:latin typeface="Calibri" pitchFamily="34" charset="0"/>
                <a:ea typeface="Calibri" pitchFamily="34" charset="-122"/>
                <a:cs typeface="Calibri" pitchFamily="34" charset="-120"/>
              </a:rPr>
              <a:t>WHAT FELT UNCOMFORTABLE</a:t>
            </a:r>
            <a:endParaRPr lang="en-US" sz="1050" dirty="0"/>
          </a:p>
        </p:txBody>
      </p:sp>
      <p:sp>
        <p:nvSpPr>
          <p:cNvPr id="35" name="Shape 25"/>
          <p:cNvSpPr/>
          <p:nvPr/>
        </p:nvSpPr>
        <p:spPr>
          <a:xfrm>
            <a:off x="8321040" y="2560320"/>
            <a:ext cx="402336" cy="402336"/>
          </a:xfrm>
          <a:prstGeom prst="ellipse">
            <a:avLst/>
          </a:prstGeom>
          <a:solidFill>
            <a:srgbClr val="FCEAEF"/>
          </a:solidFill>
          <a:ln w="12700">
            <a:solidFill>
              <a:srgbClr val="FCEAEF"/>
            </a:solidFill>
            <a:prstDash val="solid"/>
          </a:ln>
        </p:spPr>
      </p:sp>
      <p:pic>
        <p:nvPicPr>
          <p:cNvPr id="36" name="Image 7" descr="preencoded.png">    </p:cNvPr>
          <p:cNvPicPr>
            <a:picLocks noChangeAspect="1"/>
          </p:cNvPicPr>
          <p:nvPr/>
        </p:nvPicPr>
        <p:blipFill>
          <a:blip r:embed="rId9"/>
          <a:stretch>
            <a:fillRect/>
          </a:stretch>
        </p:blipFill>
        <p:spPr>
          <a:xfrm>
            <a:off x="8417601" y="2656881"/>
            <a:ext cx="209215" cy="209215"/>
          </a:xfrm>
          <a:prstGeom prst="rect">
            <a:avLst/>
          </a:prstGeom>
        </p:spPr>
      </p:pic>
      <p:sp>
        <p:nvSpPr>
          <p:cNvPr id="37" name="Text 26"/>
          <p:cNvSpPr txBox="1"/>
          <p:nvPr/>
        </p:nvSpPr>
        <p:spPr>
          <a:xfrm>
            <a:off x="8887968" y="2578608"/>
            <a:ext cx="2569464" cy="429768"/>
          </a:xfrm>
          <a:prstGeom prst="rect">
            <a:avLst/>
          </a:prstGeom>
          <a:noFill/>
          <a:ln/>
        </p:spPr>
        <p:txBody>
          <a:bodyPr wrap="square" lIns="0" tIns="0" rIns="0" bIns="0" rtlCol="0" anchor="t"/>
          <a:lstStyle/>
          <a:p>
            <a:pPr indent="0" marL="0">
              <a:buNone/>
            </a:pPr>
            <a:r>
              <a:rPr lang="en-US" sz="1250" dirty="0">
                <a:solidFill>
                  <a:srgbClr val="2E2744"/>
                </a:solidFill>
                <a:latin typeface="Calibri" pitchFamily="34" charset="0"/>
                <a:ea typeface="Calibri" pitchFamily="34" charset="-122"/>
                <a:cs typeface="Calibri" pitchFamily="34" charset="-120"/>
              </a:rPr>
              <a:t>Felt pushed toward products / packages.</a:t>
            </a:r>
            <a:endParaRPr lang="en-US" sz="1250" dirty="0"/>
          </a:p>
        </p:txBody>
      </p:sp>
      <p:sp>
        <p:nvSpPr>
          <p:cNvPr id="38" name="Shape 27"/>
          <p:cNvSpPr/>
          <p:nvPr/>
        </p:nvSpPr>
        <p:spPr>
          <a:xfrm>
            <a:off x="8321040" y="3063240"/>
            <a:ext cx="402336" cy="402336"/>
          </a:xfrm>
          <a:prstGeom prst="ellipse">
            <a:avLst/>
          </a:prstGeom>
          <a:solidFill>
            <a:srgbClr val="FCEAEF"/>
          </a:solidFill>
          <a:ln w="12700">
            <a:solidFill>
              <a:srgbClr val="FCEAEF"/>
            </a:solidFill>
            <a:prstDash val="solid"/>
          </a:ln>
        </p:spPr>
      </p:sp>
      <p:pic>
        <p:nvPicPr>
          <p:cNvPr id="39" name="Image 8" descr="preencoded.png">    </p:cNvPr>
          <p:cNvPicPr>
            <a:picLocks noChangeAspect="1"/>
          </p:cNvPicPr>
          <p:nvPr/>
        </p:nvPicPr>
        <p:blipFill>
          <a:blip r:embed="rId10"/>
          <a:stretch>
            <a:fillRect/>
          </a:stretch>
        </p:blipFill>
        <p:spPr>
          <a:xfrm>
            <a:off x="8417601" y="3159801"/>
            <a:ext cx="209215" cy="209215"/>
          </a:xfrm>
          <a:prstGeom prst="rect">
            <a:avLst/>
          </a:prstGeom>
        </p:spPr>
      </p:pic>
      <p:sp>
        <p:nvSpPr>
          <p:cNvPr id="40" name="Text 28"/>
          <p:cNvSpPr txBox="1"/>
          <p:nvPr/>
        </p:nvSpPr>
        <p:spPr>
          <a:xfrm>
            <a:off x="8887968" y="3081528"/>
            <a:ext cx="2569464" cy="429768"/>
          </a:xfrm>
          <a:prstGeom prst="rect">
            <a:avLst/>
          </a:prstGeom>
          <a:noFill/>
          <a:ln/>
        </p:spPr>
        <p:txBody>
          <a:bodyPr wrap="square" lIns="0" tIns="0" rIns="0" bIns="0" rtlCol="0" anchor="t"/>
          <a:lstStyle/>
          <a:p>
            <a:pPr indent="0" marL="0">
              <a:buNone/>
            </a:pPr>
            <a:r>
              <a:rPr lang="en-US" sz="1250" dirty="0">
                <a:solidFill>
                  <a:srgbClr val="2E2744"/>
                </a:solidFill>
                <a:latin typeface="Calibri" pitchFamily="34" charset="0"/>
                <a:ea typeface="Calibri" pitchFamily="34" charset="-122"/>
                <a:cs typeface="Calibri" pitchFamily="34" charset="-120"/>
              </a:rPr>
              <a:t>Price felt unaffordable and caused pressure.</a:t>
            </a:r>
            <a:endParaRPr lang="en-US" sz="1250" dirty="0"/>
          </a:p>
        </p:txBody>
      </p:sp>
      <p:sp>
        <p:nvSpPr>
          <p:cNvPr id="41" name="Text 29"/>
          <p:cNvSpPr txBox="1"/>
          <p:nvPr/>
        </p:nvSpPr>
        <p:spPr>
          <a:xfrm>
            <a:off x="8321040" y="3675888"/>
            <a:ext cx="3136392" cy="256032"/>
          </a:xfrm>
          <a:prstGeom prst="rect">
            <a:avLst/>
          </a:prstGeom>
          <a:noFill/>
          <a:ln/>
        </p:spPr>
        <p:txBody>
          <a:bodyPr wrap="square" lIns="0" tIns="0" rIns="0" bIns="0" rtlCol="0" anchor="t"/>
          <a:lstStyle/>
          <a:p>
            <a:pPr indent="0" marL="0">
              <a:buNone/>
            </a:pPr>
            <a:r>
              <a:rPr lang="en-US" sz="1050" b="1" spc="100" kern="0" dirty="0">
                <a:solidFill>
                  <a:srgbClr val="B03D5B"/>
                </a:solidFill>
                <a:latin typeface="Calibri" pitchFamily="34" charset="0"/>
                <a:ea typeface="Calibri" pitchFamily="34" charset="-122"/>
                <a:cs typeface="Calibri" pitchFamily="34" charset="-120"/>
              </a:rPr>
              <a:t>OTHER IMPROVEMENT POINTS</a:t>
            </a:r>
            <a:endParaRPr lang="en-US" sz="1050" dirty="0"/>
          </a:p>
        </p:txBody>
      </p:sp>
      <p:sp>
        <p:nvSpPr>
          <p:cNvPr id="42" name="Shape 30"/>
          <p:cNvSpPr/>
          <p:nvPr/>
        </p:nvSpPr>
        <p:spPr>
          <a:xfrm>
            <a:off x="8321040" y="3995928"/>
            <a:ext cx="402336" cy="402336"/>
          </a:xfrm>
          <a:prstGeom prst="ellipse">
            <a:avLst/>
          </a:prstGeom>
          <a:solidFill>
            <a:srgbClr val="FCEAEF"/>
          </a:solidFill>
          <a:ln w="12700">
            <a:solidFill>
              <a:srgbClr val="FCEAEF"/>
            </a:solidFill>
            <a:prstDash val="solid"/>
          </a:ln>
        </p:spPr>
      </p:sp>
      <p:pic>
        <p:nvPicPr>
          <p:cNvPr id="43" name="Image 9" descr="preencoded.png">    </p:cNvPr>
          <p:cNvPicPr>
            <a:picLocks noChangeAspect="1"/>
          </p:cNvPicPr>
          <p:nvPr/>
        </p:nvPicPr>
        <p:blipFill>
          <a:blip r:embed="rId11"/>
          <a:stretch>
            <a:fillRect/>
          </a:stretch>
        </p:blipFill>
        <p:spPr>
          <a:xfrm>
            <a:off x="8417601" y="4092489"/>
            <a:ext cx="209215" cy="209215"/>
          </a:xfrm>
          <a:prstGeom prst="rect">
            <a:avLst/>
          </a:prstGeom>
        </p:spPr>
      </p:pic>
      <p:sp>
        <p:nvSpPr>
          <p:cNvPr id="44" name="Text 31"/>
          <p:cNvSpPr txBox="1"/>
          <p:nvPr/>
        </p:nvSpPr>
        <p:spPr>
          <a:xfrm>
            <a:off x="8887968" y="4014216"/>
            <a:ext cx="2569464" cy="475488"/>
          </a:xfrm>
          <a:prstGeom prst="rect">
            <a:avLst/>
          </a:prstGeom>
          <a:noFill/>
          <a:ln/>
        </p:spPr>
        <p:txBody>
          <a:bodyPr wrap="square" lIns="0" tIns="0" rIns="0" bIns="0" rtlCol="0" anchor="t"/>
          <a:lstStyle/>
          <a:p>
            <a:pPr indent="0" marL="0">
              <a:buNone/>
            </a:pPr>
            <a:r>
              <a:rPr lang="en-US" sz="1250" dirty="0">
                <a:solidFill>
                  <a:srgbClr val="2E2744"/>
                </a:solidFill>
                <a:latin typeface="Calibri" pitchFamily="34" charset="0"/>
                <a:ea typeface="Calibri" pitchFamily="34" charset="-122"/>
                <a:cs typeface="Calibri" pitchFamily="34" charset="-120"/>
              </a:rPr>
              <a:t>Process could be faster; less waiting between steps.</a:t>
            </a:r>
            <a:endParaRPr lang="en-US" sz="1250" dirty="0"/>
          </a:p>
        </p:txBody>
      </p:sp>
      <p:sp>
        <p:nvSpPr>
          <p:cNvPr id="45" name="Shape 32"/>
          <p:cNvSpPr/>
          <p:nvPr/>
        </p:nvSpPr>
        <p:spPr>
          <a:xfrm>
            <a:off x="8321040" y="4544568"/>
            <a:ext cx="402336" cy="402336"/>
          </a:xfrm>
          <a:prstGeom prst="ellipse">
            <a:avLst/>
          </a:prstGeom>
          <a:solidFill>
            <a:srgbClr val="FCEAEF"/>
          </a:solidFill>
          <a:ln w="12700">
            <a:solidFill>
              <a:srgbClr val="FCEAEF"/>
            </a:solidFill>
            <a:prstDash val="solid"/>
          </a:ln>
        </p:spPr>
      </p:sp>
      <p:pic>
        <p:nvPicPr>
          <p:cNvPr id="46" name="Image 10" descr="preencoded.png">    </p:cNvPr>
          <p:cNvPicPr>
            <a:picLocks noChangeAspect="1"/>
          </p:cNvPicPr>
          <p:nvPr/>
        </p:nvPicPr>
        <p:blipFill>
          <a:blip r:embed="rId12"/>
          <a:stretch>
            <a:fillRect/>
          </a:stretch>
        </p:blipFill>
        <p:spPr>
          <a:xfrm>
            <a:off x="8417601" y="4641129"/>
            <a:ext cx="209215" cy="209215"/>
          </a:xfrm>
          <a:prstGeom prst="rect">
            <a:avLst/>
          </a:prstGeom>
        </p:spPr>
      </p:pic>
      <p:sp>
        <p:nvSpPr>
          <p:cNvPr id="47" name="Text 33"/>
          <p:cNvSpPr txBox="1"/>
          <p:nvPr/>
        </p:nvSpPr>
        <p:spPr>
          <a:xfrm>
            <a:off x="8887968" y="4562856"/>
            <a:ext cx="2569464" cy="475488"/>
          </a:xfrm>
          <a:prstGeom prst="rect">
            <a:avLst/>
          </a:prstGeom>
          <a:noFill/>
          <a:ln/>
        </p:spPr>
        <p:txBody>
          <a:bodyPr wrap="square" lIns="0" tIns="0" rIns="0" bIns="0" rtlCol="0" anchor="t"/>
          <a:lstStyle/>
          <a:p>
            <a:pPr indent="0" marL="0">
              <a:buNone/>
            </a:pPr>
            <a:r>
              <a:rPr lang="en-US" sz="1250" dirty="0">
                <a:solidFill>
                  <a:srgbClr val="2E2744"/>
                </a:solidFill>
                <a:latin typeface="Calibri" pitchFamily="34" charset="0"/>
                <a:ea typeface="Calibri" pitchFamily="34" charset="-122"/>
                <a:cs typeface="Calibri" pitchFamily="34" charset="-120"/>
              </a:rPr>
              <a:t>Corridor conversations during treatment were quite loud.</a:t>
            </a:r>
            <a:endParaRPr lang="en-US" sz="1250" dirty="0"/>
          </a:p>
        </p:txBody>
      </p:sp>
      <p:sp>
        <p:nvSpPr>
          <p:cNvPr id="48" name="Shape 34"/>
          <p:cNvSpPr/>
          <p:nvPr/>
        </p:nvSpPr>
        <p:spPr>
          <a:xfrm>
            <a:off x="8321040" y="5093208"/>
            <a:ext cx="402336" cy="402336"/>
          </a:xfrm>
          <a:prstGeom prst="ellipse">
            <a:avLst/>
          </a:prstGeom>
          <a:solidFill>
            <a:srgbClr val="FCEAEF"/>
          </a:solidFill>
          <a:ln w="12700">
            <a:solidFill>
              <a:srgbClr val="FCEAEF"/>
            </a:solidFill>
            <a:prstDash val="solid"/>
          </a:ln>
        </p:spPr>
      </p:sp>
      <p:pic>
        <p:nvPicPr>
          <p:cNvPr id="49" name="Image 11" descr="preencoded.png">    </p:cNvPr>
          <p:cNvPicPr>
            <a:picLocks noChangeAspect="1"/>
          </p:cNvPicPr>
          <p:nvPr/>
        </p:nvPicPr>
        <p:blipFill>
          <a:blip r:embed="rId13"/>
          <a:stretch>
            <a:fillRect/>
          </a:stretch>
        </p:blipFill>
        <p:spPr>
          <a:xfrm>
            <a:off x="8417601" y="5189769"/>
            <a:ext cx="209215" cy="209215"/>
          </a:xfrm>
          <a:prstGeom prst="rect">
            <a:avLst/>
          </a:prstGeom>
        </p:spPr>
      </p:pic>
      <p:sp>
        <p:nvSpPr>
          <p:cNvPr id="50" name="Text 35"/>
          <p:cNvSpPr txBox="1"/>
          <p:nvPr/>
        </p:nvSpPr>
        <p:spPr>
          <a:xfrm>
            <a:off x="8887968" y="5111496"/>
            <a:ext cx="2569464" cy="475488"/>
          </a:xfrm>
          <a:prstGeom prst="rect">
            <a:avLst/>
          </a:prstGeom>
          <a:noFill/>
          <a:ln/>
        </p:spPr>
        <p:txBody>
          <a:bodyPr wrap="square" lIns="0" tIns="0" rIns="0" bIns="0" rtlCol="0" anchor="t"/>
          <a:lstStyle/>
          <a:p>
            <a:pPr indent="0" marL="0">
              <a:buNone/>
            </a:pPr>
            <a:r>
              <a:rPr lang="en-US" sz="1250" dirty="0">
                <a:solidFill>
                  <a:srgbClr val="2E2744"/>
                </a:solidFill>
                <a:latin typeface="Calibri" pitchFamily="34" charset="0"/>
                <a:ea typeface="Calibri" pitchFamily="34" charset="-122"/>
                <a:cs typeface="Calibri" pitchFamily="34" charset="-120"/>
              </a:rPr>
              <a:t>Prefers WhatsApp messages rather than direct phone calls.</a:t>
            </a:r>
            <a:endParaRPr lang="en-US" sz="1250" dirty="0"/>
          </a:p>
        </p:txBody>
      </p:sp>
      <p:sp>
        <p:nvSpPr>
          <p:cNvPr id="51" name="Text 36"/>
          <p:cNvSpPr txBox="1"/>
          <p:nvPr/>
        </p:nvSpPr>
        <p:spPr>
          <a:xfrm>
            <a:off x="8321040" y="5687568"/>
            <a:ext cx="3136392" cy="566928"/>
          </a:xfrm>
          <a:prstGeom prst="rect">
            <a:avLst/>
          </a:prstGeom>
          <a:noFill/>
          <a:ln/>
        </p:spPr>
        <p:txBody>
          <a:bodyPr wrap="square" lIns="0" tIns="0" rIns="0" bIns="0" rtlCol="0" anchor="t"/>
          <a:lstStyle/>
          <a:p>
            <a:pPr indent="0" marL="0">
              <a:buNone/>
            </a:pPr>
            <a:r>
              <a:rPr lang="en-US" sz="1200" b="1" dirty="0">
                <a:solidFill>
                  <a:srgbClr val="3B2A5A"/>
                </a:solidFill>
                <a:latin typeface="Microsoft YaHei" pitchFamily="34" charset="0"/>
                <a:ea typeface="Microsoft YaHei" pitchFamily="34" charset="-122"/>
                <a:cs typeface="Microsoft YaHei" pitchFamily="34" charset="-120"/>
              </a:rPr>
              <a:t>“不太喜欢客服直接打电话，信息就好。”</a:t>
            </a:r>
            <a:endParaRPr lang="en-US" sz="1200" dirty="0"/>
          </a:p>
          <a:p>
            <a:pPr indent="0" marL="0">
              <a:buNone/>
            </a:pPr>
            <a:r>
              <a:rPr lang="en-US" sz="1150" i="1" dirty="0">
                <a:solidFill>
                  <a:srgbClr val="6E6784"/>
                </a:solidFill>
                <a:latin typeface="Calibri" pitchFamily="34" charset="0"/>
                <a:ea typeface="Calibri" pitchFamily="34" charset="-122"/>
                <a:cs typeface="Calibri" pitchFamily="34" charset="-120"/>
              </a:rPr>
              <a:t>“I'd rather not get direct calls — a message is fine.”</a:t>
            </a:r>
            <a:endParaRPr lang="en-US" sz="1200" dirty="0"/>
          </a:p>
        </p:txBody>
      </p:sp>
      <p:sp>
        <p:nvSpPr>
          <p:cNvPr id="25" name="Slide Number Placeholder 0"/>
          <p:cNvSpPr>
            <a:spLocks noGrp="1"/>
          </p:cNvSpPr>
          <p:nvPr>
            <p:ph type="sldNum" sz="quarter" idx="4294967295"/>
          </p:nvPr>
        </p:nvSpPr>
        <p:spPr>
          <a:xfrm>
            <a:off x="1129284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9DB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B"/>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594360"/>
          </a:xfrm>
          <a:prstGeom prst="rect">
            <a:avLst/>
          </a:prstGeom>
          <a:noFill/>
          <a:ln/>
        </p:spPr>
        <p:txBody>
          <a:bodyPr wrap="square" lIns="0" tIns="0" rIns="0" bIns="0" rtlCol="0" anchor="ctr"/>
          <a:lstStyle/>
          <a:p>
            <a:pPr indent="0" marL="0">
              <a:buNone/>
            </a:pPr>
            <a:r>
              <a:rPr lang="en-US" sz="3200" b="1" dirty="0">
                <a:solidFill>
                  <a:srgbClr val="3B2A5A"/>
                </a:solidFill>
                <a:latin typeface="Calibri" pitchFamily="34" charset="0"/>
                <a:ea typeface="Calibri" pitchFamily="34" charset="-122"/>
                <a:cs typeface="Calibri" pitchFamily="34" charset="-120"/>
              </a:rPr>
              <a:t>What the three shoppers actually experienced</a:t>
            </a:r>
            <a:endParaRPr lang="en-US" sz="3200" dirty="0"/>
          </a:p>
        </p:txBody>
      </p:sp>
      <p:sp>
        <p:nvSpPr>
          <p:cNvPr id="3" name="Text 1"/>
          <p:cNvSpPr txBox="1"/>
          <p:nvPr/>
        </p:nvSpPr>
        <p:spPr>
          <a:xfrm>
            <a:off x="548640" y="987552"/>
            <a:ext cx="10058400" cy="292608"/>
          </a:xfrm>
          <a:prstGeom prst="rect">
            <a:avLst/>
          </a:prstGeom>
          <a:noFill/>
          <a:ln/>
        </p:spPr>
        <p:txBody>
          <a:bodyPr wrap="square" lIns="0" tIns="0" rIns="0" bIns="0" rtlCol="0" anchor="t"/>
          <a:lstStyle/>
          <a:p>
            <a:pPr indent="0" marL="0">
              <a:buNone/>
            </a:pPr>
            <a:r>
              <a:rPr lang="en-US" sz="1300" dirty="0">
                <a:solidFill>
                  <a:srgbClr val="6E6784"/>
                </a:solidFill>
                <a:latin typeface="Calibri" pitchFamily="34" charset="0"/>
                <a:ea typeface="Calibri" pitchFamily="34" charset="-122"/>
                <a:cs typeface="Calibri" pitchFamily="34" charset="-120"/>
              </a:rPr>
              <a:t>Third-party perspective only — no cross-outlet assumptions.</a:t>
            </a:r>
            <a:endParaRPr lang="en-US" sz="1300" dirty="0"/>
          </a:p>
        </p:txBody>
      </p:sp>
      <p:sp>
        <p:nvSpPr>
          <p:cNvPr id="4" name="Shape 2"/>
          <p:cNvSpPr/>
          <p:nvPr/>
        </p:nvSpPr>
        <p:spPr>
          <a:xfrm>
            <a:off x="548640" y="1508760"/>
            <a:ext cx="11091672" cy="1481328"/>
          </a:xfrm>
          <a:prstGeom prst="roundRect">
            <a:avLst>
              <a:gd name="adj" fmla="val 11111"/>
            </a:avLst>
          </a:prstGeom>
          <a:solidFill>
            <a:srgbClr val="FFFFFF"/>
          </a:solidFill>
          <a:ln w="12700">
            <a:solidFill>
              <a:srgbClr val="FFFFFF"/>
            </a:solidFill>
            <a:prstDash val="solid"/>
          </a:ln>
          <a:effectLst>
            <a:outerShdw sx="100000" sy="100000" kx="0" ky="0" algn="bl" rotWithShape="0" blurRad="127000" dist="25400" dir="5400000">
              <a:srgbClr val="3B2A5A">
                <a:alpha val="10000"/>
              </a:srgbClr>
            </a:outerShdw>
          </a:effectLst>
        </p:spPr>
      </p:sp>
      <p:sp>
        <p:nvSpPr>
          <p:cNvPr id="5" name="Shape 3"/>
          <p:cNvSpPr/>
          <p:nvPr/>
        </p:nvSpPr>
        <p:spPr>
          <a:xfrm>
            <a:off x="822960" y="1883664"/>
            <a:ext cx="731520" cy="731520"/>
          </a:xfrm>
          <a:prstGeom prst="ellipse">
            <a:avLst/>
          </a:prstGeom>
          <a:solidFill>
            <a:srgbClr val="2A9D6E"/>
          </a:solidFill>
          <a:ln w="12700">
            <a:solidFill>
              <a:srgbClr val="2A9D6E"/>
            </a:solidFill>
            <a:prstDash val="solid"/>
          </a:ln>
        </p:spPr>
      </p:sp>
      <p:pic>
        <p:nvPicPr>
          <p:cNvPr id="6" name="Image 0" descr="preencoded.png">    </p:cNvPr>
          <p:cNvPicPr>
            <a:picLocks noChangeAspect="1"/>
          </p:cNvPicPr>
          <p:nvPr/>
        </p:nvPicPr>
        <p:blipFill>
          <a:blip r:embed="rId1"/>
          <a:stretch>
            <a:fillRect/>
          </a:stretch>
        </p:blipFill>
        <p:spPr>
          <a:xfrm>
            <a:off x="998525" y="2059229"/>
            <a:ext cx="380390" cy="380390"/>
          </a:xfrm>
          <a:prstGeom prst="rect">
            <a:avLst/>
          </a:prstGeom>
        </p:spPr>
      </p:pic>
      <p:sp>
        <p:nvSpPr>
          <p:cNvPr id="7" name="Text 4"/>
          <p:cNvSpPr txBox="1"/>
          <p:nvPr/>
        </p:nvSpPr>
        <p:spPr>
          <a:xfrm>
            <a:off x="1737360" y="1856232"/>
            <a:ext cx="2194560" cy="411480"/>
          </a:xfrm>
          <a:prstGeom prst="rect">
            <a:avLst/>
          </a:prstGeom>
          <a:noFill/>
          <a:ln/>
        </p:spPr>
        <p:txBody>
          <a:bodyPr wrap="square" lIns="0" tIns="0" rIns="0" bIns="0" rtlCol="0" anchor="ctr"/>
          <a:lstStyle/>
          <a:p>
            <a:pPr indent="0" marL="0">
              <a:buNone/>
            </a:pPr>
            <a:r>
              <a:rPr lang="en-US" sz="1900" b="1" dirty="0">
                <a:solidFill>
                  <a:srgbClr val="2A9D6E"/>
                </a:solidFill>
                <a:latin typeface="Calibri" pitchFamily="34" charset="0"/>
                <a:ea typeface="Calibri" pitchFamily="34" charset="-122"/>
                <a:cs typeface="Calibri" pitchFamily="34" charset="-120"/>
              </a:rPr>
              <a:t>Greenlane</a:t>
            </a:r>
            <a:endParaRPr lang="en-US" sz="1900" dirty="0"/>
          </a:p>
        </p:txBody>
      </p:sp>
      <p:sp>
        <p:nvSpPr>
          <p:cNvPr id="8" name="Text 5"/>
          <p:cNvSpPr txBox="1"/>
          <p:nvPr/>
        </p:nvSpPr>
        <p:spPr>
          <a:xfrm>
            <a:off x="1737360" y="2286000"/>
            <a:ext cx="2194560" cy="320040"/>
          </a:xfrm>
          <a:prstGeom prst="rect">
            <a:avLst/>
          </a:prstGeom>
          <a:noFill/>
          <a:ln/>
        </p:spPr>
        <p:txBody>
          <a:bodyPr wrap="square" lIns="0" tIns="0" rIns="0" bIns="0" rtlCol="0" anchor="ctr"/>
          <a:lstStyle/>
          <a:p>
            <a:pPr indent="0" marL="0">
              <a:buNone/>
            </a:pPr>
            <a:r>
              <a:rPr lang="en-US" sz="1300" dirty="0">
                <a:solidFill>
                  <a:srgbClr val="6E6784"/>
                </a:solidFill>
                <a:latin typeface="Calibri" pitchFamily="34" charset="0"/>
                <a:ea typeface="Calibri" pitchFamily="34" charset="-122"/>
                <a:cs typeface="Calibri" pitchFamily="34" charset="-120"/>
              </a:rPr>
              <a:t>Score 77.5</a:t>
            </a:r>
            <a:endParaRPr lang="en-US" sz="1300" dirty="0"/>
          </a:p>
        </p:txBody>
      </p:sp>
      <p:sp>
        <p:nvSpPr>
          <p:cNvPr id="9" name="Text 6"/>
          <p:cNvSpPr txBox="1"/>
          <p:nvPr/>
        </p:nvSpPr>
        <p:spPr>
          <a:xfrm>
            <a:off x="4069080" y="1783080"/>
            <a:ext cx="3474720" cy="256032"/>
          </a:xfrm>
          <a:prstGeom prst="rect">
            <a:avLst/>
          </a:prstGeom>
          <a:noFill/>
          <a:ln/>
        </p:spPr>
        <p:txBody>
          <a:bodyPr wrap="square" lIns="0" tIns="0" rIns="0" bIns="0" rtlCol="0" anchor="t"/>
          <a:lstStyle/>
          <a:p>
            <a:pPr indent="0" marL="0">
              <a:buNone/>
            </a:pPr>
            <a:r>
              <a:rPr lang="en-US" sz="1050" b="1" spc="100" kern="0" dirty="0">
                <a:solidFill>
                  <a:srgbClr val="1E7552"/>
                </a:solidFill>
                <a:latin typeface="Calibri" pitchFamily="34" charset="0"/>
                <a:ea typeface="Calibri" pitchFamily="34" charset="-122"/>
                <a:cs typeface="Calibri" pitchFamily="34" charset="-120"/>
              </a:rPr>
              <a:t>CUSTOMER POSITIVE</a:t>
            </a:r>
            <a:endParaRPr lang="en-US" sz="1050" dirty="0"/>
          </a:p>
        </p:txBody>
      </p:sp>
      <p:sp>
        <p:nvSpPr>
          <p:cNvPr id="10" name="Text 7"/>
          <p:cNvSpPr txBox="1"/>
          <p:nvPr/>
        </p:nvSpPr>
        <p:spPr>
          <a:xfrm>
            <a:off x="4069080" y="2075688"/>
            <a:ext cx="3474720" cy="685800"/>
          </a:xfrm>
          <a:prstGeom prst="rect">
            <a:avLst/>
          </a:prstGeom>
          <a:noFill/>
          <a:ln/>
        </p:spPr>
        <p:txBody>
          <a:bodyPr wrap="square" lIns="0" tIns="0" rIns="0" bIns="0" rtlCol="0" anchor="t"/>
          <a:lstStyle/>
          <a:p>
            <a:pPr indent="0" marL="0">
              <a:buNone/>
            </a:pPr>
            <a:r>
              <a:rPr lang="en-US" sz="1800" b="1" dirty="0">
                <a:solidFill>
                  <a:srgbClr val="3B2A5A"/>
                </a:solidFill>
                <a:latin typeface="Calibri" pitchFamily="34" charset="0"/>
                <a:ea typeface="Calibri" pitchFamily="34" charset="-122"/>
                <a:cs typeface="Calibri" pitchFamily="34" charset="-120"/>
              </a:rPr>
              <a:t>Impressive technology + thoughtful details</a:t>
            </a:r>
            <a:endParaRPr lang="en-US" sz="1800" dirty="0"/>
          </a:p>
        </p:txBody>
      </p:sp>
      <p:sp>
        <p:nvSpPr>
          <p:cNvPr id="11" name="Text 8"/>
          <p:cNvSpPr txBox="1"/>
          <p:nvPr/>
        </p:nvSpPr>
        <p:spPr>
          <a:xfrm>
            <a:off x="7818120" y="1783080"/>
            <a:ext cx="3566160" cy="256032"/>
          </a:xfrm>
          <a:prstGeom prst="rect">
            <a:avLst/>
          </a:prstGeom>
          <a:noFill/>
          <a:ln/>
        </p:spPr>
        <p:txBody>
          <a:bodyPr wrap="square" lIns="0" tIns="0" rIns="0" bIns="0" rtlCol="0" anchor="t"/>
          <a:lstStyle/>
          <a:p>
            <a:pPr indent="0" marL="0">
              <a:buNone/>
            </a:pPr>
            <a:r>
              <a:rPr lang="en-US" sz="1050" b="1" spc="100" kern="0" dirty="0">
                <a:solidFill>
                  <a:srgbClr val="1E7552"/>
                </a:solidFill>
                <a:latin typeface="Calibri" pitchFamily="34" charset="0"/>
                <a:ea typeface="Calibri" pitchFamily="34" charset="-122"/>
                <a:cs typeface="Calibri" pitchFamily="34" charset="-120"/>
              </a:rPr>
              <a:t>IMPROVEMENT SIGNALS</a:t>
            </a:r>
            <a:endParaRPr lang="en-US" sz="1050" dirty="0"/>
          </a:p>
        </p:txBody>
      </p:sp>
      <p:sp>
        <p:nvSpPr>
          <p:cNvPr id="12" name="Shape 9"/>
          <p:cNvSpPr/>
          <p:nvPr/>
        </p:nvSpPr>
        <p:spPr>
          <a:xfrm>
            <a:off x="7818120" y="2112264"/>
            <a:ext cx="946404" cy="347472"/>
          </a:xfrm>
          <a:prstGeom prst="roundRect">
            <a:avLst>
              <a:gd name="adj" fmla="val 50000"/>
            </a:avLst>
          </a:prstGeom>
          <a:solidFill>
            <a:srgbClr val="E6F5EE"/>
          </a:solidFill>
          <a:ln w="12700">
            <a:solidFill>
              <a:srgbClr val="E6F5EE"/>
            </a:solidFill>
            <a:prstDash val="solid"/>
          </a:ln>
        </p:spPr>
      </p:sp>
      <p:pic>
        <p:nvPicPr>
          <p:cNvPr id="13" name="Image 1" descr="preencoded.png">    </p:cNvPr>
          <p:cNvPicPr>
            <a:picLocks noChangeAspect="1"/>
          </p:cNvPicPr>
          <p:nvPr/>
        </p:nvPicPr>
        <p:blipFill>
          <a:blip r:embed="rId2"/>
          <a:stretch>
            <a:fillRect/>
          </a:stretch>
        </p:blipFill>
        <p:spPr>
          <a:xfrm>
            <a:off x="7936992" y="2194560"/>
            <a:ext cx="182880" cy="182880"/>
          </a:xfrm>
          <a:prstGeom prst="rect">
            <a:avLst/>
          </a:prstGeom>
        </p:spPr>
      </p:pic>
      <p:sp>
        <p:nvSpPr>
          <p:cNvPr id="14" name="Text 10"/>
          <p:cNvSpPr txBox="1"/>
          <p:nvPr/>
        </p:nvSpPr>
        <p:spPr>
          <a:xfrm>
            <a:off x="8183880" y="2112264"/>
            <a:ext cx="534924" cy="347472"/>
          </a:xfrm>
          <a:prstGeom prst="rect">
            <a:avLst/>
          </a:prstGeom>
          <a:noFill/>
          <a:ln/>
        </p:spPr>
        <p:txBody>
          <a:bodyPr wrap="square" lIns="0" tIns="0" rIns="0" bIns="0" rtlCol="0" anchor="ctr"/>
          <a:lstStyle/>
          <a:p>
            <a:pPr indent="0" marL="0">
              <a:buNone/>
            </a:pPr>
            <a:r>
              <a:rPr lang="en-US" sz="1200" b="1" dirty="0">
                <a:solidFill>
                  <a:srgbClr val="1E7552"/>
                </a:solidFill>
                <a:latin typeface="Calibri" pitchFamily="34" charset="0"/>
                <a:ea typeface="Calibri" pitchFamily="34" charset="-122"/>
                <a:cs typeface="Calibri" pitchFamily="34" charset="-120"/>
              </a:rPr>
              <a:t>Price</a:t>
            </a:r>
            <a:endParaRPr lang="en-US" sz="1200" dirty="0"/>
          </a:p>
        </p:txBody>
      </p:sp>
      <p:sp>
        <p:nvSpPr>
          <p:cNvPr id="15" name="Shape 11"/>
          <p:cNvSpPr/>
          <p:nvPr/>
        </p:nvSpPr>
        <p:spPr>
          <a:xfrm>
            <a:off x="8874252" y="2112264"/>
            <a:ext cx="1553566" cy="347472"/>
          </a:xfrm>
          <a:prstGeom prst="roundRect">
            <a:avLst>
              <a:gd name="adj" fmla="val 50000"/>
            </a:avLst>
          </a:prstGeom>
          <a:solidFill>
            <a:srgbClr val="E6F5EE"/>
          </a:solidFill>
          <a:ln w="12700">
            <a:solidFill>
              <a:srgbClr val="E6F5EE"/>
            </a:solidFill>
            <a:prstDash val="solid"/>
          </a:ln>
        </p:spPr>
      </p:sp>
      <p:pic>
        <p:nvPicPr>
          <p:cNvPr id="16" name="Image 2" descr="preencoded.png">    </p:cNvPr>
          <p:cNvPicPr>
            <a:picLocks noChangeAspect="1"/>
          </p:cNvPicPr>
          <p:nvPr/>
        </p:nvPicPr>
        <p:blipFill>
          <a:blip r:embed="rId3"/>
          <a:stretch>
            <a:fillRect/>
          </a:stretch>
        </p:blipFill>
        <p:spPr>
          <a:xfrm>
            <a:off x="8993124" y="2194560"/>
            <a:ext cx="182880" cy="182880"/>
          </a:xfrm>
          <a:prstGeom prst="rect">
            <a:avLst/>
          </a:prstGeom>
        </p:spPr>
      </p:pic>
      <p:sp>
        <p:nvSpPr>
          <p:cNvPr id="17" name="Text 12"/>
          <p:cNvSpPr txBox="1"/>
          <p:nvPr/>
        </p:nvSpPr>
        <p:spPr>
          <a:xfrm>
            <a:off x="9240012" y="2112264"/>
            <a:ext cx="1142086" cy="347472"/>
          </a:xfrm>
          <a:prstGeom prst="rect">
            <a:avLst/>
          </a:prstGeom>
          <a:noFill/>
          <a:ln/>
        </p:spPr>
        <p:txBody>
          <a:bodyPr wrap="square" lIns="0" tIns="0" rIns="0" bIns="0" rtlCol="0" anchor="ctr"/>
          <a:lstStyle/>
          <a:p>
            <a:pPr indent="0" marL="0">
              <a:buNone/>
            </a:pPr>
            <a:r>
              <a:rPr lang="en-US" sz="1200" b="1" dirty="0">
                <a:solidFill>
                  <a:srgbClr val="1E7552"/>
                </a:solidFill>
                <a:latin typeface="Calibri" pitchFamily="34" charset="0"/>
                <a:ea typeface="Calibri" pitchFamily="34" charset="-122"/>
                <a:cs typeface="Calibri" pitchFamily="34" charset="-120"/>
              </a:rPr>
              <a:t>AI engagement</a:t>
            </a:r>
            <a:endParaRPr lang="en-US" sz="1200" dirty="0"/>
          </a:p>
        </p:txBody>
      </p:sp>
      <p:sp>
        <p:nvSpPr>
          <p:cNvPr id="18" name="Shape 13"/>
          <p:cNvSpPr/>
          <p:nvPr/>
        </p:nvSpPr>
        <p:spPr>
          <a:xfrm>
            <a:off x="7818120" y="2532888"/>
            <a:ext cx="1629461" cy="347472"/>
          </a:xfrm>
          <a:prstGeom prst="roundRect">
            <a:avLst>
              <a:gd name="adj" fmla="val 50000"/>
            </a:avLst>
          </a:prstGeom>
          <a:solidFill>
            <a:srgbClr val="E6F5EE"/>
          </a:solidFill>
          <a:ln w="12700">
            <a:solidFill>
              <a:srgbClr val="E6F5EE"/>
            </a:solidFill>
            <a:prstDash val="solid"/>
          </a:ln>
        </p:spPr>
      </p:sp>
      <p:pic>
        <p:nvPicPr>
          <p:cNvPr id="19" name="Image 3" descr="preencoded.png">    </p:cNvPr>
          <p:cNvPicPr>
            <a:picLocks noChangeAspect="1"/>
          </p:cNvPicPr>
          <p:nvPr/>
        </p:nvPicPr>
        <p:blipFill>
          <a:blip r:embed="rId4"/>
          <a:stretch>
            <a:fillRect/>
          </a:stretch>
        </p:blipFill>
        <p:spPr>
          <a:xfrm>
            <a:off x="7936992" y="2615184"/>
            <a:ext cx="182880" cy="182880"/>
          </a:xfrm>
          <a:prstGeom prst="rect">
            <a:avLst/>
          </a:prstGeom>
        </p:spPr>
      </p:pic>
      <p:sp>
        <p:nvSpPr>
          <p:cNvPr id="20" name="Text 14"/>
          <p:cNvSpPr txBox="1"/>
          <p:nvPr/>
        </p:nvSpPr>
        <p:spPr>
          <a:xfrm>
            <a:off x="8183880" y="2532888"/>
            <a:ext cx="1217981" cy="347472"/>
          </a:xfrm>
          <a:prstGeom prst="rect">
            <a:avLst/>
          </a:prstGeom>
          <a:noFill/>
          <a:ln/>
        </p:spPr>
        <p:txBody>
          <a:bodyPr wrap="square" lIns="0" tIns="0" rIns="0" bIns="0" rtlCol="0" anchor="ctr"/>
          <a:lstStyle/>
          <a:p>
            <a:pPr indent="0" marL="0">
              <a:buNone/>
            </a:pPr>
            <a:r>
              <a:rPr lang="en-US" sz="1200" b="1" dirty="0">
                <a:solidFill>
                  <a:srgbClr val="1E7552"/>
                </a:solidFill>
                <a:latin typeface="Calibri" pitchFamily="34" charset="0"/>
                <a:ea typeface="Calibri" pitchFamily="34" charset="-122"/>
                <a:cs typeface="Calibri" pitchFamily="34" charset="-120"/>
              </a:rPr>
              <a:t>Visit duration</a:t>
            </a:r>
            <a:endParaRPr lang="en-US" sz="1200" dirty="0"/>
          </a:p>
        </p:txBody>
      </p:sp>
      <p:sp>
        <p:nvSpPr>
          <p:cNvPr id="21" name="Shape 15"/>
          <p:cNvSpPr/>
          <p:nvPr/>
        </p:nvSpPr>
        <p:spPr>
          <a:xfrm>
            <a:off x="548640" y="3236976"/>
            <a:ext cx="11091672" cy="1481328"/>
          </a:xfrm>
          <a:prstGeom prst="roundRect">
            <a:avLst>
              <a:gd name="adj" fmla="val 11111"/>
            </a:avLst>
          </a:prstGeom>
          <a:solidFill>
            <a:srgbClr val="FFFFFF"/>
          </a:solidFill>
          <a:ln w="12700">
            <a:solidFill>
              <a:srgbClr val="FFFFFF"/>
            </a:solidFill>
            <a:prstDash val="solid"/>
          </a:ln>
          <a:effectLst>
            <a:outerShdw sx="100000" sy="100000" kx="0" ky="0" algn="bl" rotWithShape="0" blurRad="127000" dist="25400" dir="5400000">
              <a:srgbClr val="3B2A5A">
                <a:alpha val="10000"/>
              </a:srgbClr>
            </a:outerShdw>
          </a:effectLst>
        </p:spPr>
      </p:sp>
      <p:sp>
        <p:nvSpPr>
          <p:cNvPr id="22" name="Shape 16"/>
          <p:cNvSpPr/>
          <p:nvPr/>
        </p:nvSpPr>
        <p:spPr>
          <a:xfrm>
            <a:off x="822960" y="3611880"/>
            <a:ext cx="731520" cy="731520"/>
          </a:xfrm>
          <a:prstGeom prst="ellipse">
            <a:avLst/>
          </a:prstGeom>
          <a:solidFill>
            <a:srgbClr val="E08F1E"/>
          </a:solidFill>
          <a:ln w="12700">
            <a:solidFill>
              <a:srgbClr val="E08F1E"/>
            </a:solidFill>
            <a:prstDash val="solid"/>
          </a:ln>
        </p:spPr>
      </p:sp>
      <p:pic>
        <p:nvPicPr>
          <p:cNvPr id="23" name="Image 4" descr="preencoded.png">    </p:cNvPr>
          <p:cNvPicPr>
            <a:picLocks noChangeAspect="1"/>
          </p:cNvPicPr>
          <p:nvPr/>
        </p:nvPicPr>
        <p:blipFill>
          <a:blip r:embed="rId5"/>
          <a:stretch>
            <a:fillRect/>
          </a:stretch>
        </p:blipFill>
        <p:spPr>
          <a:xfrm>
            <a:off x="998525" y="3787445"/>
            <a:ext cx="380390" cy="380390"/>
          </a:xfrm>
          <a:prstGeom prst="rect">
            <a:avLst/>
          </a:prstGeom>
        </p:spPr>
      </p:pic>
      <p:sp>
        <p:nvSpPr>
          <p:cNvPr id="24" name="Text 17"/>
          <p:cNvSpPr txBox="1"/>
          <p:nvPr/>
        </p:nvSpPr>
        <p:spPr>
          <a:xfrm>
            <a:off x="1737360" y="3584448"/>
            <a:ext cx="2194560" cy="411480"/>
          </a:xfrm>
          <a:prstGeom prst="rect">
            <a:avLst/>
          </a:prstGeom>
          <a:noFill/>
          <a:ln/>
        </p:spPr>
        <p:txBody>
          <a:bodyPr wrap="square" lIns="0" tIns="0" rIns="0" bIns="0" rtlCol="0" anchor="ctr"/>
          <a:lstStyle/>
          <a:p>
            <a:pPr indent="0" marL="0">
              <a:buNone/>
            </a:pPr>
            <a:r>
              <a:rPr lang="en-US" sz="1900" b="1" dirty="0">
                <a:solidFill>
                  <a:srgbClr val="E08F1E"/>
                </a:solidFill>
                <a:latin typeface="Calibri" pitchFamily="34" charset="0"/>
                <a:ea typeface="Calibri" pitchFamily="34" charset="-122"/>
                <a:cs typeface="Calibri" pitchFamily="34" charset="-120"/>
              </a:rPr>
              <a:t>Puchong</a:t>
            </a:r>
            <a:endParaRPr lang="en-US" sz="1900" dirty="0"/>
          </a:p>
        </p:txBody>
      </p:sp>
      <p:sp>
        <p:nvSpPr>
          <p:cNvPr id="25" name="Text 18"/>
          <p:cNvSpPr txBox="1"/>
          <p:nvPr/>
        </p:nvSpPr>
        <p:spPr>
          <a:xfrm>
            <a:off x="1737360" y="4014216"/>
            <a:ext cx="2194560" cy="320040"/>
          </a:xfrm>
          <a:prstGeom prst="rect">
            <a:avLst/>
          </a:prstGeom>
          <a:noFill/>
          <a:ln/>
        </p:spPr>
        <p:txBody>
          <a:bodyPr wrap="square" lIns="0" tIns="0" rIns="0" bIns="0" rtlCol="0" anchor="ctr"/>
          <a:lstStyle/>
          <a:p>
            <a:pPr indent="0" marL="0">
              <a:buNone/>
            </a:pPr>
            <a:r>
              <a:rPr lang="en-US" sz="1300" dirty="0">
                <a:solidFill>
                  <a:srgbClr val="6E6784"/>
                </a:solidFill>
                <a:latin typeface="Calibri" pitchFamily="34" charset="0"/>
                <a:ea typeface="Calibri" pitchFamily="34" charset="-122"/>
                <a:cs typeface="Calibri" pitchFamily="34" charset="-120"/>
              </a:rPr>
              <a:t>Score 93.25</a:t>
            </a:r>
            <a:endParaRPr lang="en-US" sz="1300" dirty="0"/>
          </a:p>
        </p:txBody>
      </p:sp>
      <p:sp>
        <p:nvSpPr>
          <p:cNvPr id="26" name="Text 19"/>
          <p:cNvSpPr txBox="1"/>
          <p:nvPr/>
        </p:nvSpPr>
        <p:spPr>
          <a:xfrm>
            <a:off x="4069080" y="3511296"/>
            <a:ext cx="3474720" cy="256032"/>
          </a:xfrm>
          <a:prstGeom prst="rect">
            <a:avLst/>
          </a:prstGeom>
          <a:noFill/>
          <a:ln/>
        </p:spPr>
        <p:txBody>
          <a:bodyPr wrap="square" lIns="0" tIns="0" rIns="0" bIns="0" rtlCol="0" anchor="t"/>
          <a:lstStyle/>
          <a:p>
            <a:pPr indent="0" marL="0">
              <a:buNone/>
            </a:pPr>
            <a:r>
              <a:rPr lang="en-US" sz="1050" b="1" spc="100" kern="0" dirty="0">
                <a:solidFill>
                  <a:srgbClr val="A8660C"/>
                </a:solidFill>
                <a:latin typeface="Calibri" pitchFamily="34" charset="0"/>
                <a:ea typeface="Calibri" pitchFamily="34" charset="-122"/>
                <a:cs typeface="Calibri" pitchFamily="34" charset="-120"/>
              </a:rPr>
              <a:t>CUSTOMER POSITIVE</a:t>
            </a:r>
            <a:endParaRPr lang="en-US" sz="1050" dirty="0"/>
          </a:p>
        </p:txBody>
      </p:sp>
      <p:sp>
        <p:nvSpPr>
          <p:cNvPr id="27" name="Text 20"/>
          <p:cNvSpPr txBox="1"/>
          <p:nvPr/>
        </p:nvSpPr>
        <p:spPr>
          <a:xfrm>
            <a:off x="4069080" y="3803904"/>
            <a:ext cx="3474720" cy="685800"/>
          </a:xfrm>
          <a:prstGeom prst="rect">
            <a:avLst/>
          </a:prstGeom>
          <a:noFill/>
          <a:ln/>
        </p:spPr>
        <p:txBody>
          <a:bodyPr wrap="square" lIns="0" tIns="0" rIns="0" bIns="0" rtlCol="0" anchor="t"/>
          <a:lstStyle/>
          <a:p>
            <a:pPr indent="0" marL="0">
              <a:buNone/>
            </a:pPr>
            <a:r>
              <a:rPr lang="en-US" sz="1800" b="1" dirty="0">
                <a:solidFill>
                  <a:srgbClr val="3B2A5A"/>
                </a:solidFill>
                <a:latin typeface="Calibri" pitchFamily="34" charset="0"/>
                <a:ea typeface="Calibri" pitchFamily="34" charset="-122"/>
                <a:cs typeface="Calibri" pitchFamily="34" charset="-120"/>
              </a:rPr>
              <a:t>Detailed explanation + caring treatment</a:t>
            </a:r>
            <a:endParaRPr lang="en-US" sz="1800" dirty="0"/>
          </a:p>
        </p:txBody>
      </p:sp>
      <p:sp>
        <p:nvSpPr>
          <p:cNvPr id="28" name="Text 21"/>
          <p:cNvSpPr txBox="1"/>
          <p:nvPr/>
        </p:nvSpPr>
        <p:spPr>
          <a:xfrm>
            <a:off x="7818120" y="3511296"/>
            <a:ext cx="3566160" cy="256032"/>
          </a:xfrm>
          <a:prstGeom prst="rect">
            <a:avLst/>
          </a:prstGeom>
          <a:noFill/>
          <a:ln/>
        </p:spPr>
        <p:txBody>
          <a:bodyPr wrap="square" lIns="0" tIns="0" rIns="0" bIns="0" rtlCol="0" anchor="t"/>
          <a:lstStyle/>
          <a:p>
            <a:pPr indent="0" marL="0">
              <a:buNone/>
            </a:pPr>
            <a:r>
              <a:rPr lang="en-US" sz="1050" b="1" spc="100" kern="0" dirty="0">
                <a:solidFill>
                  <a:srgbClr val="A8660C"/>
                </a:solidFill>
                <a:latin typeface="Calibri" pitchFamily="34" charset="0"/>
                <a:ea typeface="Calibri" pitchFamily="34" charset="-122"/>
                <a:cs typeface="Calibri" pitchFamily="34" charset="-120"/>
              </a:rPr>
              <a:t>IMPROVEMENT SIGNALS</a:t>
            </a:r>
            <a:endParaRPr lang="en-US" sz="1050" dirty="0"/>
          </a:p>
        </p:txBody>
      </p:sp>
      <p:sp>
        <p:nvSpPr>
          <p:cNvPr id="29" name="Shape 22"/>
          <p:cNvSpPr/>
          <p:nvPr/>
        </p:nvSpPr>
        <p:spPr>
          <a:xfrm>
            <a:off x="7818120" y="3840480"/>
            <a:ext cx="1629461" cy="347472"/>
          </a:xfrm>
          <a:prstGeom prst="roundRect">
            <a:avLst>
              <a:gd name="adj" fmla="val 50000"/>
            </a:avLst>
          </a:prstGeom>
          <a:solidFill>
            <a:srgbClr val="FDF1DF"/>
          </a:solidFill>
          <a:ln w="12700">
            <a:solidFill>
              <a:srgbClr val="FDF1DF"/>
            </a:solidFill>
            <a:prstDash val="solid"/>
          </a:ln>
        </p:spPr>
      </p:sp>
      <p:pic>
        <p:nvPicPr>
          <p:cNvPr id="30" name="Image 5" descr="preencoded.png">    </p:cNvPr>
          <p:cNvPicPr>
            <a:picLocks noChangeAspect="1"/>
          </p:cNvPicPr>
          <p:nvPr/>
        </p:nvPicPr>
        <p:blipFill>
          <a:blip r:embed="rId6"/>
          <a:stretch>
            <a:fillRect/>
          </a:stretch>
        </p:blipFill>
        <p:spPr>
          <a:xfrm>
            <a:off x="7936992" y="3922776"/>
            <a:ext cx="182880" cy="182880"/>
          </a:xfrm>
          <a:prstGeom prst="rect">
            <a:avLst/>
          </a:prstGeom>
        </p:spPr>
      </p:pic>
      <p:sp>
        <p:nvSpPr>
          <p:cNvPr id="31" name="Text 23"/>
          <p:cNvSpPr txBox="1"/>
          <p:nvPr/>
        </p:nvSpPr>
        <p:spPr>
          <a:xfrm>
            <a:off x="8183880" y="3840480"/>
            <a:ext cx="1217981" cy="347472"/>
          </a:xfrm>
          <a:prstGeom prst="rect">
            <a:avLst/>
          </a:prstGeom>
          <a:noFill/>
          <a:ln/>
        </p:spPr>
        <p:txBody>
          <a:bodyPr wrap="square" lIns="0" tIns="0" rIns="0" bIns="0" rtlCol="0" anchor="ctr"/>
          <a:lstStyle/>
          <a:p>
            <a:pPr indent="0" marL="0">
              <a:buNone/>
            </a:pPr>
            <a:r>
              <a:rPr lang="en-US" sz="1200" b="1" dirty="0">
                <a:solidFill>
                  <a:srgbClr val="A8660C"/>
                </a:solidFill>
                <a:latin typeface="Calibri" pitchFamily="34" charset="0"/>
                <a:ea typeface="Calibri" pitchFamily="34" charset="-122"/>
                <a:cs typeface="Calibri" pitchFamily="34" charset="-120"/>
              </a:rPr>
              <a:t>Treatment cues</a:t>
            </a:r>
            <a:endParaRPr lang="en-US" sz="1200" dirty="0"/>
          </a:p>
        </p:txBody>
      </p:sp>
      <p:sp>
        <p:nvSpPr>
          <p:cNvPr id="32" name="Shape 24"/>
          <p:cNvSpPr/>
          <p:nvPr/>
        </p:nvSpPr>
        <p:spPr>
          <a:xfrm>
            <a:off x="9557309" y="3840480"/>
            <a:ext cx="1781251" cy="347472"/>
          </a:xfrm>
          <a:prstGeom prst="roundRect">
            <a:avLst>
              <a:gd name="adj" fmla="val 50000"/>
            </a:avLst>
          </a:prstGeom>
          <a:solidFill>
            <a:srgbClr val="FDF1DF"/>
          </a:solidFill>
          <a:ln w="12700">
            <a:solidFill>
              <a:srgbClr val="FDF1DF"/>
            </a:solidFill>
            <a:prstDash val="solid"/>
          </a:ln>
        </p:spPr>
      </p:sp>
      <p:pic>
        <p:nvPicPr>
          <p:cNvPr id="33" name="Image 6" descr="preencoded.png">    </p:cNvPr>
          <p:cNvPicPr>
            <a:picLocks noChangeAspect="1"/>
          </p:cNvPicPr>
          <p:nvPr/>
        </p:nvPicPr>
        <p:blipFill>
          <a:blip r:embed="rId7"/>
          <a:stretch>
            <a:fillRect/>
          </a:stretch>
        </p:blipFill>
        <p:spPr>
          <a:xfrm>
            <a:off x="9676181" y="3922776"/>
            <a:ext cx="182880" cy="182880"/>
          </a:xfrm>
          <a:prstGeom prst="rect">
            <a:avLst/>
          </a:prstGeom>
        </p:spPr>
      </p:pic>
      <p:sp>
        <p:nvSpPr>
          <p:cNvPr id="34" name="Text 25"/>
          <p:cNvSpPr txBox="1"/>
          <p:nvPr/>
        </p:nvSpPr>
        <p:spPr>
          <a:xfrm>
            <a:off x="9923069" y="3840480"/>
            <a:ext cx="1369771" cy="347472"/>
          </a:xfrm>
          <a:prstGeom prst="rect">
            <a:avLst/>
          </a:prstGeom>
          <a:noFill/>
          <a:ln/>
        </p:spPr>
        <p:txBody>
          <a:bodyPr wrap="square" lIns="0" tIns="0" rIns="0" bIns="0" rtlCol="0" anchor="ctr"/>
          <a:lstStyle/>
          <a:p>
            <a:pPr indent="0" marL="0">
              <a:buNone/>
            </a:pPr>
            <a:r>
              <a:rPr lang="en-US" sz="1200" b="1" dirty="0">
                <a:solidFill>
                  <a:srgbClr val="A8660C"/>
                </a:solidFill>
                <a:latin typeface="Calibri" pitchFamily="34" charset="0"/>
                <a:ea typeface="Calibri" pitchFamily="34" charset="-122"/>
                <a:cs typeface="Calibri" pitchFamily="34" charset="-120"/>
              </a:rPr>
              <a:t>Light adjustment</a:t>
            </a:r>
            <a:endParaRPr lang="en-US" sz="1200" dirty="0"/>
          </a:p>
        </p:txBody>
      </p:sp>
      <p:sp>
        <p:nvSpPr>
          <p:cNvPr id="35" name="Shape 26"/>
          <p:cNvSpPr/>
          <p:nvPr/>
        </p:nvSpPr>
        <p:spPr>
          <a:xfrm>
            <a:off x="7818120" y="4261104"/>
            <a:ext cx="946404" cy="347472"/>
          </a:xfrm>
          <a:prstGeom prst="roundRect">
            <a:avLst>
              <a:gd name="adj" fmla="val 50000"/>
            </a:avLst>
          </a:prstGeom>
          <a:solidFill>
            <a:srgbClr val="FDF1DF"/>
          </a:solidFill>
          <a:ln w="12700">
            <a:solidFill>
              <a:srgbClr val="FDF1DF"/>
            </a:solidFill>
            <a:prstDash val="solid"/>
          </a:ln>
        </p:spPr>
      </p:sp>
      <p:pic>
        <p:nvPicPr>
          <p:cNvPr id="36" name="Image 7" descr="preencoded.png">    </p:cNvPr>
          <p:cNvPicPr>
            <a:picLocks noChangeAspect="1"/>
          </p:cNvPicPr>
          <p:nvPr/>
        </p:nvPicPr>
        <p:blipFill>
          <a:blip r:embed="rId8"/>
          <a:stretch>
            <a:fillRect/>
          </a:stretch>
        </p:blipFill>
        <p:spPr>
          <a:xfrm>
            <a:off x="7936992" y="4343400"/>
            <a:ext cx="182880" cy="182880"/>
          </a:xfrm>
          <a:prstGeom prst="rect">
            <a:avLst/>
          </a:prstGeom>
        </p:spPr>
      </p:pic>
      <p:sp>
        <p:nvSpPr>
          <p:cNvPr id="37" name="Text 27"/>
          <p:cNvSpPr txBox="1"/>
          <p:nvPr/>
        </p:nvSpPr>
        <p:spPr>
          <a:xfrm>
            <a:off x="8183880" y="4261104"/>
            <a:ext cx="534924" cy="347472"/>
          </a:xfrm>
          <a:prstGeom prst="rect">
            <a:avLst/>
          </a:prstGeom>
          <a:noFill/>
          <a:ln/>
        </p:spPr>
        <p:txBody>
          <a:bodyPr wrap="square" lIns="0" tIns="0" rIns="0" bIns="0" rtlCol="0" anchor="ctr"/>
          <a:lstStyle/>
          <a:p>
            <a:pPr indent="0" marL="0">
              <a:buNone/>
            </a:pPr>
            <a:r>
              <a:rPr lang="en-US" sz="1200" b="1" dirty="0">
                <a:solidFill>
                  <a:srgbClr val="A8660C"/>
                </a:solidFill>
                <a:latin typeface="Calibri" pitchFamily="34" charset="0"/>
                <a:ea typeface="Calibri" pitchFamily="34" charset="-122"/>
                <a:cs typeface="Calibri" pitchFamily="34" charset="-120"/>
              </a:rPr>
              <a:t>Price</a:t>
            </a:r>
            <a:endParaRPr lang="en-US" sz="1200" dirty="0"/>
          </a:p>
        </p:txBody>
      </p:sp>
      <p:sp>
        <p:nvSpPr>
          <p:cNvPr id="38" name="Shape 28"/>
          <p:cNvSpPr/>
          <p:nvPr/>
        </p:nvSpPr>
        <p:spPr>
          <a:xfrm>
            <a:off x="548640" y="4965192"/>
            <a:ext cx="11091672" cy="1481328"/>
          </a:xfrm>
          <a:prstGeom prst="roundRect">
            <a:avLst>
              <a:gd name="adj" fmla="val 11111"/>
            </a:avLst>
          </a:prstGeom>
          <a:solidFill>
            <a:srgbClr val="FFFFFF"/>
          </a:solidFill>
          <a:ln w="12700">
            <a:solidFill>
              <a:srgbClr val="FFFFFF"/>
            </a:solidFill>
            <a:prstDash val="solid"/>
          </a:ln>
          <a:effectLst>
            <a:outerShdw sx="100000" sy="100000" kx="0" ky="0" algn="bl" rotWithShape="0" blurRad="127000" dist="25400" dir="5400000">
              <a:srgbClr val="3B2A5A">
                <a:alpha val="10000"/>
              </a:srgbClr>
            </a:outerShdw>
          </a:effectLst>
        </p:spPr>
      </p:sp>
      <p:sp>
        <p:nvSpPr>
          <p:cNvPr id="39" name="Shape 29"/>
          <p:cNvSpPr/>
          <p:nvPr/>
        </p:nvSpPr>
        <p:spPr>
          <a:xfrm>
            <a:off x="822960" y="5340096"/>
            <a:ext cx="731520" cy="731520"/>
          </a:xfrm>
          <a:prstGeom prst="ellipse">
            <a:avLst/>
          </a:prstGeom>
          <a:solidFill>
            <a:srgbClr val="DD5C7B"/>
          </a:solidFill>
          <a:ln w="12700">
            <a:solidFill>
              <a:srgbClr val="DD5C7B"/>
            </a:solidFill>
            <a:prstDash val="solid"/>
          </a:ln>
        </p:spPr>
      </p:sp>
      <p:pic>
        <p:nvPicPr>
          <p:cNvPr id="40" name="Image 8" descr="preencoded.png">    </p:cNvPr>
          <p:cNvPicPr>
            <a:picLocks noChangeAspect="1"/>
          </p:cNvPicPr>
          <p:nvPr/>
        </p:nvPicPr>
        <p:blipFill>
          <a:blip r:embed="rId9"/>
          <a:stretch>
            <a:fillRect/>
          </a:stretch>
        </p:blipFill>
        <p:spPr>
          <a:xfrm>
            <a:off x="998525" y="5515661"/>
            <a:ext cx="380390" cy="380390"/>
          </a:xfrm>
          <a:prstGeom prst="rect">
            <a:avLst/>
          </a:prstGeom>
        </p:spPr>
      </p:pic>
      <p:sp>
        <p:nvSpPr>
          <p:cNvPr id="41" name="Text 30"/>
          <p:cNvSpPr txBox="1"/>
          <p:nvPr/>
        </p:nvSpPr>
        <p:spPr>
          <a:xfrm>
            <a:off x="1737360" y="5312664"/>
            <a:ext cx="2194560" cy="411480"/>
          </a:xfrm>
          <a:prstGeom prst="rect">
            <a:avLst/>
          </a:prstGeom>
          <a:noFill/>
          <a:ln/>
        </p:spPr>
        <p:txBody>
          <a:bodyPr wrap="square" lIns="0" tIns="0" rIns="0" bIns="0" rtlCol="0" anchor="ctr"/>
          <a:lstStyle/>
          <a:p>
            <a:pPr indent="0" marL="0">
              <a:buNone/>
            </a:pPr>
            <a:r>
              <a:rPr lang="en-US" sz="1900" b="1" dirty="0">
                <a:solidFill>
                  <a:srgbClr val="DD5C7B"/>
                </a:solidFill>
                <a:latin typeface="Calibri" pitchFamily="34" charset="0"/>
                <a:ea typeface="Calibri" pitchFamily="34" charset="-122"/>
                <a:cs typeface="Calibri" pitchFamily="34" charset="-120"/>
              </a:rPr>
              <a:t>Cheras Leisure Mall</a:t>
            </a:r>
            <a:endParaRPr lang="en-US" sz="1900" dirty="0"/>
          </a:p>
        </p:txBody>
      </p:sp>
      <p:sp>
        <p:nvSpPr>
          <p:cNvPr id="42" name="Text 31"/>
          <p:cNvSpPr txBox="1"/>
          <p:nvPr/>
        </p:nvSpPr>
        <p:spPr>
          <a:xfrm>
            <a:off x="1737360" y="5742432"/>
            <a:ext cx="2194560" cy="320040"/>
          </a:xfrm>
          <a:prstGeom prst="rect">
            <a:avLst/>
          </a:prstGeom>
          <a:noFill/>
          <a:ln/>
        </p:spPr>
        <p:txBody>
          <a:bodyPr wrap="square" lIns="0" tIns="0" rIns="0" bIns="0" rtlCol="0" anchor="ctr"/>
          <a:lstStyle/>
          <a:p>
            <a:pPr indent="0" marL="0">
              <a:buNone/>
            </a:pPr>
            <a:r>
              <a:rPr lang="en-US" sz="1300" dirty="0">
                <a:solidFill>
                  <a:srgbClr val="6E6784"/>
                </a:solidFill>
                <a:latin typeface="Calibri" pitchFamily="34" charset="0"/>
                <a:ea typeface="Calibri" pitchFamily="34" charset="-122"/>
                <a:cs typeface="Calibri" pitchFamily="34" charset="-120"/>
              </a:rPr>
              <a:t>Score 66.75</a:t>
            </a:r>
            <a:endParaRPr lang="en-US" sz="1300" dirty="0"/>
          </a:p>
        </p:txBody>
      </p:sp>
      <p:sp>
        <p:nvSpPr>
          <p:cNvPr id="43" name="Text 32"/>
          <p:cNvSpPr txBox="1"/>
          <p:nvPr/>
        </p:nvSpPr>
        <p:spPr>
          <a:xfrm>
            <a:off x="4069080" y="5239512"/>
            <a:ext cx="3474720" cy="256032"/>
          </a:xfrm>
          <a:prstGeom prst="rect">
            <a:avLst/>
          </a:prstGeom>
          <a:noFill/>
          <a:ln/>
        </p:spPr>
        <p:txBody>
          <a:bodyPr wrap="square" lIns="0" tIns="0" rIns="0" bIns="0" rtlCol="0" anchor="t"/>
          <a:lstStyle/>
          <a:p>
            <a:pPr indent="0" marL="0">
              <a:buNone/>
            </a:pPr>
            <a:r>
              <a:rPr lang="en-US" sz="1050" b="1" spc="100" kern="0" dirty="0">
                <a:solidFill>
                  <a:srgbClr val="B03D5B"/>
                </a:solidFill>
                <a:latin typeface="Calibri" pitchFamily="34" charset="0"/>
                <a:ea typeface="Calibri" pitchFamily="34" charset="-122"/>
                <a:cs typeface="Calibri" pitchFamily="34" charset="-120"/>
              </a:rPr>
              <a:t>CUSTOMER POSITIVE</a:t>
            </a:r>
            <a:endParaRPr lang="en-US" sz="1050" dirty="0"/>
          </a:p>
        </p:txBody>
      </p:sp>
      <p:sp>
        <p:nvSpPr>
          <p:cNvPr id="44" name="Text 33"/>
          <p:cNvSpPr txBox="1"/>
          <p:nvPr/>
        </p:nvSpPr>
        <p:spPr>
          <a:xfrm>
            <a:off x="4069080" y="5532120"/>
            <a:ext cx="3474720" cy="685800"/>
          </a:xfrm>
          <a:prstGeom prst="rect">
            <a:avLst/>
          </a:prstGeom>
          <a:noFill/>
          <a:ln/>
        </p:spPr>
        <p:txBody>
          <a:bodyPr wrap="square" lIns="0" tIns="0" rIns="0" bIns="0" rtlCol="0" anchor="t"/>
          <a:lstStyle/>
          <a:p>
            <a:pPr indent="0" marL="0">
              <a:buNone/>
            </a:pPr>
            <a:r>
              <a:rPr lang="en-US" sz="1800" b="1" dirty="0">
                <a:solidFill>
                  <a:srgbClr val="3B2A5A"/>
                </a:solidFill>
                <a:latin typeface="Calibri" pitchFamily="34" charset="0"/>
                <a:ea typeface="Calibri" pitchFamily="34" charset="-122"/>
                <a:cs typeface="Calibri" pitchFamily="34" charset="-120"/>
              </a:rPr>
              <a:t>Good visible result</a:t>
            </a:r>
            <a:endParaRPr lang="en-US" sz="1800" dirty="0"/>
          </a:p>
        </p:txBody>
      </p:sp>
      <p:sp>
        <p:nvSpPr>
          <p:cNvPr id="45" name="Text 34"/>
          <p:cNvSpPr txBox="1"/>
          <p:nvPr/>
        </p:nvSpPr>
        <p:spPr>
          <a:xfrm>
            <a:off x="7818120" y="5239512"/>
            <a:ext cx="3566160" cy="256032"/>
          </a:xfrm>
          <a:prstGeom prst="rect">
            <a:avLst/>
          </a:prstGeom>
          <a:noFill/>
          <a:ln/>
        </p:spPr>
        <p:txBody>
          <a:bodyPr wrap="square" lIns="0" tIns="0" rIns="0" bIns="0" rtlCol="0" anchor="t"/>
          <a:lstStyle/>
          <a:p>
            <a:pPr indent="0" marL="0">
              <a:buNone/>
            </a:pPr>
            <a:r>
              <a:rPr lang="en-US" sz="1050" b="1" spc="100" kern="0" dirty="0">
                <a:solidFill>
                  <a:srgbClr val="B03D5B"/>
                </a:solidFill>
                <a:latin typeface="Calibri" pitchFamily="34" charset="0"/>
                <a:ea typeface="Calibri" pitchFamily="34" charset="-122"/>
                <a:cs typeface="Calibri" pitchFamily="34" charset="-120"/>
              </a:rPr>
              <a:t>IMPROVEMENT SIGNALS</a:t>
            </a:r>
            <a:endParaRPr lang="en-US" sz="1050" dirty="0"/>
          </a:p>
        </p:txBody>
      </p:sp>
      <p:sp>
        <p:nvSpPr>
          <p:cNvPr id="46" name="Shape 35"/>
          <p:cNvSpPr/>
          <p:nvPr/>
        </p:nvSpPr>
        <p:spPr>
          <a:xfrm>
            <a:off x="7818120" y="5568696"/>
            <a:ext cx="1629461" cy="347472"/>
          </a:xfrm>
          <a:prstGeom prst="roundRect">
            <a:avLst>
              <a:gd name="adj" fmla="val 50000"/>
            </a:avLst>
          </a:prstGeom>
          <a:solidFill>
            <a:srgbClr val="FCEAEF"/>
          </a:solidFill>
          <a:ln w="12700">
            <a:solidFill>
              <a:srgbClr val="FCEAEF"/>
            </a:solidFill>
            <a:prstDash val="solid"/>
          </a:ln>
        </p:spPr>
      </p:sp>
      <p:pic>
        <p:nvPicPr>
          <p:cNvPr id="47" name="Image 9" descr="preencoded.png">    </p:cNvPr>
          <p:cNvPicPr>
            <a:picLocks noChangeAspect="1"/>
          </p:cNvPicPr>
          <p:nvPr/>
        </p:nvPicPr>
        <p:blipFill>
          <a:blip r:embed="rId10"/>
          <a:stretch>
            <a:fillRect/>
          </a:stretch>
        </p:blipFill>
        <p:spPr>
          <a:xfrm>
            <a:off x="7936992" y="5650992"/>
            <a:ext cx="182880" cy="182880"/>
          </a:xfrm>
          <a:prstGeom prst="rect">
            <a:avLst/>
          </a:prstGeom>
        </p:spPr>
      </p:pic>
      <p:sp>
        <p:nvSpPr>
          <p:cNvPr id="48" name="Text 36"/>
          <p:cNvSpPr txBox="1"/>
          <p:nvPr/>
        </p:nvSpPr>
        <p:spPr>
          <a:xfrm>
            <a:off x="8183880" y="5568696"/>
            <a:ext cx="1217981" cy="347472"/>
          </a:xfrm>
          <a:prstGeom prst="rect">
            <a:avLst/>
          </a:prstGeom>
          <a:noFill/>
          <a:ln/>
        </p:spPr>
        <p:txBody>
          <a:bodyPr wrap="square" lIns="0" tIns="0" rIns="0" bIns="0" rtlCol="0" anchor="ctr"/>
          <a:lstStyle/>
          <a:p>
            <a:pPr indent="0" marL="0">
              <a:buNone/>
            </a:pPr>
            <a:r>
              <a:rPr lang="en-US" sz="1200" b="1" dirty="0">
                <a:solidFill>
                  <a:srgbClr val="B03D5B"/>
                </a:solidFill>
                <a:latin typeface="Calibri" pitchFamily="34" charset="0"/>
                <a:ea typeface="Calibri" pitchFamily="34" charset="-122"/>
                <a:cs typeface="Calibri" pitchFamily="34" charset="-120"/>
              </a:rPr>
              <a:t>Sales pressure</a:t>
            </a:r>
            <a:endParaRPr lang="en-US" sz="1200" dirty="0"/>
          </a:p>
        </p:txBody>
      </p:sp>
      <p:sp>
        <p:nvSpPr>
          <p:cNvPr id="49" name="Shape 37"/>
          <p:cNvSpPr/>
          <p:nvPr/>
        </p:nvSpPr>
        <p:spPr>
          <a:xfrm>
            <a:off x="9557309" y="5568696"/>
            <a:ext cx="1098194" cy="347472"/>
          </a:xfrm>
          <a:prstGeom prst="roundRect">
            <a:avLst>
              <a:gd name="adj" fmla="val 50000"/>
            </a:avLst>
          </a:prstGeom>
          <a:solidFill>
            <a:srgbClr val="FCEAEF"/>
          </a:solidFill>
          <a:ln w="12700">
            <a:solidFill>
              <a:srgbClr val="FCEAEF"/>
            </a:solidFill>
            <a:prstDash val="solid"/>
          </a:ln>
        </p:spPr>
      </p:sp>
      <p:pic>
        <p:nvPicPr>
          <p:cNvPr id="50" name="Image 10" descr="preencoded.png">    </p:cNvPr>
          <p:cNvPicPr>
            <a:picLocks noChangeAspect="1"/>
          </p:cNvPicPr>
          <p:nvPr/>
        </p:nvPicPr>
        <p:blipFill>
          <a:blip r:embed="rId11"/>
          <a:stretch>
            <a:fillRect/>
          </a:stretch>
        </p:blipFill>
        <p:spPr>
          <a:xfrm>
            <a:off x="9676181" y="5650992"/>
            <a:ext cx="182880" cy="182880"/>
          </a:xfrm>
          <a:prstGeom prst="rect">
            <a:avLst/>
          </a:prstGeom>
        </p:spPr>
      </p:pic>
      <p:sp>
        <p:nvSpPr>
          <p:cNvPr id="51" name="Text 38"/>
          <p:cNvSpPr txBox="1"/>
          <p:nvPr/>
        </p:nvSpPr>
        <p:spPr>
          <a:xfrm>
            <a:off x="9923069" y="5568696"/>
            <a:ext cx="686714" cy="347472"/>
          </a:xfrm>
          <a:prstGeom prst="rect">
            <a:avLst/>
          </a:prstGeom>
          <a:noFill/>
          <a:ln/>
        </p:spPr>
        <p:txBody>
          <a:bodyPr wrap="square" lIns="0" tIns="0" rIns="0" bIns="0" rtlCol="0" anchor="ctr"/>
          <a:lstStyle/>
          <a:p>
            <a:pPr indent="0" marL="0">
              <a:buNone/>
            </a:pPr>
            <a:r>
              <a:rPr lang="en-US" sz="1200" b="1" dirty="0">
                <a:solidFill>
                  <a:srgbClr val="B03D5B"/>
                </a:solidFill>
                <a:latin typeface="Calibri" pitchFamily="34" charset="0"/>
                <a:ea typeface="Calibri" pitchFamily="34" charset="-122"/>
                <a:cs typeface="Calibri" pitchFamily="34" charset="-120"/>
              </a:rPr>
              <a:t>Waiting</a:t>
            </a:r>
            <a:endParaRPr lang="en-US" sz="1200" dirty="0"/>
          </a:p>
        </p:txBody>
      </p:sp>
      <p:sp>
        <p:nvSpPr>
          <p:cNvPr id="52" name="Shape 39"/>
          <p:cNvSpPr/>
          <p:nvPr/>
        </p:nvSpPr>
        <p:spPr>
          <a:xfrm>
            <a:off x="7818120" y="5989320"/>
            <a:ext cx="946404" cy="347472"/>
          </a:xfrm>
          <a:prstGeom prst="roundRect">
            <a:avLst>
              <a:gd name="adj" fmla="val 50000"/>
            </a:avLst>
          </a:prstGeom>
          <a:solidFill>
            <a:srgbClr val="FCEAEF"/>
          </a:solidFill>
          <a:ln w="12700">
            <a:solidFill>
              <a:srgbClr val="FCEAEF"/>
            </a:solidFill>
            <a:prstDash val="solid"/>
          </a:ln>
        </p:spPr>
      </p:sp>
      <p:pic>
        <p:nvPicPr>
          <p:cNvPr id="53" name="Image 11" descr="preencoded.png">    </p:cNvPr>
          <p:cNvPicPr>
            <a:picLocks noChangeAspect="1"/>
          </p:cNvPicPr>
          <p:nvPr/>
        </p:nvPicPr>
        <p:blipFill>
          <a:blip r:embed="rId12"/>
          <a:stretch>
            <a:fillRect/>
          </a:stretch>
        </p:blipFill>
        <p:spPr>
          <a:xfrm>
            <a:off x="7936992" y="6071616"/>
            <a:ext cx="182880" cy="182880"/>
          </a:xfrm>
          <a:prstGeom prst="rect">
            <a:avLst/>
          </a:prstGeom>
        </p:spPr>
      </p:pic>
      <p:sp>
        <p:nvSpPr>
          <p:cNvPr id="54" name="Text 40"/>
          <p:cNvSpPr txBox="1"/>
          <p:nvPr/>
        </p:nvSpPr>
        <p:spPr>
          <a:xfrm>
            <a:off x="8183880" y="5989320"/>
            <a:ext cx="534924" cy="347472"/>
          </a:xfrm>
          <a:prstGeom prst="rect">
            <a:avLst/>
          </a:prstGeom>
          <a:noFill/>
          <a:ln/>
        </p:spPr>
        <p:txBody>
          <a:bodyPr wrap="square" lIns="0" tIns="0" rIns="0" bIns="0" rtlCol="0" anchor="ctr"/>
          <a:lstStyle/>
          <a:p>
            <a:pPr indent="0" marL="0">
              <a:buNone/>
            </a:pPr>
            <a:r>
              <a:rPr lang="en-US" sz="1200" b="1" dirty="0">
                <a:solidFill>
                  <a:srgbClr val="B03D5B"/>
                </a:solidFill>
                <a:latin typeface="Calibri" pitchFamily="34" charset="0"/>
                <a:ea typeface="Calibri" pitchFamily="34" charset="-122"/>
                <a:cs typeface="Calibri" pitchFamily="34" charset="-120"/>
              </a:rPr>
              <a:t>Noise</a:t>
            </a:r>
            <a:endParaRPr lang="en-US" sz="1200" dirty="0"/>
          </a:p>
        </p:txBody>
      </p:sp>
      <p:sp>
        <p:nvSpPr>
          <p:cNvPr id="55" name="Shape 41"/>
          <p:cNvSpPr/>
          <p:nvPr/>
        </p:nvSpPr>
        <p:spPr>
          <a:xfrm>
            <a:off x="8874252" y="5989320"/>
            <a:ext cx="1933042" cy="347472"/>
          </a:xfrm>
          <a:prstGeom prst="roundRect">
            <a:avLst>
              <a:gd name="adj" fmla="val 50000"/>
            </a:avLst>
          </a:prstGeom>
          <a:solidFill>
            <a:srgbClr val="FCEAEF"/>
          </a:solidFill>
          <a:ln w="12700">
            <a:solidFill>
              <a:srgbClr val="FCEAEF"/>
            </a:solidFill>
            <a:prstDash val="solid"/>
          </a:ln>
        </p:spPr>
      </p:sp>
      <p:pic>
        <p:nvPicPr>
          <p:cNvPr id="56" name="Image 12" descr="preencoded.png">    </p:cNvPr>
          <p:cNvPicPr>
            <a:picLocks noChangeAspect="1"/>
          </p:cNvPicPr>
          <p:nvPr/>
        </p:nvPicPr>
        <p:blipFill>
          <a:blip r:embed="rId13"/>
          <a:stretch>
            <a:fillRect/>
          </a:stretch>
        </p:blipFill>
        <p:spPr>
          <a:xfrm>
            <a:off x="8993124" y="6071616"/>
            <a:ext cx="182880" cy="182880"/>
          </a:xfrm>
          <a:prstGeom prst="rect">
            <a:avLst/>
          </a:prstGeom>
        </p:spPr>
      </p:pic>
      <p:sp>
        <p:nvSpPr>
          <p:cNvPr id="57" name="Text 42"/>
          <p:cNvSpPr txBox="1"/>
          <p:nvPr/>
        </p:nvSpPr>
        <p:spPr>
          <a:xfrm>
            <a:off x="9240012" y="5989320"/>
            <a:ext cx="1521562" cy="347472"/>
          </a:xfrm>
          <a:prstGeom prst="rect">
            <a:avLst/>
          </a:prstGeom>
          <a:noFill/>
          <a:ln/>
        </p:spPr>
        <p:txBody>
          <a:bodyPr wrap="square" lIns="0" tIns="0" rIns="0" bIns="0" rtlCol="0" anchor="ctr"/>
          <a:lstStyle/>
          <a:p>
            <a:pPr indent="0" marL="0">
              <a:buNone/>
            </a:pPr>
            <a:r>
              <a:rPr lang="en-US" sz="1200" b="1" dirty="0">
                <a:solidFill>
                  <a:srgbClr val="B03D5B"/>
                </a:solidFill>
                <a:latin typeface="Calibri" pitchFamily="34" charset="0"/>
                <a:ea typeface="Calibri" pitchFamily="34" charset="-122"/>
                <a:cs typeface="Calibri" pitchFamily="34" charset="-120"/>
              </a:rPr>
              <a:t>Contact preference</a:t>
            </a:r>
            <a:endParaRPr lang="en-US" sz="1200" dirty="0"/>
          </a:p>
        </p:txBody>
      </p:sp>
      <p:sp>
        <p:nvSpPr>
          <p:cNvPr id="25" name="Slide Number Placeholder 0"/>
          <p:cNvSpPr>
            <a:spLocks noGrp="1"/>
          </p:cNvSpPr>
          <p:nvPr>
            <p:ph type="sldNum" sz="quarter" idx="4294967295"/>
          </p:nvPr>
        </p:nvSpPr>
        <p:spPr>
          <a:xfrm>
            <a:off x="1129284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9DB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B"/>
        </a:solidFill>
      </p:bgPr>
    </p:bg>
    <p:spTree>
      <p:nvGrpSpPr>
        <p:cNvPr id="1" name=""/>
        <p:cNvGrpSpPr/>
        <p:nvPr/>
      </p:nvGrpSpPr>
      <p:grpSpPr>
        <a:xfrm>
          <a:off x="0" y="0"/>
          <a:ext cx="0" cy="0"/>
          <a:chOff x="0" y="0"/>
          <a:chExt cx="0" cy="0"/>
        </a:xfrm>
      </p:grpSpPr>
      <p:sp>
        <p:nvSpPr>
          <p:cNvPr id="2" name="Text 0"/>
          <p:cNvSpPr txBox="1"/>
          <p:nvPr/>
        </p:nvSpPr>
        <p:spPr>
          <a:xfrm>
            <a:off x="548640" y="384048"/>
            <a:ext cx="9144000" cy="594360"/>
          </a:xfrm>
          <a:prstGeom prst="rect">
            <a:avLst/>
          </a:prstGeom>
          <a:noFill/>
          <a:ln/>
        </p:spPr>
        <p:txBody>
          <a:bodyPr wrap="square" lIns="0" tIns="0" rIns="0" bIns="0" rtlCol="0" anchor="ctr"/>
          <a:lstStyle/>
          <a:p>
            <a:pPr indent="0" marL="0">
              <a:buNone/>
            </a:pPr>
            <a:r>
              <a:rPr lang="en-US" sz="3200" b="1" dirty="0">
                <a:solidFill>
                  <a:srgbClr val="3B2A5A"/>
                </a:solidFill>
                <a:latin typeface="Calibri" pitchFamily="34" charset="0"/>
                <a:ea typeface="Calibri" pitchFamily="34" charset="-122"/>
                <a:cs typeface="Calibri" pitchFamily="34" charset="-120"/>
              </a:rPr>
              <a:t>In the customers' own words</a:t>
            </a:r>
            <a:endParaRPr lang="en-US" sz="3200" dirty="0"/>
          </a:p>
        </p:txBody>
      </p:sp>
      <p:sp>
        <p:nvSpPr>
          <p:cNvPr id="3" name="Text 1"/>
          <p:cNvSpPr txBox="1"/>
          <p:nvPr/>
        </p:nvSpPr>
        <p:spPr>
          <a:xfrm>
            <a:off x="548640" y="987552"/>
            <a:ext cx="10058400" cy="292608"/>
          </a:xfrm>
          <a:prstGeom prst="rect">
            <a:avLst/>
          </a:prstGeom>
          <a:noFill/>
          <a:ln/>
        </p:spPr>
        <p:txBody>
          <a:bodyPr wrap="square" lIns="0" tIns="0" rIns="0" bIns="0" rtlCol="0" anchor="t"/>
          <a:lstStyle/>
          <a:p>
            <a:pPr indent="0" marL="0">
              <a:buNone/>
            </a:pPr>
            <a:r>
              <a:rPr lang="en-US" sz="1300" dirty="0">
                <a:solidFill>
                  <a:srgbClr val="6E6784"/>
                </a:solidFill>
                <a:latin typeface="Calibri" pitchFamily="34" charset="0"/>
                <a:ea typeface="Calibri" pitchFamily="34" charset="-122"/>
                <a:cs typeface="Calibri" pitchFamily="34" charset="-120"/>
              </a:rPr>
              <a:t>Selected original comments, kept close to the shoppers' wording — with English translations.</a:t>
            </a:r>
            <a:endParaRPr lang="en-US" sz="1300" dirty="0"/>
          </a:p>
        </p:txBody>
      </p:sp>
      <p:sp>
        <p:nvSpPr>
          <p:cNvPr id="4" name="Shape 2"/>
          <p:cNvSpPr/>
          <p:nvPr/>
        </p:nvSpPr>
        <p:spPr>
          <a:xfrm>
            <a:off x="548640" y="1508760"/>
            <a:ext cx="5422392" cy="2331720"/>
          </a:xfrm>
          <a:prstGeom prst="roundRect">
            <a:avLst>
              <a:gd name="adj" fmla="val 7059"/>
            </a:avLst>
          </a:prstGeom>
          <a:solidFill>
            <a:srgbClr val="FFFFFF"/>
          </a:solidFill>
          <a:ln w="12700">
            <a:solidFill>
              <a:srgbClr val="FFFFFF"/>
            </a:solidFill>
            <a:prstDash val="solid"/>
          </a:ln>
          <a:effectLst>
            <a:outerShdw sx="100000" sy="100000" kx="0" ky="0" algn="bl" rotWithShape="0" blurRad="127000" dist="25400" dir="5400000">
              <a:srgbClr val="3B2A5A">
                <a:alpha val="10000"/>
              </a:srgbClr>
            </a:outerShdw>
          </a:effectLst>
        </p:spPr>
      </p:sp>
      <p:sp>
        <p:nvSpPr>
          <p:cNvPr id="5" name="Shape 3"/>
          <p:cNvSpPr/>
          <p:nvPr/>
        </p:nvSpPr>
        <p:spPr>
          <a:xfrm>
            <a:off x="822960" y="1764792"/>
            <a:ext cx="1004011" cy="329184"/>
          </a:xfrm>
          <a:prstGeom prst="roundRect">
            <a:avLst>
              <a:gd name="adj" fmla="val 50000"/>
            </a:avLst>
          </a:prstGeom>
          <a:solidFill>
            <a:srgbClr val="2A9D6E"/>
          </a:solidFill>
          <a:ln w="12700">
            <a:solidFill>
              <a:srgbClr val="2A9D6E"/>
            </a:solidFill>
            <a:prstDash val="solid"/>
          </a:ln>
        </p:spPr>
      </p:sp>
      <p:sp>
        <p:nvSpPr>
          <p:cNvPr id="6" name="Text 4"/>
          <p:cNvSpPr txBox="1"/>
          <p:nvPr/>
        </p:nvSpPr>
        <p:spPr>
          <a:xfrm>
            <a:off x="822960" y="1764792"/>
            <a:ext cx="1004011"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Greenlane</a:t>
            </a:r>
            <a:endParaRPr lang="en-US" sz="1150" dirty="0"/>
          </a:p>
        </p:txBody>
      </p:sp>
      <p:pic>
        <p:nvPicPr>
          <p:cNvPr id="7" name="Image 0" descr="preencoded.png">    </p:cNvPr>
          <p:cNvPicPr>
            <a:picLocks noChangeAspect="1"/>
          </p:cNvPicPr>
          <p:nvPr/>
        </p:nvPicPr>
        <p:blipFill>
          <a:blip r:embed="rId1"/>
          <a:stretch>
            <a:fillRect/>
          </a:stretch>
        </p:blipFill>
        <p:spPr>
          <a:xfrm>
            <a:off x="5239512" y="1737360"/>
            <a:ext cx="457200" cy="457200"/>
          </a:xfrm>
          <a:prstGeom prst="rect">
            <a:avLst/>
          </a:prstGeom>
        </p:spPr>
      </p:pic>
      <p:sp>
        <p:nvSpPr>
          <p:cNvPr id="8" name="Text 5"/>
          <p:cNvSpPr txBox="1"/>
          <p:nvPr/>
        </p:nvSpPr>
        <p:spPr>
          <a:xfrm>
            <a:off x="822960" y="2240280"/>
            <a:ext cx="4873752" cy="777240"/>
          </a:xfrm>
          <a:prstGeom prst="rect">
            <a:avLst/>
          </a:prstGeom>
          <a:noFill/>
          <a:ln/>
        </p:spPr>
        <p:txBody>
          <a:bodyPr wrap="square" lIns="0" tIns="0" rIns="0" bIns="0" rtlCol="0" anchor="t"/>
          <a:lstStyle/>
          <a:p>
            <a:pPr indent="0" marL="0">
              <a:buNone/>
            </a:pPr>
            <a:r>
              <a:rPr lang="en-US" sz="1400" b="1" dirty="0">
                <a:solidFill>
                  <a:srgbClr val="3B2A5A"/>
                </a:solidFill>
                <a:latin typeface="Microsoft YaHei" pitchFamily="34" charset="0"/>
                <a:ea typeface="Microsoft YaHei" pitchFamily="34" charset="-122"/>
                <a:cs typeface="Microsoft YaHei" pitchFamily="34" charset="-120"/>
              </a:rPr>
              <a:t>“服务体验仪器先进度各方面都让人惊喜和赞叹……红枣茶喝了温暖……Sylvin 很有亲和力。”</a:t>
            </a:r>
            <a:endParaRPr lang="en-US" sz="1400" dirty="0"/>
          </a:p>
        </p:txBody>
      </p:sp>
      <p:sp>
        <p:nvSpPr>
          <p:cNvPr id="9" name="Text 6"/>
          <p:cNvSpPr txBox="1"/>
          <p:nvPr/>
        </p:nvSpPr>
        <p:spPr>
          <a:xfrm>
            <a:off x="822960" y="3044952"/>
            <a:ext cx="4873752" cy="713232"/>
          </a:xfrm>
          <a:prstGeom prst="rect">
            <a:avLst/>
          </a:prstGeom>
          <a:noFill/>
          <a:ln/>
        </p:spPr>
        <p:txBody>
          <a:bodyPr wrap="square" lIns="0" tIns="0" rIns="0" bIns="0" rtlCol="0" anchor="t"/>
          <a:lstStyle/>
          <a:p>
            <a:pPr indent="0" marL="0">
              <a:buNone/>
            </a:pPr>
            <a:r>
              <a:rPr lang="en-US" sz="1200" i="1" dirty="0">
                <a:solidFill>
                  <a:srgbClr val="6E6784"/>
                </a:solidFill>
                <a:latin typeface="Calibri" pitchFamily="34" charset="0"/>
                <a:ea typeface="Calibri" pitchFamily="34" charset="-122"/>
                <a:cs typeface="Calibri" pitchFamily="34" charset="-120"/>
              </a:rPr>
              <a:t>“The service experience and advanced equipment were surprising and impressive in every way… the red date tea was warming… Sylvin is very approachable.”</a:t>
            </a:r>
            <a:endParaRPr lang="en-US" sz="1200" dirty="0"/>
          </a:p>
        </p:txBody>
      </p:sp>
      <p:sp>
        <p:nvSpPr>
          <p:cNvPr id="10" name="Shape 7"/>
          <p:cNvSpPr/>
          <p:nvPr/>
        </p:nvSpPr>
        <p:spPr>
          <a:xfrm>
            <a:off x="6217920" y="1508760"/>
            <a:ext cx="5422392" cy="2331720"/>
          </a:xfrm>
          <a:prstGeom prst="roundRect">
            <a:avLst>
              <a:gd name="adj" fmla="val 7059"/>
            </a:avLst>
          </a:prstGeom>
          <a:solidFill>
            <a:srgbClr val="FFFFFF"/>
          </a:solidFill>
          <a:ln w="12700">
            <a:solidFill>
              <a:srgbClr val="FFFFFF"/>
            </a:solidFill>
            <a:prstDash val="solid"/>
          </a:ln>
          <a:effectLst>
            <a:outerShdw sx="100000" sy="100000" kx="0" ky="0" algn="bl" rotWithShape="0" blurRad="127000" dist="25400" dir="5400000">
              <a:srgbClr val="3B2A5A">
                <a:alpha val="10000"/>
              </a:srgbClr>
            </a:outerShdw>
          </a:effectLst>
        </p:spPr>
      </p:sp>
      <p:sp>
        <p:nvSpPr>
          <p:cNvPr id="11" name="Shape 8"/>
          <p:cNvSpPr/>
          <p:nvPr/>
        </p:nvSpPr>
        <p:spPr>
          <a:xfrm>
            <a:off x="6492240" y="1764792"/>
            <a:ext cx="2518258" cy="329184"/>
          </a:xfrm>
          <a:prstGeom prst="roundRect">
            <a:avLst>
              <a:gd name="adj" fmla="val 50000"/>
            </a:avLst>
          </a:prstGeom>
          <a:solidFill>
            <a:srgbClr val="2A9D6E"/>
          </a:solidFill>
          <a:ln w="12700">
            <a:solidFill>
              <a:srgbClr val="2A9D6E"/>
            </a:solidFill>
            <a:prstDash val="solid"/>
          </a:ln>
        </p:spPr>
      </p:sp>
      <p:sp>
        <p:nvSpPr>
          <p:cNvPr id="12" name="Text 9"/>
          <p:cNvSpPr txBox="1"/>
          <p:nvPr/>
        </p:nvSpPr>
        <p:spPr>
          <a:xfrm>
            <a:off x="6492240" y="1764792"/>
            <a:ext cx="2518258"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Greenlane  ·  on the AI analysis</a:t>
            </a:r>
            <a:endParaRPr lang="en-US" sz="1150" dirty="0"/>
          </a:p>
        </p:txBody>
      </p:sp>
      <p:pic>
        <p:nvPicPr>
          <p:cNvPr id="13" name="Image 1" descr="preencoded.png">    </p:cNvPr>
          <p:cNvPicPr>
            <a:picLocks noChangeAspect="1"/>
          </p:cNvPicPr>
          <p:nvPr/>
        </p:nvPicPr>
        <p:blipFill>
          <a:blip r:embed="rId2"/>
          <a:stretch>
            <a:fillRect/>
          </a:stretch>
        </p:blipFill>
        <p:spPr>
          <a:xfrm>
            <a:off x="10908792" y="1737360"/>
            <a:ext cx="457200" cy="457200"/>
          </a:xfrm>
          <a:prstGeom prst="rect">
            <a:avLst/>
          </a:prstGeom>
        </p:spPr>
      </p:pic>
      <p:sp>
        <p:nvSpPr>
          <p:cNvPr id="14" name="Text 10"/>
          <p:cNvSpPr txBox="1"/>
          <p:nvPr/>
        </p:nvSpPr>
        <p:spPr>
          <a:xfrm>
            <a:off x="6492240" y="2240280"/>
            <a:ext cx="4873752" cy="777240"/>
          </a:xfrm>
          <a:prstGeom prst="rect">
            <a:avLst/>
          </a:prstGeom>
          <a:noFill/>
          <a:ln/>
        </p:spPr>
        <p:txBody>
          <a:bodyPr wrap="square" lIns="0" tIns="0" rIns="0" bIns="0" rtlCol="0" anchor="t"/>
          <a:lstStyle/>
          <a:p>
            <a:pPr indent="0" marL="0">
              <a:buNone/>
            </a:pPr>
            <a:r>
              <a:rPr lang="en-US" sz="1400" b="1" dirty="0">
                <a:solidFill>
                  <a:srgbClr val="3B2A5A"/>
                </a:solidFill>
                <a:latin typeface="Microsoft YaHei" pitchFamily="34" charset="0"/>
                <a:ea typeface="Microsoft YaHei" pitchFamily="34" charset="-122"/>
                <a:cs typeface="Microsoft YaHei" pitchFamily="34" charset="-120"/>
              </a:rPr>
              <a:t>“我知道那是 AI…我希望有更强的 wow / surprise feeling，更互动、更会用 AI 和顾客互动，而不只是展示 analysis。”</a:t>
            </a:r>
            <a:endParaRPr lang="en-US" sz="1400" dirty="0"/>
          </a:p>
        </p:txBody>
      </p:sp>
      <p:sp>
        <p:nvSpPr>
          <p:cNvPr id="15" name="Text 11"/>
          <p:cNvSpPr txBox="1"/>
          <p:nvPr/>
        </p:nvSpPr>
        <p:spPr>
          <a:xfrm>
            <a:off x="6492240" y="3044952"/>
            <a:ext cx="4873752" cy="713232"/>
          </a:xfrm>
          <a:prstGeom prst="rect">
            <a:avLst/>
          </a:prstGeom>
          <a:noFill/>
          <a:ln/>
        </p:spPr>
        <p:txBody>
          <a:bodyPr wrap="square" lIns="0" tIns="0" rIns="0" bIns="0" rtlCol="0" anchor="t"/>
          <a:lstStyle/>
          <a:p>
            <a:pPr indent="0" marL="0">
              <a:buNone/>
            </a:pPr>
            <a:r>
              <a:rPr lang="en-US" sz="1200" i="1" dirty="0">
                <a:solidFill>
                  <a:srgbClr val="6E6784"/>
                </a:solidFill>
                <a:latin typeface="Calibri" pitchFamily="34" charset="0"/>
                <a:ea typeface="Calibri" pitchFamily="34" charset="-122"/>
                <a:cs typeface="Calibri" pitchFamily="34" charset="-120"/>
              </a:rPr>
              <a:t>“I know it's AI… I hoped for a stronger wow / surprise feeling — more interactive, using AI to engage the customer, not just showing the analysis.”</a:t>
            </a:r>
            <a:endParaRPr lang="en-US" sz="1200" dirty="0"/>
          </a:p>
        </p:txBody>
      </p:sp>
      <p:sp>
        <p:nvSpPr>
          <p:cNvPr id="16" name="Shape 12"/>
          <p:cNvSpPr/>
          <p:nvPr/>
        </p:nvSpPr>
        <p:spPr>
          <a:xfrm>
            <a:off x="548640" y="4087368"/>
            <a:ext cx="5422392" cy="2331720"/>
          </a:xfrm>
          <a:prstGeom prst="roundRect">
            <a:avLst>
              <a:gd name="adj" fmla="val 7059"/>
            </a:avLst>
          </a:prstGeom>
          <a:solidFill>
            <a:srgbClr val="FFFFFF"/>
          </a:solidFill>
          <a:ln w="12700">
            <a:solidFill>
              <a:srgbClr val="FFFFFF"/>
            </a:solidFill>
            <a:prstDash val="solid"/>
          </a:ln>
          <a:effectLst>
            <a:outerShdw sx="100000" sy="100000" kx="0" ky="0" algn="bl" rotWithShape="0" blurRad="127000" dist="25400" dir="5400000">
              <a:srgbClr val="3B2A5A">
                <a:alpha val="10000"/>
              </a:srgbClr>
            </a:outerShdw>
          </a:effectLst>
        </p:spPr>
      </p:sp>
      <p:sp>
        <p:nvSpPr>
          <p:cNvPr id="17" name="Shape 13"/>
          <p:cNvSpPr/>
          <p:nvPr/>
        </p:nvSpPr>
        <p:spPr>
          <a:xfrm>
            <a:off x="822960" y="4343400"/>
            <a:ext cx="872338" cy="329184"/>
          </a:xfrm>
          <a:prstGeom prst="roundRect">
            <a:avLst>
              <a:gd name="adj" fmla="val 50000"/>
            </a:avLst>
          </a:prstGeom>
          <a:solidFill>
            <a:srgbClr val="E08F1E"/>
          </a:solidFill>
          <a:ln w="12700">
            <a:solidFill>
              <a:srgbClr val="E08F1E"/>
            </a:solidFill>
            <a:prstDash val="solid"/>
          </a:ln>
        </p:spPr>
      </p:sp>
      <p:sp>
        <p:nvSpPr>
          <p:cNvPr id="18" name="Text 14"/>
          <p:cNvSpPr txBox="1"/>
          <p:nvPr/>
        </p:nvSpPr>
        <p:spPr>
          <a:xfrm>
            <a:off x="822960" y="4343400"/>
            <a:ext cx="872338"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Puchong</a:t>
            </a:r>
            <a:endParaRPr lang="en-US" sz="1150" dirty="0"/>
          </a:p>
        </p:txBody>
      </p:sp>
      <p:pic>
        <p:nvPicPr>
          <p:cNvPr id="19" name="Image 2" descr="preencoded.png">    </p:cNvPr>
          <p:cNvPicPr>
            <a:picLocks noChangeAspect="1"/>
          </p:cNvPicPr>
          <p:nvPr/>
        </p:nvPicPr>
        <p:blipFill>
          <a:blip r:embed="rId3"/>
          <a:stretch>
            <a:fillRect/>
          </a:stretch>
        </p:blipFill>
        <p:spPr>
          <a:xfrm>
            <a:off x="5239512" y="4315968"/>
            <a:ext cx="457200" cy="457200"/>
          </a:xfrm>
          <a:prstGeom prst="rect">
            <a:avLst/>
          </a:prstGeom>
        </p:spPr>
      </p:pic>
      <p:sp>
        <p:nvSpPr>
          <p:cNvPr id="20" name="Text 15"/>
          <p:cNvSpPr txBox="1"/>
          <p:nvPr/>
        </p:nvSpPr>
        <p:spPr>
          <a:xfrm>
            <a:off x="822960" y="4818888"/>
            <a:ext cx="4873752" cy="777240"/>
          </a:xfrm>
          <a:prstGeom prst="rect">
            <a:avLst/>
          </a:prstGeom>
          <a:noFill/>
          <a:ln/>
        </p:spPr>
        <p:txBody>
          <a:bodyPr wrap="square" lIns="0" tIns="0" rIns="0" bIns="0" rtlCol="0" anchor="t"/>
          <a:lstStyle/>
          <a:p>
            <a:pPr indent="0" marL="0">
              <a:buNone/>
            </a:pPr>
            <a:r>
              <a:rPr lang="en-US" sz="1400" b="1" dirty="0">
                <a:solidFill>
                  <a:srgbClr val="3B2A5A"/>
                </a:solidFill>
                <a:latin typeface="Microsoft YaHei" pitchFamily="34" charset="0"/>
                <a:ea typeface="Microsoft YaHei" pitchFamily="34" charset="-122"/>
                <a:cs typeface="Microsoft YaHei" pitchFamily="34" charset="-120"/>
              </a:rPr>
              <a:t>“整体体验非常好。招待热情、讲解清晰。医生认真解释面部问题……护理师很友好，关心顾客感受。”</a:t>
            </a:r>
            <a:endParaRPr lang="en-US" sz="1400" dirty="0"/>
          </a:p>
        </p:txBody>
      </p:sp>
      <p:sp>
        <p:nvSpPr>
          <p:cNvPr id="21" name="Text 16"/>
          <p:cNvSpPr txBox="1"/>
          <p:nvPr/>
        </p:nvSpPr>
        <p:spPr>
          <a:xfrm>
            <a:off x="822960" y="5623560"/>
            <a:ext cx="4873752" cy="713232"/>
          </a:xfrm>
          <a:prstGeom prst="rect">
            <a:avLst/>
          </a:prstGeom>
          <a:noFill/>
          <a:ln/>
        </p:spPr>
        <p:txBody>
          <a:bodyPr wrap="square" lIns="0" tIns="0" rIns="0" bIns="0" rtlCol="0" anchor="t"/>
          <a:lstStyle/>
          <a:p>
            <a:pPr indent="0" marL="0">
              <a:buNone/>
            </a:pPr>
            <a:r>
              <a:rPr lang="en-US" sz="1200" i="1" dirty="0">
                <a:solidFill>
                  <a:srgbClr val="6E6784"/>
                </a:solidFill>
                <a:latin typeface="Calibri" pitchFamily="34" charset="0"/>
                <a:ea typeface="Calibri" pitchFamily="34" charset="-122"/>
                <a:cs typeface="Calibri" pitchFamily="34" charset="-120"/>
              </a:rPr>
              <a:t>“Overall a very good experience. Warm welcome, clear explanations. The doctor carefully explained my facial concerns… the therapist was friendly and cared about how I felt.”</a:t>
            </a:r>
            <a:endParaRPr lang="en-US" sz="1200" dirty="0"/>
          </a:p>
        </p:txBody>
      </p:sp>
      <p:sp>
        <p:nvSpPr>
          <p:cNvPr id="22" name="Shape 17"/>
          <p:cNvSpPr/>
          <p:nvPr/>
        </p:nvSpPr>
        <p:spPr>
          <a:xfrm>
            <a:off x="6217920" y="4087368"/>
            <a:ext cx="5422392" cy="2331720"/>
          </a:xfrm>
          <a:prstGeom prst="roundRect">
            <a:avLst>
              <a:gd name="adj" fmla="val 7059"/>
            </a:avLst>
          </a:prstGeom>
          <a:solidFill>
            <a:srgbClr val="FFFFFF"/>
          </a:solidFill>
          <a:ln w="12700">
            <a:solidFill>
              <a:srgbClr val="FFFFFF"/>
            </a:solidFill>
            <a:prstDash val="solid"/>
          </a:ln>
          <a:effectLst>
            <a:outerShdw sx="100000" sy="100000" kx="0" ky="0" algn="bl" rotWithShape="0" blurRad="127000" dist="25400" dir="5400000">
              <a:srgbClr val="3B2A5A">
                <a:alpha val="10000"/>
              </a:srgbClr>
            </a:outerShdw>
          </a:effectLst>
        </p:spPr>
      </p:sp>
      <p:sp>
        <p:nvSpPr>
          <p:cNvPr id="23" name="Shape 18"/>
          <p:cNvSpPr/>
          <p:nvPr/>
        </p:nvSpPr>
        <p:spPr>
          <a:xfrm>
            <a:off x="6492240" y="4343400"/>
            <a:ext cx="1662379" cy="329184"/>
          </a:xfrm>
          <a:prstGeom prst="roundRect">
            <a:avLst>
              <a:gd name="adj" fmla="val 50000"/>
            </a:avLst>
          </a:prstGeom>
          <a:solidFill>
            <a:srgbClr val="DD5C7B"/>
          </a:solidFill>
          <a:ln w="12700">
            <a:solidFill>
              <a:srgbClr val="DD5C7B"/>
            </a:solidFill>
            <a:prstDash val="solid"/>
          </a:ln>
        </p:spPr>
      </p:sp>
      <p:sp>
        <p:nvSpPr>
          <p:cNvPr id="24" name="Text 19"/>
          <p:cNvSpPr txBox="1"/>
          <p:nvPr/>
        </p:nvSpPr>
        <p:spPr>
          <a:xfrm>
            <a:off x="6492240" y="4343400"/>
            <a:ext cx="1662379"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Cheras Leisure Mall</a:t>
            </a:r>
            <a:endParaRPr lang="en-US" sz="1150" dirty="0"/>
          </a:p>
        </p:txBody>
      </p:sp>
      <p:pic>
        <p:nvPicPr>
          <p:cNvPr id="25" name="Image 3" descr="preencoded.png">    </p:cNvPr>
          <p:cNvPicPr>
            <a:picLocks noChangeAspect="1"/>
          </p:cNvPicPr>
          <p:nvPr/>
        </p:nvPicPr>
        <p:blipFill>
          <a:blip r:embed="rId4"/>
          <a:stretch>
            <a:fillRect/>
          </a:stretch>
        </p:blipFill>
        <p:spPr>
          <a:xfrm>
            <a:off x="10908792" y="4315968"/>
            <a:ext cx="457200" cy="457200"/>
          </a:xfrm>
          <a:prstGeom prst="rect">
            <a:avLst/>
          </a:prstGeom>
        </p:spPr>
      </p:pic>
      <p:sp>
        <p:nvSpPr>
          <p:cNvPr id="26" name="Text 20"/>
          <p:cNvSpPr txBox="1"/>
          <p:nvPr/>
        </p:nvSpPr>
        <p:spPr>
          <a:xfrm>
            <a:off x="6492240" y="4818888"/>
            <a:ext cx="4873752" cy="777240"/>
          </a:xfrm>
          <a:prstGeom prst="rect">
            <a:avLst/>
          </a:prstGeom>
          <a:noFill/>
          <a:ln/>
        </p:spPr>
        <p:txBody>
          <a:bodyPr wrap="square" lIns="0" tIns="0" rIns="0" bIns="0" rtlCol="0" anchor="t"/>
          <a:lstStyle/>
          <a:p>
            <a:pPr indent="0" marL="0">
              <a:buNone/>
            </a:pPr>
            <a:r>
              <a:rPr lang="en-US" sz="1400" b="1" dirty="0">
                <a:solidFill>
                  <a:srgbClr val="3B2A5A"/>
                </a:solidFill>
                <a:latin typeface="Microsoft YaHei" pitchFamily="34" charset="0"/>
                <a:ea typeface="Microsoft YaHei" pitchFamily="34" charset="-122"/>
                <a:cs typeface="Microsoft YaHei" pitchFamily="34" charset="-120"/>
              </a:rPr>
              <a:t>“感觉被推销产品，过程压力，价位也负担不起，有被吓到。希望流程可以快一点……”</a:t>
            </a:r>
            <a:endParaRPr lang="en-US" sz="1400" dirty="0"/>
          </a:p>
        </p:txBody>
      </p:sp>
      <p:sp>
        <p:nvSpPr>
          <p:cNvPr id="27" name="Text 21"/>
          <p:cNvSpPr txBox="1"/>
          <p:nvPr/>
        </p:nvSpPr>
        <p:spPr>
          <a:xfrm>
            <a:off x="6492240" y="5623560"/>
            <a:ext cx="4873752" cy="713232"/>
          </a:xfrm>
          <a:prstGeom prst="rect">
            <a:avLst/>
          </a:prstGeom>
          <a:noFill/>
          <a:ln/>
        </p:spPr>
        <p:txBody>
          <a:bodyPr wrap="square" lIns="0" tIns="0" rIns="0" bIns="0" rtlCol="0" anchor="t"/>
          <a:lstStyle/>
          <a:p>
            <a:pPr indent="0" marL="0">
              <a:buNone/>
            </a:pPr>
            <a:r>
              <a:rPr lang="en-US" sz="1200" i="1" dirty="0">
                <a:solidFill>
                  <a:srgbClr val="6E6784"/>
                </a:solidFill>
                <a:latin typeface="Calibri" pitchFamily="34" charset="0"/>
                <a:ea typeface="Calibri" pitchFamily="34" charset="-122"/>
                <a:cs typeface="Calibri" pitchFamily="34" charset="-120"/>
              </a:rPr>
              <a:t>“It felt like being sold products; the process felt pressuring, and the price was unaffordable — I was taken aback. I hope the process can be faster…”</a:t>
            </a:r>
            <a:endParaRPr lang="en-US" sz="1200" dirty="0"/>
          </a:p>
        </p:txBody>
      </p:sp>
      <p:sp>
        <p:nvSpPr>
          <p:cNvPr id="25" name="Slide Number Placeholder 0"/>
          <p:cNvSpPr>
            <a:spLocks noGrp="1"/>
          </p:cNvSpPr>
          <p:nvPr>
            <p:ph type="sldNum" sz="quarter" idx="4294967295"/>
          </p:nvPr>
        </p:nvSpPr>
        <p:spPr>
          <a:xfrm>
            <a:off x="1129284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9DB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B2A5A"/>
        </a:solidFill>
      </p:bgPr>
    </p:bg>
    <p:spTree>
      <p:nvGrpSpPr>
        <p:cNvPr id="1" name=""/>
        <p:cNvGrpSpPr/>
        <p:nvPr/>
      </p:nvGrpSpPr>
      <p:grpSpPr>
        <a:xfrm>
          <a:off x="0" y="0"/>
          <a:ext cx="0" cy="0"/>
          <a:chOff x="0" y="0"/>
          <a:chExt cx="0" cy="0"/>
        </a:xfrm>
      </p:grpSpPr>
      <p:sp>
        <p:nvSpPr>
          <p:cNvPr id="2" name="Shape 0"/>
          <p:cNvSpPr/>
          <p:nvPr/>
        </p:nvSpPr>
        <p:spPr>
          <a:xfrm>
            <a:off x="5638648" y="1371600"/>
            <a:ext cx="914400" cy="914400"/>
          </a:xfrm>
          <a:prstGeom prst="ellipse">
            <a:avLst/>
          </a:prstGeom>
          <a:solidFill>
            <a:srgbClr val="F5B84A"/>
          </a:solidFill>
          <a:ln w="12700">
            <a:solidFill>
              <a:srgbClr val="F5B84A"/>
            </a:solidFill>
            <a:prstDash val="solid"/>
          </a:ln>
        </p:spPr>
      </p:sp>
      <p:pic>
        <p:nvPicPr>
          <p:cNvPr id="3" name="Image 0" descr="preencoded.png">    </p:cNvPr>
          <p:cNvPicPr>
            <a:picLocks noChangeAspect="1"/>
          </p:cNvPicPr>
          <p:nvPr/>
        </p:nvPicPr>
        <p:blipFill>
          <a:blip r:embed="rId1"/>
          <a:stretch>
            <a:fillRect/>
          </a:stretch>
        </p:blipFill>
        <p:spPr>
          <a:xfrm>
            <a:off x="5858104" y="1591056"/>
            <a:ext cx="475488" cy="475488"/>
          </a:xfrm>
          <a:prstGeom prst="rect">
            <a:avLst/>
          </a:prstGeom>
        </p:spPr>
      </p:pic>
      <p:sp>
        <p:nvSpPr>
          <p:cNvPr id="4" name="Text 1"/>
          <p:cNvSpPr txBox="1"/>
          <p:nvPr/>
        </p:nvSpPr>
        <p:spPr>
          <a:xfrm>
            <a:off x="640080" y="2560320"/>
            <a:ext cx="10911535" cy="822960"/>
          </a:xfrm>
          <a:prstGeom prst="rect">
            <a:avLst/>
          </a:prstGeom>
          <a:noFill/>
          <a:ln/>
        </p:spPr>
        <p:txBody>
          <a:bodyPr wrap="square" lIns="0" tIns="0" rIns="0" bIns="0" rtlCol="0" anchor="ctr"/>
          <a:lstStyle/>
          <a:p>
            <a:pPr algn="ctr" indent="0" marL="0">
              <a:buNone/>
            </a:pPr>
            <a:r>
              <a:rPr lang="en-US" sz="4400" b="1" dirty="0">
                <a:solidFill>
                  <a:srgbClr val="FFFFFF"/>
                </a:solidFill>
                <a:latin typeface="Calibri" pitchFamily="34" charset="0"/>
                <a:ea typeface="Calibri" pitchFamily="34" charset="-122"/>
                <a:cs typeface="Calibri" pitchFamily="34" charset="-120"/>
              </a:rPr>
              <a:t>Thank you, team!</a:t>
            </a:r>
            <a:endParaRPr lang="en-US" sz="4400" dirty="0"/>
          </a:p>
        </p:txBody>
      </p:sp>
      <p:sp>
        <p:nvSpPr>
          <p:cNvPr id="5" name="Text 2"/>
          <p:cNvSpPr txBox="1"/>
          <p:nvPr/>
        </p:nvSpPr>
        <p:spPr>
          <a:xfrm>
            <a:off x="1371600" y="3474720"/>
            <a:ext cx="9448495" cy="822960"/>
          </a:xfrm>
          <a:prstGeom prst="rect">
            <a:avLst/>
          </a:prstGeom>
          <a:noFill/>
          <a:ln/>
        </p:spPr>
        <p:txBody>
          <a:bodyPr wrap="square" lIns="0" tIns="0" rIns="0" bIns="0" rtlCol="0" anchor="ctr"/>
          <a:lstStyle/>
          <a:p>
            <a:pPr algn="ctr" indent="0" marL="0">
              <a:buNone/>
            </a:pPr>
            <a:r>
              <a:rPr lang="en-US" sz="1700" dirty="0">
                <a:solidFill>
                  <a:srgbClr val="D9D0EC"/>
                </a:solidFill>
                <a:latin typeface="Calibri" pitchFamily="34" charset="0"/>
                <a:ea typeface="Calibri" pitchFamily="34" charset="-122"/>
                <a:cs typeface="Calibri" pitchFamily="34" charset="-120"/>
              </a:rPr>
              <a:t>Warm welcomes, clear explanations and caring hands are what our shoppers remembered.</a:t>
            </a:r>
            <a:endParaRPr lang="en-US" sz="1700" dirty="0"/>
          </a:p>
          <a:p>
            <a:pPr algn="ctr" indent="0" marL="0">
              <a:buNone/>
            </a:pPr>
            <a:r>
              <a:rPr lang="en-US" sz="1700" dirty="0">
                <a:solidFill>
                  <a:srgbClr val="D9D0EC"/>
                </a:solidFill>
                <a:latin typeface="Calibri" pitchFamily="34" charset="0"/>
                <a:ea typeface="Calibri" pitchFamily="34" charset="-122"/>
                <a:cs typeface="Calibri" pitchFamily="34" charset="-120"/>
              </a:rPr>
              <a:t>Let's keep building on them — one visit at a time.</a:t>
            </a:r>
            <a:endParaRPr lang="en-US" sz="1700" dirty="0"/>
          </a:p>
        </p:txBody>
      </p:sp>
      <p:sp>
        <p:nvSpPr>
          <p:cNvPr id="6" name="Shape 3"/>
          <p:cNvSpPr/>
          <p:nvPr/>
        </p:nvSpPr>
        <p:spPr>
          <a:xfrm>
            <a:off x="2502256" y="4800600"/>
            <a:ext cx="1938528" cy="566928"/>
          </a:xfrm>
          <a:prstGeom prst="roundRect">
            <a:avLst>
              <a:gd name="adj" fmla="val 50000"/>
            </a:avLst>
          </a:prstGeom>
          <a:solidFill>
            <a:srgbClr val="FFFFFF"/>
          </a:solidFill>
          <a:ln w="12700">
            <a:solidFill>
              <a:srgbClr val="FFFFFF"/>
            </a:solidFill>
            <a:prstDash val="solid"/>
          </a:ln>
        </p:spPr>
      </p:sp>
      <p:sp>
        <p:nvSpPr>
          <p:cNvPr id="7" name="Shape 4"/>
          <p:cNvSpPr/>
          <p:nvPr/>
        </p:nvSpPr>
        <p:spPr>
          <a:xfrm>
            <a:off x="2730856" y="4983480"/>
            <a:ext cx="201168" cy="201168"/>
          </a:xfrm>
          <a:prstGeom prst="ellipse">
            <a:avLst/>
          </a:prstGeom>
          <a:solidFill>
            <a:srgbClr val="2A9D6E"/>
          </a:solidFill>
          <a:ln w="12700">
            <a:solidFill>
              <a:srgbClr val="2A9D6E"/>
            </a:solidFill>
            <a:prstDash val="solid"/>
          </a:ln>
        </p:spPr>
      </p:sp>
      <p:sp>
        <p:nvSpPr>
          <p:cNvPr id="8" name="Text 5"/>
          <p:cNvSpPr txBox="1"/>
          <p:nvPr/>
        </p:nvSpPr>
        <p:spPr>
          <a:xfrm>
            <a:off x="3032608" y="4800600"/>
            <a:ext cx="1298448" cy="566928"/>
          </a:xfrm>
          <a:prstGeom prst="rect">
            <a:avLst/>
          </a:prstGeom>
          <a:noFill/>
          <a:ln/>
        </p:spPr>
        <p:txBody>
          <a:bodyPr wrap="square" lIns="0" tIns="0" rIns="0" bIns="0" rtlCol="0" anchor="ctr"/>
          <a:lstStyle/>
          <a:p>
            <a:pPr indent="0" marL="0">
              <a:buNone/>
            </a:pPr>
            <a:r>
              <a:rPr lang="en-US" sz="1400" b="1" dirty="0">
                <a:solidFill>
                  <a:srgbClr val="3B2A5A"/>
                </a:solidFill>
                <a:latin typeface="Calibri" pitchFamily="34" charset="0"/>
                <a:ea typeface="Calibri" pitchFamily="34" charset="-122"/>
                <a:cs typeface="Calibri" pitchFamily="34" charset="-120"/>
              </a:rPr>
              <a:t>Greenlane  </a:t>
            </a:r>
            <a:pPr indent="0" marL="0">
              <a:buNone/>
            </a:pPr>
            <a:r>
              <a:rPr lang="en-US" sz="1400" b="1" dirty="0">
                <a:solidFill>
                  <a:srgbClr val="2A9D6E"/>
                </a:solidFill>
                <a:latin typeface="Calibri" pitchFamily="34" charset="0"/>
                <a:ea typeface="Calibri" pitchFamily="34" charset="-122"/>
                <a:cs typeface="Calibri" pitchFamily="34" charset="-120"/>
              </a:rPr>
              <a:t>77.5</a:t>
            </a:r>
            <a:endParaRPr lang="en-US" sz="1400" dirty="0"/>
          </a:p>
        </p:txBody>
      </p:sp>
      <p:sp>
        <p:nvSpPr>
          <p:cNvPr id="9" name="Shape 6"/>
          <p:cNvSpPr/>
          <p:nvPr/>
        </p:nvSpPr>
        <p:spPr>
          <a:xfrm>
            <a:off x="4715104" y="4800600"/>
            <a:ext cx="1856232" cy="566928"/>
          </a:xfrm>
          <a:prstGeom prst="roundRect">
            <a:avLst>
              <a:gd name="adj" fmla="val 50000"/>
            </a:avLst>
          </a:prstGeom>
          <a:solidFill>
            <a:srgbClr val="FFFFFF"/>
          </a:solidFill>
          <a:ln w="12700">
            <a:solidFill>
              <a:srgbClr val="FFFFFF"/>
            </a:solidFill>
            <a:prstDash val="solid"/>
          </a:ln>
        </p:spPr>
      </p:sp>
      <p:sp>
        <p:nvSpPr>
          <p:cNvPr id="10" name="Shape 7"/>
          <p:cNvSpPr/>
          <p:nvPr/>
        </p:nvSpPr>
        <p:spPr>
          <a:xfrm>
            <a:off x="4943704" y="4983480"/>
            <a:ext cx="201168" cy="201168"/>
          </a:xfrm>
          <a:prstGeom prst="ellipse">
            <a:avLst/>
          </a:prstGeom>
          <a:solidFill>
            <a:srgbClr val="E08F1E"/>
          </a:solidFill>
          <a:ln w="12700">
            <a:solidFill>
              <a:srgbClr val="E08F1E"/>
            </a:solidFill>
            <a:prstDash val="solid"/>
          </a:ln>
        </p:spPr>
      </p:sp>
      <p:sp>
        <p:nvSpPr>
          <p:cNvPr id="11" name="Text 8"/>
          <p:cNvSpPr txBox="1"/>
          <p:nvPr/>
        </p:nvSpPr>
        <p:spPr>
          <a:xfrm>
            <a:off x="5245456" y="4800600"/>
            <a:ext cx="1216152" cy="566928"/>
          </a:xfrm>
          <a:prstGeom prst="rect">
            <a:avLst/>
          </a:prstGeom>
          <a:noFill/>
          <a:ln/>
        </p:spPr>
        <p:txBody>
          <a:bodyPr wrap="square" lIns="0" tIns="0" rIns="0" bIns="0" rtlCol="0" anchor="ctr"/>
          <a:lstStyle/>
          <a:p>
            <a:pPr indent="0" marL="0">
              <a:buNone/>
            </a:pPr>
            <a:r>
              <a:rPr lang="en-US" sz="1400" b="1" dirty="0">
                <a:solidFill>
                  <a:srgbClr val="3B2A5A"/>
                </a:solidFill>
                <a:latin typeface="Calibri" pitchFamily="34" charset="0"/>
                <a:ea typeface="Calibri" pitchFamily="34" charset="-122"/>
                <a:cs typeface="Calibri" pitchFamily="34" charset="-120"/>
              </a:rPr>
              <a:t>Puchong  </a:t>
            </a:r>
            <a:pPr indent="0" marL="0">
              <a:buNone/>
            </a:pPr>
            <a:r>
              <a:rPr lang="en-US" sz="1400" b="1" dirty="0">
                <a:solidFill>
                  <a:srgbClr val="E08F1E"/>
                </a:solidFill>
                <a:latin typeface="Calibri" pitchFamily="34" charset="0"/>
                <a:ea typeface="Calibri" pitchFamily="34" charset="-122"/>
                <a:cs typeface="Calibri" pitchFamily="34" charset="-120"/>
              </a:rPr>
              <a:t>93.25</a:t>
            </a:r>
            <a:endParaRPr lang="en-US" sz="1400" dirty="0"/>
          </a:p>
        </p:txBody>
      </p:sp>
      <p:sp>
        <p:nvSpPr>
          <p:cNvPr id="12" name="Shape 9"/>
          <p:cNvSpPr/>
          <p:nvPr/>
        </p:nvSpPr>
        <p:spPr>
          <a:xfrm>
            <a:off x="6845656" y="4800600"/>
            <a:ext cx="2843784" cy="566928"/>
          </a:xfrm>
          <a:prstGeom prst="roundRect">
            <a:avLst>
              <a:gd name="adj" fmla="val 50000"/>
            </a:avLst>
          </a:prstGeom>
          <a:solidFill>
            <a:srgbClr val="FFFFFF"/>
          </a:solidFill>
          <a:ln w="12700">
            <a:solidFill>
              <a:srgbClr val="FFFFFF"/>
            </a:solidFill>
            <a:prstDash val="solid"/>
          </a:ln>
        </p:spPr>
      </p:sp>
      <p:sp>
        <p:nvSpPr>
          <p:cNvPr id="13" name="Shape 10"/>
          <p:cNvSpPr/>
          <p:nvPr/>
        </p:nvSpPr>
        <p:spPr>
          <a:xfrm>
            <a:off x="7074256" y="4983480"/>
            <a:ext cx="201168" cy="201168"/>
          </a:xfrm>
          <a:prstGeom prst="ellipse">
            <a:avLst/>
          </a:prstGeom>
          <a:solidFill>
            <a:srgbClr val="DD5C7B"/>
          </a:solidFill>
          <a:ln w="12700">
            <a:solidFill>
              <a:srgbClr val="DD5C7B"/>
            </a:solidFill>
            <a:prstDash val="solid"/>
          </a:ln>
        </p:spPr>
      </p:sp>
      <p:sp>
        <p:nvSpPr>
          <p:cNvPr id="14" name="Text 11"/>
          <p:cNvSpPr txBox="1"/>
          <p:nvPr/>
        </p:nvSpPr>
        <p:spPr>
          <a:xfrm>
            <a:off x="7376008" y="4800600"/>
            <a:ext cx="2203704" cy="566928"/>
          </a:xfrm>
          <a:prstGeom prst="rect">
            <a:avLst/>
          </a:prstGeom>
          <a:noFill/>
          <a:ln/>
        </p:spPr>
        <p:txBody>
          <a:bodyPr wrap="square" lIns="0" tIns="0" rIns="0" bIns="0" rtlCol="0" anchor="ctr"/>
          <a:lstStyle/>
          <a:p>
            <a:pPr indent="0" marL="0">
              <a:buNone/>
            </a:pPr>
            <a:r>
              <a:rPr lang="en-US" sz="1400" b="1" dirty="0">
                <a:solidFill>
                  <a:srgbClr val="3B2A5A"/>
                </a:solidFill>
                <a:latin typeface="Calibri" pitchFamily="34" charset="0"/>
                <a:ea typeface="Calibri" pitchFamily="34" charset="-122"/>
                <a:cs typeface="Calibri" pitchFamily="34" charset="-120"/>
              </a:rPr>
              <a:t>Cheras Leisure Mall  </a:t>
            </a:r>
            <a:pPr indent="0" marL="0">
              <a:buNone/>
            </a:pPr>
            <a:r>
              <a:rPr lang="en-US" sz="1400" b="1" dirty="0">
                <a:solidFill>
                  <a:srgbClr val="DD5C7B"/>
                </a:solidFill>
                <a:latin typeface="Calibri" pitchFamily="34" charset="0"/>
                <a:ea typeface="Calibri" pitchFamily="34" charset="-122"/>
                <a:cs typeface="Calibri" pitchFamily="34" charset="-120"/>
              </a:rPr>
              <a:t>66.75</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UR Klinik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Mystery Shopper — September 2026</dc:title>
  <dc:subject>PptxGenJS Presentation</dc:subject>
  <dc:creator>PptxGenJS</dc:creator>
  <cp:lastModifiedBy>PptxGenJS</cp:lastModifiedBy>
  <cp:revision>1</cp:revision>
  <dcterms:created xsi:type="dcterms:W3CDTF">2026-09-29T17:41:17Z</dcterms:created>
  <dcterms:modified xsi:type="dcterms:W3CDTF">2026-09-29T17:41:17Z</dcterms:modified>
</cp:coreProperties>
</file>